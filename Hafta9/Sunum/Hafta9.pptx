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257" r:id="rId3"/>
    <p:sldId id="286" r:id="rId5"/>
    <p:sldId id="319" r:id="rId6"/>
    <p:sldId id="320" r:id="rId7"/>
    <p:sldId id="321" r:id="rId8"/>
    <p:sldId id="326" r:id="rId9"/>
    <p:sldId id="322" r:id="rId10"/>
    <p:sldId id="339" r:id="rId11"/>
    <p:sldId id="327" r:id="rId12"/>
    <p:sldId id="328" r:id="rId13"/>
    <p:sldId id="330" r:id="rId14"/>
    <p:sldId id="331" r:id="rId15"/>
    <p:sldId id="332" r:id="rId16"/>
    <p:sldId id="333" r:id="rId17"/>
    <p:sldId id="323" r:id="rId18"/>
    <p:sldId id="335" r:id="rId19"/>
    <p:sldId id="336" r:id="rId20"/>
    <p:sldId id="338" r:id="rId21"/>
    <p:sldId id="340" r:id="rId22"/>
    <p:sldId id="341" r:id="rId23"/>
    <p:sldId id="342" r:id="rId24"/>
    <p:sldId id="343" r:id="rId25"/>
    <p:sldId id="344" r:id="rId26"/>
    <p:sldId id="345" r:id="rId27"/>
    <p:sldId id="346" r:id="rId28"/>
    <p:sldId id="337" r:id="rId29"/>
    <p:sldId id="347" r:id="rId30"/>
    <p:sldId id="348" r:id="rId31"/>
    <p:sldId id="349" r:id="rId32"/>
    <p:sldId id="350" r:id="rId33"/>
    <p:sldId id="324" r:id="rId34"/>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40" userDrawn="1">
          <p15:clr>
            <a:srgbClr val="A4A3A4"/>
          </p15:clr>
        </p15:guide>
        <p15:guide id="3" pos="7296" userDrawn="1">
          <p15:clr>
            <a:srgbClr val="A4A3A4"/>
          </p15:clr>
        </p15:guide>
        <p15:guide id="4" orient="horz" pos="41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89911" autoAdjust="0"/>
  </p:normalViewPr>
  <p:slideViewPr>
    <p:cSldViewPr snapToGrid="0" showGuides="1">
      <p:cViewPr varScale="1">
        <p:scale>
          <a:sx n="87" d="100"/>
          <a:sy n="87" d="100"/>
        </p:scale>
        <p:origin x="389" y="58"/>
      </p:cViewPr>
      <p:guideLst>
        <p:guide orient="horz" pos="2182"/>
        <p:guide pos="3840"/>
        <p:guide pos="7296"/>
        <p:guide orient="horz" pos="4141"/>
      </p:guideLst>
    </p:cSldViewPr>
  </p:slideViewPr>
  <p:notesTextViewPr>
    <p:cViewPr>
      <p:scale>
        <a:sx n="3" d="2"/>
        <a:sy n="3" d="2"/>
      </p:scale>
      <p:origin x="0" y="0"/>
    </p:cViewPr>
  </p:notesTextViewPr>
  <p:notesViewPr>
    <p:cSldViewPr snapToGrid="0">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fld>
            <a:endParaRPr lang="tr-TR"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fld>
            <a:endParaRPr lang="tr-TR"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fld>
            <a:endParaRPr lang="tr-T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hasCustomPrompt="1"/>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hasCustomPrompt="1"/>
          </p:nvPr>
        </p:nvSpPr>
        <p:spPr>
          <a:xfrm>
            <a:off x="609600" y="3899938"/>
            <a:ext cx="6604000" cy="1752600"/>
          </a:xfrm>
        </p:spPr>
        <p:txBody>
          <a:bodyPr rtlCol="0"/>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endParaRPr lang="tr-TR" noProof="0" dirty="0"/>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hasCustomPrompt="1"/>
          </p:nvPr>
        </p:nvSpPr>
        <p:spPr/>
        <p:txBody>
          <a:bodyPr rtlCol="0"/>
          <a:lstStyle>
            <a:lvl1pPr>
              <a:defRPr/>
            </a:lvl1pPr>
            <a:lvl5pPr>
              <a:defRPr/>
            </a:lvl5pPr>
            <a:lvl6pPr>
              <a:defRPr/>
            </a:lvl6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hasCustomPrompt="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endParaRPr lang="tr-TR" noProof="0" smtClean="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hasCustomPrompt="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hasCustomPrompt="1"/>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hasCustomPrompt="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5" name="İçerik Yer Tutucusu 4"/>
          <p:cNvSpPr>
            <a:spLocks noGrp="1"/>
          </p:cNvSpPr>
          <p:nvPr>
            <p:ph sz="quarter" idx="2" hasCustomPrompt="1"/>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hasCustomPrompt="1"/>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6" name="İçerik Yer Tutucusu 5"/>
          <p:cNvSpPr>
            <a:spLocks noGrp="1"/>
          </p:cNvSpPr>
          <p:nvPr>
            <p:ph sz="quarter" idx="4" hasCustomPrompt="1"/>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endParaRPr lang="tr-TR" noProof="0" dirty="0"/>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endParaRPr lang="tr-TR" noProof="0" dirty="0"/>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endParaRPr lang="tr-TR" noProof="0" dirty="0"/>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endParaRPr lang="tr-TR" noProof="0" dirty="0"/>
          </a:p>
        </p:txBody>
      </p:sp>
      <p:sp>
        <p:nvSpPr>
          <p:cNvPr id="4" name="İçerik Yer Tutucusu 3"/>
          <p:cNvSpPr>
            <a:spLocks noGrp="1"/>
          </p:cNvSpPr>
          <p:nvPr>
            <p:ph sz="half" idx="1" hasCustomPrompt="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hasCustomPrompt="1"/>
          </p:nvPr>
        </p:nvSpPr>
        <p:spPr>
          <a:xfrm>
            <a:off x="7137995" y="2010727"/>
            <a:ext cx="4511040" cy="4580573"/>
          </a:xfrm>
        </p:spPr>
        <p:txBody>
          <a:bodyPr rtlCol="0"/>
          <a:lstStyle>
            <a:lvl1pPr marL="8890"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hasCustomPrompt="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hasCustomPrompt="1"/>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hasCustomPrompt="1"/>
          </p:nvPr>
        </p:nvSpPr>
        <p:spPr/>
        <p:txBody>
          <a:bodyPr vert="eaVert" rtlCol="0"/>
          <a:lstStyle>
            <a:lvl1pPr>
              <a:defRPr/>
            </a:lvl1pPr>
            <a:lvl5pPr>
              <a:defRPr/>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endParaRPr lang="tr-TR" noProof="0" dirty="0"/>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endParaRPr lang="tr-TR" noProof="0" dirty="0"/>
          </a:p>
          <a:p>
            <a:pPr lvl="1" rtl="0" eaLnBrk="1" latinLnBrk="0" hangingPunct="1"/>
            <a:r>
              <a:rPr lang="tr-TR" noProof="0" dirty="0"/>
              <a:t>İkinci düzey</a:t>
            </a:r>
            <a:endParaRPr lang="tr-TR" noProof="0" dirty="0"/>
          </a:p>
          <a:p>
            <a:pPr lvl="2" rtl="0" eaLnBrk="1" latinLnBrk="0" hangingPunct="1"/>
            <a:r>
              <a:rPr lang="tr-TR" noProof="0" dirty="0"/>
              <a:t>Üçüncü düzey</a:t>
            </a:r>
            <a:endParaRPr lang="tr-TR" noProof="0" dirty="0"/>
          </a:p>
          <a:p>
            <a:pPr lvl="3" rtl="0" eaLnBrk="1" latinLnBrk="0" hangingPunct="1"/>
            <a:r>
              <a:rPr lang="tr-TR" noProof="0" dirty="0"/>
              <a:t>Dördüncü düzey</a:t>
            </a:r>
            <a:endParaRPr lang="tr-TR" noProof="0" dirty="0"/>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endParaRPr lang="tr-TR" noProof="0" dirty="0"/>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endParaRPr lang="tr-TR" noProof="0" dirty="0"/>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fld>
            <a:endParaRPr lang="tr-TR"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5905" algn="l" rtl="0" eaLnBrk="1" latinLnBrk="0" hangingPunct="1">
        <a:spcBef>
          <a:spcPts val="300"/>
        </a:spcBef>
        <a:buClr>
          <a:schemeClr val="accent3">
            <a:lumMod val="75000"/>
          </a:schemeClr>
        </a:buClr>
        <a:buFont typeface="Georgia" panose="02040502050405020303"/>
        <a:buChar char="•"/>
        <a:defRPr kumimoji="0" sz="2800" kern="1200">
          <a:solidFill>
            <a:schemeClr val="tx2"/>
          </a:solidFill>
          <a:latin typeface="+mn-lt"/>
          <a:ea typeface="+mn-ea"/>
          <a:cs typeface="+mn-cs"/>
        </a:defRPr>
      </a:lvl1pPr>
      <a:lvl2pPr marL="658495" indent="-247015" algn="l" rtl="0" eaLnBrk="1" latinLnBrk="0" hangingPunct="1">
        <a:spcBef>
          <a:spcPts val="300"/>
        </a:spcBef>
        <a:buClr>
          <a:schemeClr val="accent2">
            <a:lumMod val="75000"/>
          </a:schemeClr>
        </a:buClr>
        <a:buFont typeface="Georgia" panose="02040502050405020303"/>
        <a:buChar char="▫"/>
        <a:defRPr kumimoji="0" sz="2600" kern="1200">
          <a:solidFill>
            <a:schemeClr val="tx2"/>
          </a:solidFill>
          <a:latin typeface="+mn-lt"/>
          <a:ea typeface="+mn-ea"/>
          <a:cs typeface="+mn-cs"/>
        </a:defRPr>
      </a:lvl2pPr>
      <a:lvl3pPr marL="923290" indent="-219710"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830" indent="-201295"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90015"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090"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30095"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Mobil Uygulama Geliştirme</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Jetpack Compose Nedir?</a:t>
            </a:r>
            <a:endParaRPr lang="en-US" altLang="tr-TR" dirty="0"/>
          </a:p>
        </p:txBody>
      </p:sp>
      <p:sp>
        <p:nvSpPr>
          <p:cNvPr id="3" name="İçerik Yer Tutucusu 2"/>
          <p:cNvSpPr>
            <a:spLocks noGrp="1"/>
          </p:cNvSpPr>
          <p:nvPr>
            <p:ph idx="1"/>
          </p:nvPr>
        </p:nvSpPr>
        <p:spPr/>
        <p:txBody>
          <a:bodyPr>
            <a:normAutofit lnSpcReduction="10000"/>
          </a:bodyPr>
          <a:lstStyle/>
          <a:p>
            <a:r>
              <a:rPr lang="en-US" altLang="tr-TR" dirty="0"/>
              <a:t>Android i</a:t>
            </a:r>
            <a:r>
              <a:rPr lang="" altLang="en-US" dirty="0"/>
              <a:t>ç</a:t>
            </a:r>
            <a:r>
              <a:rPr lang="en-US" altLang="tr-TR" dirty="0"/>
              <a:t>in </a:t>
            </a:r>
            <a:r>
              <a:rPr lang="en-US" altLang="en-US" dirty="0"/>
              <a:t>ö</a:t>
            </a:r>
            <a:r>
              <a:rPr lang="en-US" altLang="tr-TR" dirty="0"/>
              <a:t>nerilen, Google taraf</a:t>
            </a:r>
            <a:r>
              <a:rPr lang="" altLang="en-US" dirty="0"/>
              <a:t>ı</a:t>
            </a:r>
            <a:r>
              <a:rPr lang="en-US" altLang="tr-TR" dirty="0"/>
              <a:t>ndan geli</a:t>
            </a:r>
            <a:r>
              <a:rPr lang="" altLang="en-US" dirty="0"/>
              <a:t>ş</a:t>
            </a:r>
            <a:r>
              <a:rPr lang="en-US" altLang="tr-TR" dirty="0"/>
              <a:t>tirilen modern, Declarative (Bildirimsel) bir UI ara</a:t>
            </a:r>
            <a:r>
              <a:rPr lang="" altLang="en-US" dirty="0"/>
              <a:t>ç</a:t>
            </a:r>
            <a:r>
              <a:rPr lang="en-US" altLang="tr-TR" dirty="0"/>
              <a:t> setidir.</a:t>
            </a:r>
            <a:endParaRPr lang="en-US" altLang="tr-TR" dirty="0"/>
          </a:p>
          <a:p>
            <a:r>
              <a:rPr lang="en-US" altLang="tr-TR" dirty="0"/>
              <a:t>UI geli</a:t>
            </a:r>
            <a:r>
              <a:rPr lang="" altLang="en-US" dirty="0"/>
              <a:t>ş</a:t>
            </a:r>
            <a:r>
              <a:rPr lang="en-US" altLang="tr-TR" dirty="0"/>
              <a:t>tirmeyi basitle</a:t>
            </a:r>
            <a:r>
              <a:rPr lang="" altLang="en-US" dirty="0"/>
              <a:t>ş</a:t>
            </a:r>
            <a:r>
              <a:rPr lang="en-US" altLang="tr-TR" dirty="0"/>
              <a:t>tirmek ve h</a:t>
            </a:r>
            <a:r>
              <a:rPr lang="" altLang="en-US" dirty="0"/>
              <a:t>ı</a:t>
            </a:r>
            <a:r>
              <a:rPr lang="en-US" altLang="tr-TR" dirty="0"/>
              <a:t>zland</a:t>
            </a:r>
            <a:r>
              <a:rPr lang="" altLang="en-US" dirty="0"/>
              <a:t>ı</a:t>
            </a:r>
            <a:r>
              <a:rPr lang="en-US" altLang="tr-TR" dirty="0"/>
              <a:t>rmak. Daha az kod, daha g</a:t>
            </a:r>
            <a:r>
              <a:rPr lang="en-US" altLang="en-US" dirty="0"/>
              <a:t>ü</a:t>
            </a:r>
            <a:r>
              <a:rPr lang="" altLang="en-US" dirty="0"/>
              <a:t>ç</a:t>
            </a:r>
            <a:r>
              <a:rPr lang="en-US" altLang="tr-TR" dirty="0"/>
              <a:t>l</a:t>
            </a:r>
            <a:r>
              <a:rPr lang="en-US" altLang="en-US" dirty="0"/>
              <a:t>ü</a:t>
            </a:r>
            <a:r>
              <a:rPr lang="en-US" altLang="tr-TR" dirty="0"/>
              <a:t> ara</a:t>
            </a:r>
            <a:r>
              <a:rPr lang="" altLang="en-US" dirty="0"/>
              <a:t>ç</a:t>
            </a:r>
            <a:r>
              <a:rPr lang="en-US" altLang="tr-TR" dirty="0"/>
              <a:t>lar.</a:t>
            </a:r>
            <a:endParaRPr lang="en-US" altLang="tr-TR" dirty="0"/>
          </a:p>
          <a:p>
            <a:r>
              <a:rPr lang="en-US" altLang="tr-TR" dirty="0"/>
              <a:t>Temel Fark: Art</a:t>
            </a:r>
            <a:r>
              <a:rPr lang="" altLang="en-US" dirty="0"/>
              <a:t>ı</a:t>
            </a:r>
            <a:r>
              <a:rPr lang="en-US" altLang="tr-TR" dirty="0"/>
              <a:t>k XML yok! Her </a:t>
            </a:r>
            <a:r>
              <a:rPr lang="" altLang="en-US" dirty="0"/>
              <a:t>ş</a:t>
            </a:r>
            <a:r>
              <a:rPr lang="en-US" altLang="tr-TR" dirty="0"/>
              <a:t>ey (aray</a:t>
            </a:r>
            <a:r>
              <a:rPr lang="en-US" altLang="en-US" dirty="0"/>
              <a:t>ü</a:t>
            </a:r>
            <a:r>
              <a:rPr lang="en-US" altLang="tr-TR" dirty="0"/>
              <a:t>z dahil) %100 Kotlin.</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Imperative vs. Declarative UI (D</a:t>
            </a:r>
            <a:r>
              <a:rPr lang="en-US" altLang="en-US" dirty="0"/>
              <a:t>ö</a:t>
            </a:r>
            <a:r>
              <a:rPr lang="en-US" altLang="tr-TR" dirty="0"/>
              <a:t>n</a:t>
            </a:r>
            <a:r>
              <a:rPr lang="en-US" altLang="en-US" dirty="0"/>
              <a:t>ü</a:t>
            </a:r>
            <a:r>
              <a:rPr lang="en-US" altLang="tr-TR" dirty="0"/>
              <a:t>m Noktas</a:t>
            </a:r>
            <a:r>
              <a:rPr lang="" altLang="en-US" dirty="0"/>
              <a:t>ı</a:t>
            </a:r>
            <a:r>
              <a:rPr lang="en-US" altLang="tr-TR" dirty="0"/>
              <a:t>)</a:t>
            </a:r>
            <a:endParaRPr lang="en-US" altLang="tr-TR" dirty="0"/>
          </a:p>
        </p:txBody>
      </p:sp>
      <p:sp>
        <p:nvSpPr>
          <p:cNvPr id="3" name="İçerik Yer Tutucusu 2"/>
          <p:cNvSpPr>
            <a:spLocks noGrp="1"/>
          </p:cNvSpPr>
          <p:nvPr>
            <p:ph idx="1"/>
          </p:nvPr>
        </p:nvSpPr>
        <p:spPr/>
        <p:txBody>
          <a:bodyPr>
            <a:normAutofit lnSpcReduction="10000"/>
          </a:bodyPr>
          <a:lstStyle/>
          <a:p>
            <a:r>
              <a:rPr lang="en-US" altLang="tr-TR" dirty="0"/>
              <a:t>Imperative (Eski/XML): UI'</a:t>
            </a:r>
            <a:r>
              <a:rPr lang="" altLang="en-US" dirty="0"/>
              <a:t>ı</a:t>
            </a:r>
            <a:r>
              <a:rPr lang="en-US" altLang="tr-TR" dirty="0"/>
              <a:t>n nas</a:t>
            </a:r>
            <a:r>
              <a:rPr lang="" altLang="en-US" dirty="0"/>
              <a:t>ı</a:t>
            </a:r>
            <a:r>
              <a:rPr lang="en-US" altLang="tr-TR" dirty="0"/>
              <a:t>l de</a:t>
            </a:r>
            <a:r>
              <a:rPr lang="" altLang="en-US" dirty="0"/>
              <a:t>ğ</a:t>
            </a:r>
            <a:r>
              <a:rPr lang="en-US" altLang="tr-TR" dirty="0"/>
              <a:t>i</a:t>
            </a:r>
            <a:r>
              <a:rPr lang="" altLang="en-US" dirty="0"/>
              <a:t>ş</a:t>
            </a:r>
            <a:r>
              <a:rPr lang="en-US" altLang="tr-TR" dirty="0"/>
              <a:t>ece</a:t>
            </a:r>
            <a:r>
              <a:rPr lang="" altLang="en-US" dirty="0"/>
              <a:t>ğ</a:t>
            </a:r>
            <a:r>
              <a:rPr lang="en-US" altLang="tr-TR" dirty="0"/>
              <a:t>ini ad</a:t>
            </a:r>
            <a:r>
              <a:rPr lang="" altLang="en-US" dirty="0"/>
              <a:t>ı</a:t>
            </a:r>
            <a:r>
              <a:rPr lang="en-US" altLang="tr-TR" dirty="0"/>
              <a:t>m ad</a:t>
            </a:r>
            <a:r>
              <a:rPr lang="" altLang="en-US" dirty="0"/>
              <a:t>ı</a:t>
            </a:r>
            <a:r>
              <a:rPr lang="en-US" altLang="tr-TR" dirty="0"/>
              <a:t>m kodlars</a:t>
            </a:r>
            <a:r>
              <a:rPr lang="" altLang="en-US" dirty="0"/>
              <a:t>ı</a:t>
            </a:r>
            <a:r>
              <a:rPr lang="en-US" altLang="tr-TR" dirty="0"/>
              <a:t>n</a:t>
            </a:r>
            <a:r>
              <a:rPr lang="" altLang="en-US" dirty="0"/>
              <a:t>ı</a:t>
            </a:r>
            <a:r>
              <a:rPr lang="en-US" altLang="tr-TR" dirty="0"/>
              <a:t>z (</a:t>
            </a:r>
            <a:r>
              <a:rPr lang="en-US" altLang="en-US" dirty="0"/>
              <a:t>Ö</a:t>
            </a:r>
            <a:r>
              <a:rPr lang="en-US" altLang="tr-TR" dirty="0"/>
              <a:t>rn: textView.setText("Merhaba")). Manuel olarak view bulur (findViewById) ve g</a:t>
            </a:r>
            <a:r>
              <a:rPr lang="en-US" altLang="en-US" dirty="0"/>
              <a:t>ü</a:t>
            </a:r>
            <a:r>
              <a:rPr lang="en-US" altLang="tr-TR" dirty="0"/>
              <a:t>ncellersiniz.</a:t>
            </a:r>
            <a:endParaRPr lang="en-US" altLang="tr-TR" dirty="0"/>
          </a:p>
          <a:p>
            <a:r>
              <a:rPr lang="en-US" altLang="tr-TR" dirty="0"/>
              <a:t>Declarative (Compose): UI'</a:t>
            </a:r>
            <a:r>
              <a:rPr lang="" altLang="en-US" dirty="0"/>
              <a:t>ı</a:t>
            </a:r>
            <a:r>
              <a:rPr lang="en-US" altLang="tr-TR" dirty="0"/>
              <a:t>n belirli bir durumda "ne olmas</a:t>
            </a:r>
            <a:r>
              <a:rPr lang="" altLang="en-US" dirty="0"/>
              <a:t>ı</a:t>
            </a:r>
            <a:r>
              <a:rPr lang="en-US" altLang="tr-TR" dirty="0"/>
              <a:t> gerekti</a:t>
            </a:r>
            <a:r>
              <a:rPr lang="" altLang="en-US" dirty="0"/>
              <a:t>ğ</a:t>
            </a:r>
            <a:r>
              <a:rPr lang="en-US" altLang="tr-TR" dirty="0"/>
              <a:t>ini" tarif edersiniz. Durum (State) de</a:t>
            </a:r>
            <a:r>
              <a:rPr lang="" altLang="en-US" dirty="0"/>
              <a:t>ğ</a:t>
            </a:r>
            <a:r>
              <a:rPr lang="en-US" altLang="tr-TR" dirty="0"/>
              <a:t>i</a:t>
            </a:r>
            <a:r>
              <a:rPr lang="" altLang="en-US" dirty="0"/>
              <a:t>ş</a:t>
            </a:r>
            <a:r>
              <a:rPr lang="en-US" altLang="tr-TR" dirty="0"/>
              <a:t>irse, UI otomatik olarak kendini yeniden </a:t>
            </a:r>
            <a:r>
              <a:rPr lang="" altLang="en-US" dirty="0"/>
              <a:t>ç</a:t>
            </a:r>
            <a:r>
              <a:rPr lang="en-US" altLang="tr-TR" dirty="0"/>
              <a:t>izer.</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r>
              <a:rPr lang="en-US" altLang="tr-TR" dirty="0"/>
              <a:t>Compose'un kalbidir.</a:t>
            </a:r>
            <a:endParaRPr lang="en-US" altLang="tr-TR" dirty="0"/>
          </a:p>
          <a:p>
            <a:r>
              <a:rPr lang="en-US" altLang="tr-TR" dirty="0"/>
              <a:t>Bir fonksiyonun UI </a:t>
            </a:r>
            <a:r>
              <a:rPr lang="" altLang="en-US" dirty="0"/>
              <a:t>ç</a:t>
            </a:r>
            <a:r>
              <a:rPr lang="en-US" altLang="tr-TR" dirty="0"/>
              <a:t>izebilmesi i</a:t>
            </a:r>
            <a:r>
              <a:rPr lang="" altLang="en-US" dirty="0"/>
              <a:t>ç</a:t>
            </a:r>
            <a:r>
              <a:rPr lang="en-US" altLang="tr-TR" dirty="0"/>
              <a:t>in @Composable notasyonu (annotation) ile i</a:t>
            </a:r>
            <a:r>
              <a:rPr lang="" altLang="en-US" dirty="0"/>
              <a:t>ş</a:t>
            </a:r>
            <a:r>
              <a:rPr lang="en-US" altLang="tr-TR" dirty="0"/>
              <a:t>aretlenmesi gerekir.</a:t>
            </a:r>
            <a:endParaRPr lang="en-US" altLang="tr-TR" dirty="0"/>
          </a:p>
          <a:p>
            <a:r>
              <a:rPr lang="en-US" altLang="tr-TR" dirty="0"/>
              <a:t>Fonksiyonlar birbirini </a:t>
            </a:r>
            <a:r>
              <a:rPr lang="" altLang="en-US" dirty="0"/>
              <a:t>ç</a:t>
            </a:r>
            <a:r>
              <a:rPr lang="en-US" altLang="tr-TR" dirty="0"/>
              <a:t>a</a:t>
            </a:r>
            <a:r>
              <a:rPr lang="" altLang="en-US" dirty="0"/>
              <a:t>ğı</a:t>
            </a:r>
            <a:r>
              <a:rPr lang="en-US" altLang="tr-TR" dirty="0"/>
              <a:t>rarak bir UI a</a:t>
            </a:r>
            <a:r>
              <a:rPr lang="" altLang="en-US" dirty="0"/>
              <a:t>ğ</a:t>
            </a:r>
            <a:r>
              <a:rPr lang="en-US" altLang="tr-TR" dirty="0"/>
              <a:t>ac</a:t>
            </a:r>
            <a:r>
              <a:rPr lang="" altLang="en-US" dirty="0"/>
              <a:t>ı</a:t>
            </a:r>
            <a:r>
              <a:rPr lang="en-US" altLang="tr-TR" dirty="0"/>
              <a:t> olu</a:t>
            </a:r>
            <a:r>
              <a:rPr lang="" altLang="en-US" dirty="0"/>
              <a:t>ş</a:t>
            </a:r>
            <a:r>
              <a:rPr lang="en-US" altLang="tr-TR" dirty="0"/>
              <a:t>turur. Lego par</a:t>
            </a:r>
            <a:r>
              <a:rPr lang="" altLang="en-US" dirty="0"/>
              <a:t>ç</a:t>
            </a:r>
            <a:r>
              <a:rPr lang="en-US" altLang="tr-TR" dirty="0"/>
              <a:t>alar</a:t>
            </a:r>
            <a:r>
              <a:rPr lang="" altLang="en-US" dirty="0"/>
              <a:t>ı</a:t>
            </a:r>
            <a:r>
              <a:rPr lang="en-US" altLang="tr-TR" dirty="0"/>
              <a:t> gibi d</a:t>
            </a:r>
            <a:r>
              <a:rPr lang="en-US" altLang="en-US" dirty="0"/>
              <a:t>ü</a:t>
            </a:r>
            <a:r>
              <a:rPr lang="" altLang="en-US" dirty="0"/>
              <a:t>ş</a:t>
            </a:r>
            <a:r>
              <a:rPr lang="en-US" altLang="en-US" dirty="0"/>
              <a:t>ü</a:t>
            </a:r>
            <a:r>
              <a:rPr lang="en-US" altLang="tr-TR" dirty="0"/>
              <a:t>n</a:t>
            </a:r>
            <a:r>
              <a:rPr lang="en-US" altLang="en-US" dirty="0"/>
              <a:t>ü</a:t>
            </a:r>
            <a:r>
              <a:rPr lang="en-US" altLang="tr-TR" dirty="0"/>
              <a:t>lebilir.</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pPr marL="109855" indent="0">
              <a:buNone/>
            </a:pPr>
            <a:r>
              <a:rPr lang="en-US" altLang="tr-TR" dirty="0"/>
              <a:t>@Composable</a:t>
            </a:r>
            <a:endParaRPr lang="en-US" altLang="tr-TR" dirty="0"/>
          </a:p>
          <a:p>
            <a:pPr marL="109855" indent="0">
              <a:buNone/>
            </a:pPr>
            <a:r>
              <a:rPr lang="en-US" altLang="tr-TR" dirty="0"/>
              <a:t>fun </a:t>
            </a:r>
            <a:r>
              <a:rPr lang="tr-TR" altLang="en-US" dirty="0"/>
              <a:t>Selamla</a:t>
            </a:r>
            <a:r>
              <a:rPr lang="en-US" altLang="tr-TR" dirty="0"/>
              <a:t>(</a:t>
            </a:r>
            <a:r>
              <a:rPr lang="tr-TR" altLang="en-US" dirty="0"/>
              <a:t>isim</a:t>
            </a:r>
            <a:r>
              <a:rPr lang="en-US" altLang="tr-TR" dirty="0"/>
              <a:t>: String) {</a:t>
            </a:r>
            <a:endParaRPr lang="en-US" altLang="tr-TR" dirty="0"/>
          </a:p>
          <a:p>
            <a:pPr marL="109855" indent="0">
              <a:buNone/>
            </a:pPr>
            <a:r>
              <a:rPr lang="en-US" altLang="tr-TR" dirty="0"/>
              <a:t>    Text(text = "Merhaba $</a:t>
            </a:r>
            <a:r>
              <a:rPr lang="tr-TR" altLang="en-US" dirty="0"/>
              <a:t>isim</a:t>
            </a:r>
            <a:r>
              <a:rPr lang="en-US" altLang="tr-TR" dirty="0"/>
              <a:t>!")</a:t>
            </a:r>
            <a:endParaRPr lang="en-US" altLang="tr-TR" dirty="0"/>
          </a:p>
          <a:p>
            <a:pPr marL="109855" indent="0">
              <a:buNone/>
            </a:pPr>
            <a:r>
              <a:rPr lang="en-US" altLang="tr-TR" dirty="0"/>
              <a:t>}</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pic>
        <p:nvPicPr>
          <p:cNvPr id="4" name="Resim 3" descr="Screenshot_1765194859"/>
          <p:cNvPicPr>
            <a:picLocks noChangeAspect="1"/>
          </p:cNvPicPr>
          <p:nvPr/>
        </p:nvPicPr>
        <p:blipFill>
          <a:blip r:embed="rId1"/>
          <a:stretch>
            <a:fillRect/>
          </a:stretch>
        </p:blipFill>
        <p:spPr>
          <a:xfrm>
            <a:off x="4841875" y="2209800"/>
            <a:ext cx="2508250" cy="4459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r>
              <a:rPr lang="tr-TR" altLang="en-US" dirty="0"/>
              <a:t>Imperative yaklaşımlarıdaki</a:t>
            </a:r>
            <a:r>
              <a:rPr lang="en-US" altLang="tr-TR" dirty="0"/>
              <a:t> karma</a:t>
            </a:r>
            <a:r>
              <a:rPr lang="" altLang="en-US" dirty="0"/>
              <a:t>şı</a:t>
            </a:r>
            <a:r>
              <a:rPr lang="en-US" altLang="tr-TR" dirty="0"/>
              <a:t>k ConstraintLayout veya RelativeLayout yerine 3 temel yap</a:t>
            </a:r>
            <a:r>
              <a:rPr lang="" altLang="en-US" dirty="0"/>
              <a:t>ı</a:t>
            </a:r>
            <a:r>
              <a:rPr lang="en-US" altLang="tr-TR" dirty="0"/>
              <a:t> ta</a:t>
            </a:r>
            <a:r>
              <a:rPr lang="" altLang="en-US" dirty="0"/>
              <a:t>şı</a:t>
            </a:r>
            <a:r>
              <a:rPr lang="en-US" altLang="tr-TR" dirty="0"/>
              <a:t> vard</a:t>
            </a:r>
            <a:r>
              <a:rPr lang="" altLang="en-US" dirty="0"/>
              <a:t>ı</a:t>
            </a:r>
            <a:r>
              <a:rPr lang="en-US" altLang="tr-TR" dirty="0"/>
              <a:t>r:</a:t>
            </a:r>
            <a:endParaRPr lang="en-US" altLang="tr-TR" dirty="0"/>
          </a:p>
          <a:p>
            <a:pPr marL="624205" indent="-514350">
              <a:buAutoNum type="arabicPeriod"/>
            </a:pPr>
            <a:r>
              <a:rPr lang="en-US" altLang="tr-TR" dirty="0"/>
              <a:t>Column: </a:t>
            </a:r>
            <a:r>
              <a:rPr lang="en-US" altLang="en-US" dirty="0"/>
              <a:t>Ö</a:t>
            </a:r>
            <a:r>
              <a:rPr lang="" altLang="en-US" dirty="0"/>
              <a:t>ğ</a:t>
            </a:r>
            <a:r>
              <a:rPr lang="en-US" altLang="tr-TR" dirty="0"/>
              <a:t>eleri dikey (alt alta) dizer.</a:t>
            </a:r>
            <a:endParaRPr lang="en-US" altLang="tr-TR" dirty="0"/>
          </a:p>
          <a:p>
            <a:pPr marL="624205" indent="-514350">
              <a:buAutoNum type="arabicPeriod"/>
            </a:pPr>
            <a:r>
              <a:rPr lang="en-US" altLang="tr-TR" dirty="0"/>
              <a:t>Row: </a:t>
            </a:r>
            <a:r>
              <a:rPr lang="en-US" altLang="en-US" dirty="0"/>
              <a:t>Ö</a:t>
            </a:r>
            <a:r>
              <a:rPr lang="" altLang="en-US" dirty="0"/>
              <a:t>ğ</a:t>
            </a:r>
            <a:r>
              <a:rPr lang="en-US" altLang="tr-TR" dirty="0"/>
              <a:t>eleri yatay (yan yana) dizer.</a:t>
            </a:r>
            <a:endParaRPr lang="en-US" altLang="tr-TR" dirty="0"/>
          </a:p>
          <a:p>
            <a:pPr marL="624205" indent="-514350">
              <a:buAutoNum type="arabicPeriod"/>
            </a:pPr>
            <a:r>
              <a:rPr lang="en-US" altLang="tr-TR" dirty="0"/>
              <a:t>Box: </a:t>
            </a:r>
            <a:r>
              <a:rPr lang="en-US" altLang="en-US" dirty="0"/>
              <a:t>Ö</a:t>
            </a:r>
            <a:r>
              <a:rPr lang="" altLang="en-US" dirty="0"/>
              <a:t>ğ</a:t>
            </a:r>
            <a:r>
              <a:rPr lang="en-US" altLang="tr-TR" dirty="0"/>
              <a:t>eleri </a:t>
            </a:r>
            <a:r>
              <a:rPr lang="en-US" altLang="en-US" dirty="0"/>
              <a:t>ü</a:t>
            </a:r>
            <a:r>
              <a:rPr lang="en-US" altLang="tr-TR" dirty="0"/>
              <a:t>st </a:t>
            </a:r>
            <a:r>
              <a:rPr lang="en-US" altLang="en-US" dirty="0"/>
              <a:t>ü</a:t>
            </a:r>
            <a:r>
              <a:rPr lang="en-US" altLang="tr-TR" dirty="0"/>
              <a:t>ste (z-index mant</a:t>
            </a:r>
            <a:r>
              <a:rPr lang="" altLang="en-US" dirty="0"/>
              <a:t>ığı</a:t>
            </a:r>
            <a:r>
              <a:rPr lang="en-US" altLang="tr-TR" dirty="0"/>
              <a:t>yla) dizer.</a:t>
            </a:r>
            <a:endParaRPr lang="tr-TR"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r>
              <a:rPr lang="tr-TR" altLang="en-US" dirty="0"/>
              <a:t>Box içerisindeki içerikleri doğrudan hizalamak için contentAlignment parametresi kullanılabilir. Buna aşağıdaki özellikler static olarak verilebilir.</a:t>
            </a:r>
            <a:endParaRPr lang="tr-TR" altLang="en-US" dirty="0"/>
          </a:p>
          <a:p>
            <a:pPr marL="109855" indent="0">
              <a:buNone/>
            </a:pPr>
            <a:endParaRPr lang="tr-TR" altLang="en-US" dirty="0"/>
          </a:p>
        </p:txBody>
      </p:sp>
      <p:graphicFrame>
        <p:nvGraphicFramePr>
          <p:cNvPr id="4" name="Tablo 3"/>
          <p:cNvGraphicFramePr/>
          <p:nvPr/>
        </p:nvGraphicFramePr>
        <p:xfrm>
          <a:off x="1819910" y="3429000"/>
          <a:ext cx="8533130" cy="3048000"/>
        </p:xfrm>
        <a:graphic>
          <a:graphicData uri="http://schemas.openxmlformats.org/drawingml/2006/table">
            <a:tbl>
              <a:tblPr firstRow="1" bandRow="1">
                <a:tableStyleId>{3B4B98B0-60AC-42C2-AFA5-B58CD77FA1E5}</a:tableStyleId>
              </a:tblPr>
              <a:tblGrid>
                <a:gridCol w="4266565"/>
                <a:gridCol w="4266565"/>
              </a:tblGrid>
              <a:tr h="381000">
                <a:tc>
                  <a:txBody>
                    <a:bodyPr/>
                    <a:p>
                      <a:pPr>
                        <a:buNone/>
                      </a:pPr>
                      <a:r>
                        <a:rPr lang="tr-TR" altLang="en-US"/>
                        <a:t>Yapı</a:t>
                      </a:r>
                      <a:endParaRPr lang="tr-TR" altLang="en-US"/>
                    </a:p>
                  </a:txBody>
                  <a:tcPr/>
                </a:tc>
                <a:tc>
                  <a:txBody>
                    <a:bodyPr/>
                    <a:p>
                      <a:pPr>
                        <a:buNone/>
                      </a:pPr>
                      <a:r>
                        <a:rPr lang="tr-TR" altLang="en-US"/>
                        <a:t>İşlevi</a:t>
                      </a:r>
                      <a:endParaRPr lang="tr-TR" altLang="en-US"/>
                    </a:p>
                  </a:txBody>
                  <a:tcPr/>
                </a:tc>
              </a:tr>
              <a:tr h="381000">
                <a:tc>
                  <a:txBody>
                    <a:bodyPr/>
                    <a:p>
                      <a:pPr>
                        <a:buNone/>
                      </a:pPr>
                      <a:r>
                        <a:rPr lang="tr-TR" altLang="en-US"/>
                        <a:t>Center</a:t>
                      </a:r>
                      <a:endParaRPr lang="tr-TR" altLang="en-US"/>
                    </a:p>
                  </a:txBody>
                  <a:tcPr/>
                </a:tc>
                <a:tc>
                  <a:txBody>
                    <a:bodyPr/>
                    <a:p>
                      <a:pPr>
                        <a:buNone/>
                      </a:pPr>
                      <a:r>
                        <a:rPr lang="tr-TR" altLang="en-US"/>
                        <a:t>Yatayda ve dikeyde merkeze alır.</a:t>
                      </a:r>
                      <a:endParaRPr lang="tr-TR" altLang="en-US"/>
                    </a:p>
                  </a:txBody>
                  <a:tcPr/>
                </a:tc>
              </a:tr>
              <a:tr h="381000">
                <a:tc>
                  <a:txBody>
                    <a:bodyPr/>
                    <a:p>
                      <a:pPr>
                        <a:buNone/>
                      </a:pPr>
                      <a:r>
                        <a:rPr lang="tr-TR" altLang="en-US"/>
                        <a:t>BottomCenter</a:t>
                      </a:r>
                      <a:endParaRPr lang="tr-TR" altLang="en-US"/>
                    </a:p>
                  </a:txBody>
                  <a:tcPr/>
                </a:tc>
                <a:tc>
                  <a:txBody>
                    <a:bodyPr/>
                    <a:p>
                      <a:pPr>
                        <a:buNone/>
                      </a:pPr>
                      <a:r>
                        <a:rPr lang="tr-TR" altLang="en-US"/>
                        <a:t>Ekranın en altında ortalar</a:t>
                      </a:r>
                      <a:endParaRPr lang="tr-TR" altLang="en-US"/>
                    </a:p>
                  </a:txBody>
                  <a:tcPr/>
                </a:tc>
              </a:tr>
              <a:tr h="381000">
                <a:tc>
                  <a:txBody>
                    <a:bodyPr/>
                    <a:p>
                      <a:pPr>
                        <a:buNone/>
                      </a:pPr>
                      <a:r>
                        <a:rPr lang="tr-TR" altLang="en-US"/>
                        <a:t>BottomEnd</a:t>
                      </a:r>
                      <a:endParaRPr lang="tr-TR" altLang="en-US"/>
                    </a:p>
                  </a:txBody>
                  <a:tcPr/>
                </a:tc>
                <a:tc>
                  <a:txBody>
                    <a:bodyPr/>
                    <a:p>
                      <a:pPr>
                        <a:buNone/>
                      </a:pPr>
                      <a:r>
                        <a:rPr lang="tr-TR" altLang="en-US"/>
                        <a:t>Ekranın altında sağa hizalar</a:t>
                      </a:r>
                      <a:endParaRPr lang="tr-TR" altLang="en-US"/>
                    </a:p>
                  </a:txBody>
                  <a:tcPr/>
                </a:tc>
              </a:tr>
              <a:tr h="381000">
                <a:tc>
                  <a:txBody>
                    <a:bodyPr/>
                    <a:p>
                      <a:pPr>
                        <a:buNone/>
                      </a:pPr>
                      <a:r>
                        <a:rPr lang="tr-TR" altLang="en-US"/>
                        <a:t>BottomStart</a:t>
                      </a:r>
                      <a:endParaRPr lang="tr-TR" altLang="en-US"/>
                    </a:p>
                  </a:txBody>
                  <a:tcPr/>
                </a:tc>
                <a:tc>
                  <a:txBody>
                    <a:bodyPr/>
                    <a:p>
                      <a:pPr>
                        <a:buNone/>
                      </a:pPr>
                      <a:r>
                        <a:rPr lang="tr-TR" altLang="en-US"/>
                        <a:t>Ekranın altında sola hizalar.</a:t>
                      </a:r>
                      <a:endParaRPr lang="tr-TR" altLang="en-US"/>
                    </a:p>
                  </a:txBody>
                  <a:tcPr/>
                </a:tc>
              </a:tr>
              <a:tr h="381000">
                <a:tc>
                  <a:txBody>
                    <a:bodyPr/>
                    <a:p>
                      <a:pPr>
                        <a:buNone/>
                      </a:pPr>
                      <a:r>
                        <a:rPr lang="tr-TR" altLang="en-US"/>
                        <a:t>TopCenter</a:t>
                      </a:r>
                      <a:endParaRPr lang="tr-TR" altLang="en-US"/>
                    </a:p>
                  </a:txBody>
                  <a:tcPr/>
                </a:tc>
                <a:tc>
                  <a:txBody>
                    <a:bodyPr/>
                    <a:p>
                      <a:pPr>
                        <a:buNone/>
                      </a:pPr>
                      <a:r>
                        <a:rPr lang="tr-TR" altLang="en-US"/>
                        <a:t>Ekranın üstüne ortalar</a:t>
                      </a:r>
                      <a:endParaRPr lang="tr-TR" altLang="en-US"/>
                    </a:p>
                  </a:txBody>
                  <a:tcPr/>
                </a:tc>
              </a:tr>
              <a:tr h="381000">
                <a:tc>
                  <a:txBody>
                    <a:bodyPr/>
                    <a:p>
                      <a:pPr>
                        <a:buNone/>
                      </a:pPr>
                      <a:r>
                        <a:rPr lang="tr-TR" altLang="en-US"/>
                        <a:t>TopEnd</a:t>
                      </a:r>
                      <a:endParaRPr lang="tr-TR" altLang="en-US"/>
                    </a:p>
                  </a:txBody>
                  <a:tcPr/>
                </a:tc>
                <a:tc>
                  <a:txBody>
                    <a:bodyPr/>
                    <a:p>
                      <a:pPr>
                        <a:buNone/>
                      </a:pPr>
                      <a:r>
                        <a:rPr lang="tr-TR" altLang="en-US"/>
                        <a:t>Ekranın üstüne sağa hizalar</a:t>
                      </a:r>
                      <a:endParaRPr lang="tr-TR" altLang="en-US"/>
                    </a:p>
                  </a:txBody>
                  <a:tcPr/>
                </a:tc>
              </a:tr>
              <a:tr h="381000">
                <a:tc>
                  <a:txBody>
                    <a:bodyPr/>
                    <a:p>
                      <a:pPr>
                        <a:buNone/>
                      </a:pPr>
                      <a:r>
                        <a:rPr lang="tr-TR" altLang="en-US"/>
                        <a:t>TopStart</a:t>
                      </a:r>
                      <a:endParaRPr lang="tr-TR" altLang="en-US"/>
                    </a:p>
                  </a:txBody>
                  <a:tcPr/>
                </a:tc>
                <a:tc>
                  <a:txBody>
                    <a:bodyPr/>
                    <a:p>
                      <a:pPr>
                        <a:buNone/>
                      </a:pPr>
                      <a:r>
                        <a:rPr lang="tr-TR" altLang="en-US"/>
                        <a:t>Ekranın üstüne sola hizalar.</a:t>
                      </a:r>
                      <a:endParaRPr lang="tr-TR"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pPr marL="109855" indent="0">
              <a:buNone/>
            </a:pPr>
            <a:r>
              <a:rPr lang="en-US" altLang="tr-TR" dirty="0"/>
              <a:t>@Composable</a:t>
            </a:r>
            <a:endParaRPr lang="en-US" altLang="tr-TR" dirty="0"/>
          </a:p>
          <a:p>
            <a:pPr marL="109855" indent="0">
              <a:buNone/>
            </a:pPr>
            <a:r>
              <a:rPr lang="en-US" altLang="tr-TR" dirty="0"/>
              <a:t>fun Column1()</a:t>
            </a:r>
            <a:endParaRPr lang="en-US" altLang="tr-TR" dirty="0"/>
          </a:p>
          <a:p>
            <a:pPr marL="109855" indent="0">
              <a:buNone/>
            </a:pPr>
            <a:r>
              <a:rPr lang="en-US" altLang="tr-TR" dirty="0"/>
              <a:t>{</a:t>
            </a:r>
            <a:endParaRPr lang="en-US" altLang="tr-TR" dirty="0"/>
          </a:p>
          <a:p>
            <a:pPr marL="109855" indent="0">
              <a:buNone/>
            </a:pPr>
            <a:r>
              <a:rPr lang="en-US" altLang="tr-TR" dirty="0"/>
              <a:t>    Column {</a:t>
            </a:r>
            <a:endParaRPr lang="en-US" altLang="tr-TR" dirty="0"/>
          </a:p>
          <a:p>
            <a:pPr marL="109855" indent="0">
              <a:buNone/>
            </a:pPr>
            <a:r>
              <a:rPr lang="en-US" altLang="tr-TR" dirty="0"/>
              <a:t>        Text(text = "Merhaba1")</a:t>
            </a:r>
            <a:endParaRPr lang="en-US" altLang="tr-TR" dirty="0"/>
          </a:p>
          <a:p>
            <a:pPr marL="109855" indent="0">
              <a:buNone/>
            </a:pPr>
            <a:r>
              <a:rPr lang="en-US" altLang="tr-TR" dirty="0"/>
              <a:t>        Text(text = "Merhaba2")</a:t>
            </a:r>
            <a:endParaRPr lang="en-US" altLang="tr-TR" dirty="0"/>
          </a:p>
          <a:p>
            <a:pPr marL="109855" indent="0">
              <a:buNone/>
            </a:pPr>
            <a:r>
              <a:rPr lang="en-US" altLang="tr-TR" dirty="0"/>
              <a:t>        Text(text = "Merhaba3")</a:t>
            </a:r>
            <a:endParaRPr lang="en-US" altLang="tr-TR" dirty="0"/>
          </a:p>
          <a:p>
            <a:pPr marL="109855" indent="0">
              <a:buNone/>
            </a:pPr>
            <a:r>
              <a:rPr lang="en-US" altLang="tr-TR" dirty="0"/>
              <a:t>    }</a:t>
            </a:r>
            <a:endParaRPr lang="en-US" altLang="tr-TR" dirty="0"/>
          </a:p>
          <a:p>
            <a:pPr marL="109855" indent="0">
              <a:buNone/>
            </a:pPr>
            <a:r>
              <a:rPr lang="en-US" altLang="tr-TR" dirty="0"/>
              <a:t>}</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pic>
        <p:nvPicPr>
          <p:cNvPr id="5" name="Resim 4" descr="Screenshot_1765195080"/>
          <p:cNvPicPr>
            <a:picLocks noChangeAspect="1"/>
          </p:cNvPicPr>
          <p:nvPr/>
        </p:nvPicPr>
        <p:blipFill>
          <a:blip r:embed="rId1"/>
          <a:stretch>
            <a:fillRect/>
          </a:stretch>
        </p:blipFill>
        <p:spPr>
          <a:xfrm>
            <a:off x="5020945" y="2209800"/>
            <a:ext cx="2149475" cy="38220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pPr marL="109855" indent="0">
              <a:buNone/>
            </a:pPr>
            <a:r>
              <a:rPr lang="en-US" altLang="tr-TR" dirty="0"/>
              <a:t>@Composable</a:t>
            </a:r>
            <a:endParaRPr lang="en-US" altLang="tr-TR" dirty="0"/>
          </a:p>
          <a:p>
            <a:pPr marL="109855" indent="0">
              <a:buNone/>
            </a:pPr>
            <a:r>
              <a:rPr lang="en-US" altLang="tr-TR" dirty="0"/>
              <a:t>fun Row1()</a:t>
            </a:r>
            <a:endParaRPr lang="en-US" altLang="tr-TR" dirty="0"/>
          </a:p>
          <a:p>
            <a:pPr marL="109855" indent="0">
              <a:buNone/>
            </a:pPr>
            <a:r>
              <a:rPr lang="en-US" altLang="tr-TR" dirty="0"/>
              <a:t>{</a:t>
            </a:r>
            <a:endParaRPr lang="en-US" altLang="tr-TR" dirty="0"/>
          </a:p>
          <a:p>
            <a:pPr marL="109855" indent="0">
              <a:buNone/>
            </a:pPr>
            <a:r>
              <a:rPr lang="en-US" altLang="tr-TR" dirty="0"/>
              <a:t>    Row {</a:t>
            </a:r>
            <a:endParaRPr lang="en-US" altLang="tr-TR" dirty="0"/>
          </a:p>
          <a:p>
            <a:pPr marL="109855" indent="0">
              <a:buNone/>
            </a:pPr>
            <a:r>
              <a:rPr lang="en-US" altLang="tr-TR" dirty="0"/>
              <a:t>        Text(text = "Merhaba1")</a:t>
            </a:r>
            <a:endParaRPr lang="en-US" altLang="tr-TR" dirty="0"/>
          </a:p>
          <a:p>
            <a:pPr marL="109855" indent="0">
              <a:buNone/>
            </a:pPr>
            <a:r>
              <a:rPr lang="en-US" altLang="tr-TR" dirty="0"/>
              <a:t>        Text(text = "Merhaba2")</a:t>
            </a:r>
            <a:endParaRPr lang="en-US" altLang="tr-TR" dirty="0"/>
          </a:p>
          <a:p>
            <a:pPr marL="109855" indent="0">
              <a:buNone/>
            </a:pPr>
            <a:r>
              <a:rPr lang="en-US" altLang="tr-TR" dirty="0"/>
              <a:t>        Text(text = "Merhaba3")</a:t>
            </a:r>
            <a:endParaRPr lang="en-US" altLang="tr-TR" dirty="0"/>
          </a:p>
          <a:p>
            <a:pPr marL="109855" indent="0">
              <a:buNone/>
            </a:pPr>
            <a:r>
              <a:rPr lang="en-US" altLang="tr-TR" dirty="0"/>
              <a:t>    }</a:t>
            </a:r>
            <a:endParaRPr lang="en-US" altLang="tr-TR" dirty="0"/>
          </a:p>
          <a:p>
            <a:pPr marL="109855" indent="0">
              <a:buNone/>
            </a:pPr>
            <a:r>
              <a:rPr lang="en-US" altLang="tr-TR" dirty="0"/>
              <a:t>}</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pic>
        <p:nvPicPr>
          <p:cNvPr id="4" name="Resim 3" descr="Screenshot_1765195206"/>
          <p:cNvPicPr>
            <a:picLocks noChangeAspect="1"/>
          </p:cNvPicPr>
          <p:nvPr/>
        </p:nvPicPr>
        <p:blipFill>
          <a:blip r:embed="rId1"/>
          <a:stretch>
            <a:fillRect/>
          </a:stretch>
        </p:blipFill>
        <p:spPr>
          <a:xfrm>
            <a:off x="4913630" y="2209800"/>
            <a:ext cx="2365375" cy="42049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sp>
        <p:nvSpPr>
          <p:cNvPr id="3" name="İçerik Yer Tutucusu 2"/>
          <p:cNvSpPr>
            <a:spLocks noGrp="1"/>
          </p:cNvSpPr>
          <p:nvPr>
            <p:ph idx="1"/>
          </p:nvPr>
        </p:nvSpPr>
        <p:spPr/>
        <p:txBody>
          <a:bodyPr>
            <a:normAutofit lnSpcReduction="10000"/>
          </a:bodyPr>
          <a:lstStyle/>
          <a:p>
            <a:pPr marL="109855" indent="0">
              <a:buNone/>
            </a:pPr>
            <a:r>
              <a:rPr lang="en-US" altLang="tr-TR" dirty="0"/>
              <a:t>@Composable</a:t>
            </a:r>
            <a:endParaRPr lang="en-US" altLang="tr-TR" dirty="0"/>
          </a:p>
          <a:p>
            <a:pPr marL="109855" indent="0">
              <a:buNone/>
            </a:pPr>
            <a:r>
              <a:rPr lang="en-US" altLang="tr-TR" dirty="0"/>
              <a:t>fun Box1()</a:t>
            </a:r>
            <a:endParaRPr lang="en-US" altLang="tr-TR" dirty="0"/>
          </a:p>
          <a:p>
            <a:pPr marL="109855" indent="0">
              <a:buNone/>
            </a:pPr>
            <a:r>
              <a:rPr lang="en-US" altLang="tr-TR" dirty="0"/>
              <a:t>{</a:t>
            </a:r>
            <a:endParaRPr lang="en-US" altLang="tr-TR" dirty="0"/>
          </a:p>
          <a:p>
            <a:pPr marL="109855" indent="0">
              <a:buNone/>
            </a:pPr>
            <a:r>
              <a:rPr lang="en-US" altLang="tr-TR" dirty="0"/>
              <a:t>    Box() {</a:t>
            </a:r>
            <a:endParaRPr lang="en-US" altLang="tr-TR" dirty="0"/>
          </a:p>
          <a:p>
            <a:pPr marL="109855" indent="0">
              <a:buNone/>
            </a:pPr>
            <a:r>
              <a:rPr lang="en-US" altLang="tr-TR" dirty="0"/>
              <a:t>        Text(text = "Merhaba1")</a:t>
            </a:r>
            <a:endParaRPr lang="en-US" altLang="tr-TR" dirty="0"/>
          </a:p>
          <a:p>
            <a:pPr marL="109855" indent="0">
              <a:buNone/>
            </a:pPr>
            <a:r>
              <a:rPr lang="en-US" altLang="tr-TR" dirty="0"/>
              <a:t>        Text(text = "Merhaba2")</a:t>
            </a:r>
            <a:endParaRPr lang="en-US" altLang="tr-TR" dirty="0"/>
          </a:p>
          <a:p>
            <a:pPr marL="109855" indent="0">
              <a:buNone/>
            </a:pPr>
            <a:r>
              <a:rPr lang="en-US" altLang="tr-TR" dirty="0"/>
              <a:t>        Text(text = "Merhaba3")</a:t>
            </a:r>
            <a:endParaRPr lang="en-US" altLang="tr-TR" dirty="0"/>
          </a:p>
          <a:p>
            <a:pPr marL="109855" indent="0">
              <a:buNone/>
            </a:pPr>
            <a:r>
              <a:rPr lang="en-US" altLang="tr-TR" dirty="0"/>
              <a:t>    }</a:t>
            </a:r>
            <a:endParaRPr lang="en-US" altLang="tr-TR" dirty="0"/>
          </a:p>
          <a:p>
            <a:pPr marL="109855" indent="0">
              <a:buNone/>
            </a:pPr>
            <a:r>
              <a:rPr lang="en-US" altLang="tr-TR" dirty="0"/>
              <a:t>}</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@Composable Fonksiyonlar</a:t>
            </a:r>
            <a:endParaRPr lang="en-US" altLang="tr-TR" dirty="0"/>
          </a:p>
        </p:txBody>
      </p:sp>
      <p:pic>
        <p:nvPicPr>
          <p:cNvPr id="4" name="Resim 3" descr="Screenshot_1765195357"/>
          <p:cNvPicPr>
            <a:picLocks noChangeAspect="1"/>
          </p:cNvPicPr>
          <p:nvPr/>
        </p:nvPicPr>
        <p:blipFill>
          <a:blip r:embed="rId1"/>
          <a:stretch>
            <a:fillRect/>
          </a:stretch>
        </p:blipFill>
        <p:spPr>
          <a:xfrm>
            <a:off x="5026660" y="2209800"/>
            <a:ext cx="2138680" cy="38023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Modifiers (</a:t>
            </a:r>
            <a:r>
              <a:rPr lang="" altLang="en-US" dirty="0"/>
              <a:t>Ş</a:t>
            </a:r>
            <a:r>
              <a:rPr lang="en-US" altLang="tr-TR" dirty="0"/>
              <a:t>ekillendiriciler)</a:t>
            </a:r>
            <a:endParaRPr lang="en-US" altLang="tr-TR" dirty="0"/>
          </a:p>
        </p:txBody>
      </p:sp>
      <p:sp>
        <p:nvSpPr>
          <p:cNvPr id="3" name="İçerik Yer Tutucusu 2"/>
          <p:cNvSpPr>
            <a:spLocks noGrp="1"/>
          </p:cNvSpPr>
          <p:nvPr>
            <p:ph idx="1"/>
          </p:nvPr>
        </p:nvSpPr>
        <p:spPr/>
        <p:txBody>
          <a:bodyPr>
            <a:normAutofit lnSpcReduction="10000"/>
          </a:bodyPr>
          <a:lstStyle/>
          <a:p>
            <a:r>
              <a:rPr lang="en-US" altLang="tr-TR" dirty="0"/>
              <a:t>Bir bile</a:t>
            </a:r>
            <a:r>
              <a:rPr lang="" altLang="en-US" dirty="0"/>
              <a:t>ş</a:t>
            </a:r>
            <a:r>
              <a:rPr lang="en-US" altLang="tr-TR" dirty="0"/>
              <a:t>enin boyutunu, g</a:t>
            </a:r>
            <a:r>
              <a:rPr lang="en-US" altLang="en-US" dirty="0"/>
              <a:t>ö</a:t>
            </a:r>
            <a:r>
              <a:rPr lang="en-US" altLang="tr-TR" dirty="0"/>
              <a:t>r</a:t>
            </a:r>
            <a:r>
              <a:rPr lang="en-US" altLang="en-US" dirty="0"/>
              <a:t>ü</a:t>
            </a:r>
            <a:r>
              <a:rPr lang="en-US" altLang="tr-TR" dirty="0"/>
              <a:t>n</a:t>
            </a:r>
            <a:r>
              <a:rPr lang="en-US" altLang="en-US" dirty="0"/>
              <a:t>ü</a:t>
            </a:r>
            <a:r>
              <a:rPr lang="en-US" altLang="tr-TR" dirty="0"/>
              <a:t>m</a:t>
            </a:r>
            <a:r>
              <a:rPr lang="en-US" altLang="en-US" dirty="0"/>
              <a:t>ü</a:t>
            </a:r>
            <a:r>
              <a:rPr lang="en-US" altLang="tr-TR" dirty="0"/>
              <a:t>n</a:t>
            </a:r>
            <a:r>
              <a:rPr lang="en-US" altLang="en-US" dirty="0"/>
              <a:t>ü</a:t>
            </a:r>
            <a:r>
              <a:rPr lang="en-US" altLang="tr-TR" dirty="0"/>
              <a:t> veya davran</a:t>
            </a:r>
            <a:r>
              <a:rPr lang="" altLang="en-US" dirty="0"/>
              <a:t>ışı</a:t>
            </a:r>
            <a:r>
              <a:rPr lang="en-US" altLang="tr-TR" dirty="0"/>
              <a:t>n</a:t>
            </a:r>
            <a:r>
              <a:rPr lang="" altLang="en-US" dirty="0"/>
              <a:t>ı</a:t>
            </a:r>
            <a:r>
              <a:rPr lang="en-US" altLang="tr-TR" dirty="0"/>
              <a:t> de</a:t>
            </a:r>
            <a:r>
              <a:rPr lang="" altLang="en-US" dirty="0"/>
              <a:t>ğ</a:t>
            </a:r>
            <a:r>
              <a:rPr lang="en-US" altLang="tr-TR" dirty="0"/>
              <a:t>i</a:t>
            </a:r>
            <a:r>
              <a:rPr lang="" altLang="en-US" dirty="0"/>
              <a:t>ş</a:t>
            </a:r>
            <a:r>
              <a:rPr lang="en-US" altLang="tr-TR" dirty="0"/>
              <a:t>tirmek i</a:t>
            </a:r>
            <a:r>
              <a:rPr lang="" altLang="en-US" dirty="0"/>
              <a:t>ç</a:t>
            </a:r>
            <a:r>
              <a:rPr lang="en-US" altLang="tr-TR" dirty="0"/>
              <a:t>in kullan</a:t>
            </a:r>
            <a:r>
              <a:rPr lang="" altLang="en-US" dirty="0"/>
              <a:t>ı</a:t>
            </a:r>
            <a:r>
              <a:rPr lang="en-US" altLang="tr-TR" dirty="0"/>
              <a:t>l</a:t>
            </a:r>
            <a:r>
              <a:rPr lang="" altLang="en-US" dirty="0"/>
              <a:t>ı</a:t>
            </a:r>
            <a:r>
              <a:rPr lang="en-US" altLang="tr-TR" dirty="0"/>
              <a:t>r.</a:t>
            </a:r>
            <a:endParaRPr lang="en-US" altLang="tr-TR" dirty="0"/>
          </a:p>
          <a:p>
            <a:r>
              <a:rPr lang="en-US" altLang="tr-TR" dirty="0"/>
              <a:t>Zincirleme (chaining) y</a:t>
            </a:r>
            <a:r>
              <a:rPr lang="en-US" altLang="en-US" dirty="0"/>
              <a:t>ö</a:t>
            </a:r>
            <a:r>
              <a:rPr lang="en-US" altLang="tr-TR" dirty="0"/>
              <a:t>ntemiyle eklenir. S</a:t>
            </a:r>
            <a:r>
              <a:rPr lang="" altLang="en-US" dirty="0"/>
              <a:t>ı</a:t>
            </a:r>
            <a:r>
              <a:rPr lang="en-US" altLang="tr-TR" dirty="0"/>
              <a:t>ralama </a:t>
            </a:r>
            <a:r>
              <a:rPr lang="en-US" altLang="en-US" dirty="0"/>
              <a:t>ö</a:t>
            </a:r>
            <a:r>
              <a:rPr lang="en-US" altLang="tr-TR" dirty="0"/>
              <a:t>nemlidir!</a:t>
            </a:r>
            <a:endParaRPr lang="en-US" altLang="tr-TR" dirty="0"/>
          </a:p>
          <a:p>
            <a:r>
              <a:rPr lang="en-US" altLang="en-US" dirty="0"/>
              <a:t>Ö</a:t>
            </a:r>
            <a:r>
              <a:rPr lang="en-US" altLang="tr-TR" dirty="0"/>
              <a:t>rnekler: .padding(), .clickable(), .background(), .fillMaxWidth()</a:t>
            </a:r>
            <a:endParaRPr lang="tr-TR"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Boyutlandırma</a:t>
            </a:r>
            <a:endParaRPr lang="tr-TR" altLang="en-US" dirty="0"/>
          </a:p>
        </p:txBody>
      </p:sp>
      <p:sp>
        <p:nvSpPr>
          <p:cNvPr id="3" name="İçerik Yer Tutucusu 2"/>
          <p:cNvSpPr>
            <a:spLocks noGrp="1"/>
          </p:cNvSpPr>
          <p:nvPr>
            <p:ph idx="1"/>
          </p:nvPr>
        </p:nvSpPr>
        <p:spPr/>
        <p:txBody>
          <a:bodyPr>
            <a:normAutofit lnSpcReduction="10000"/>
          </a:bodyPr>
          <a:lstStyle/>
          <a:p>
            <a:r>
              <a:rPr lang="tr-TR" altLang="en-US" dirty="0"/>
              <a:t>.width(dp): Bileşenin genişliğini sabitler</a:t>
            </a:r>
            <a:endParaRPr lang="tr-TR" altLang="en-US" dirty="0"/>
          </a:p>
          <a:p>
            <a:r>
              <a:rPr lang="tr-TR" altLang="en-US" dirty="0"/>
              <a:t>.height(dp): Bileşenin yüksekliğini sabitler</a:t>
            </a:r>
            <a:endParaRPr lang="tr-TR" altLang="en-US" dirty="0"/>
          </a:p>
          <a:p>
            <a:r>
              <a:rPr lang="tr-TR" altLang="en-US" dirty="0"/>
              <a:t>.size(dp): Hem genişliği hem yüksekliği aynı değere sabitler</a:t>
            </a:r>
            <a:endParaRPr lang="tr-TR" altLang="en-US" dirty="0"/>
          </a:p>
          <a:p>
            <a:r>
              <a:rPr lang="tr-TR" altLang="en-US" dirty="0"/>
              <a:t>.size(width, height): Genişlik ve yüksekliği ayrı ayrı verir.</a:t>
            </a:r>
            <a:endParaRPr lang="tr-TR" altLang="en-US" dirty="0"/>
          </a:p>
          <a:p>
            <a:r>
              <a:rPr lang="en-US" altLang="tr-TR" dirty="0"/>
              <a:t>.fillMaxWidth(fraction)</a:t>
            </a:r>
            <a:r>
              <a:rPr lang="tr-TR" altLang="en-US" dirty="0"/>
              <a:t>: Yatayda kaplayabildiği kadar yer kaplar(Varsayılanı : %100)</a:t>
            </a:r>
            <a:endParaRPr lang="tr-TR" altLang="en-US" dirty="0"/>
          </a:p>
          <a:p>
            <a:r>
              <a:rPr lang="en-US" altLang="tr-TR" dirty="0"/>
              <a:t>.fillMaxHeight(fraction)</a:t>
            </a:r>
            <a:r>
              <a:rPr lang="tr-TR" altLang="en-US" dirty="0"/>
              <a:t>: Dikeyde kaplayabildiği kadar yer kaplar.</a:t>
            </a:r>
            <a:endParaRPr lang="tr-TR" altLang="en-US" dirty="0"/>
          </a:p>
          <a:p>
            <a:r>
              <a:rPr lang="en-US" altLang="tr-TR" dirty="0"/>
              <a:t>.fillMaxSize(fraction)</a:t>
            </a:r>
            <a:r>
              <a:rPr lang="tr-TR" altLang="en-US" dirty="0"/>
              <a:t>: Hem yatay hem dikeyde tüm alanı kaplar.</a:t>
            </a:r>
            <a:endParaRPr lang="tr-TR" altLang="en-US" dirty="0"/>
          </a:p>
          <a:p>
            <a:r>
              <a:rPr lang="en-US" altLang="tr-TR" dirty="0"/>
              <a:t>.wrapContentSize()</a:t>
            </a:r>
            <a:r>
              <a:rPr lang="tr-TR" altLang="en-US" dirty="0"/>
              <a:t>: İçeriği kadar yer kaplar</a:t>
            </a:r>
            <a:endParaRPr lang="tr-TR" altLang="en-US" dirty="0"/>
          </a:p>
          <a:p>
            <a:endParaRPr lang="tr-TR"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Boyutlandırma</a:t>
            </a:r>
            <a:endParaRPr lang="tr-TR" altLang="en-US" dirty="0"/>
          </a:p>
        </p:txBody>
      </p:sp>
      <p:sp>
        <p:nvSpPr>
          <p:cNvPr id="3" name="İçerik Yer Tutucusu 2"/>
          <p:cNvSpPr>
            <a:spLocks noGrp="1"/>
          </p:cNvSpPr>
          <p:nvPr>
            <p:ph idx="1"/>
          </p:nvPr>
        </p:nvSpPr>
        <p:spPr/>
        <p:txBody>
          <a:bodyPr>
            <a:normAutofit lnSpcReduction="10000"/>
          </a:bodyPr>
          <a:lstStyle/>
          <a:p>
            <a:r>
              <a:rPr lang="en-US" altLang="tr-TR" dirty="0"/>
              <a:t>.widthIn(min, max)</a:t>
            </a:r>
            <a:r>
              <a:rPr lang="tr-TR" altLang="en-US" dirty="0"/>
              <a:t>: Genişliğin min ve max sınırlarını belirler.</a:t>
            </a:r>
            <a:endParaRPr lang="tr-TR" altLang="en-US" dirty="0"/>
          </a:p>
          <a:p>
            <a:r>
              <a:rPr lang="en-US" altLang="tr-TR" dirty="0"/>
              <a:t>.heightIn(min, max)</a:t>
            </a:r>
            <a:r>
              <a:rPr lang="tr-TR" altLang="en-US" dirty="0"/>
              <a:t>: Yüksekliğin min ve max sınırlarını belirler.</a:t>
            </a:r>
            <a:endParaRPr lang="tr-TR" altLang="en-US" dirty="0"/>
          </a:p>
          <a:p>
            <a:r>
              <a:rPr lang="en-US" altLang="tr-TR" dirty="0"/>
              <a:t>.aspectRatio(ratio)</a:t>
            </a:r>
            <a:r>
              <a:rPr lang="tr-TR" altLang="en-US" dirty="0"/>
              <a:t>: Genişliğe göre yüksekliği(veya tam tersi) oranlar. (Ör. 16/9)</a:t>
            </a:r>
            <a:endParaRPr lang="tr-TR"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Modifiers (</a:t>
            </a:r>
            <a:r>
              <a:rPr lang="en-US" altLang="en-US" dirty="0"/>
              <a:t>Ş</a:t>
            </a:r>
            <a:r>
              <a:rPr lang="en-US" altLang="tr-TR" dirty="0"/>
              <a:t>ekillendiriciler)</a:t>
            </a:r>
            <a:endParaRPr lang="en-US" altLang="tr-TR" dirty="0"/>
          </a:p>
        </p:txBody>
      </p:sp>
      <p:sp>
        <p:nvSpPr>
          <p:cNvPr id="3" name="İçerik Yer Tutucusu 2"/>
          <p:cNvSpPr>
            <a:spLocks noGrp="1"/>
          </p:cNvSpPr>
          <p:nvPr>
            <p:ph idx="1"/>
          </p:nvPr>
        </p:nvSpPr>
        <p:spPr/>
        <p:txBody>
          <a:bodyPr>
            <a:normAutofit fontScale="60000"/>
          </a:bodyPr>
          <a:lstStyle/>
          <a:p>
            <a:pPr marL="109855" indent="0">
              <a:buNone/>
            </a:pPr>
            <a:r>
              <a:rPr lang="en-US" altLang="tr-TR" dirty="0"/>
              <a:t>@Composable</a:t>
            </a:r>
            <a:endParaRPr lang="en-US" altLang="tr-TR" dirty="0"/>
          </a:p>
          <a:p>
            <a:pPr marL="109855" indent="0">
              <a:buNone/>
            </a:pPr>
            <a:r>
              <a:rPr lang="en-US" altLang="tr-TR" dirty="0"/>
              <a:t>fun Box1()</a:t>
            </a:r>
            <a:endParaRPr lang="en-US" altLang="tr-TR" dirty="0"/>
          </a:p>
          <a:p>
            <a:pPr marL="109855" indent="0">
              <a:buNone/>
            </a:pPr>
            <a:r>
              <a:rPr lang="en-US" altLang="tr-TR" dirty="0"/>
              <a:t>{</a:t>
            </a:r>
            <a:endParaRPr lang="en-US" altLang="tr-TR" dirty="0"/>
          </a:p>
          <a:p>
            <a:pPr marL="109855" indent="0">
              <a:buNone/>
            </a:pPr>
            <a:r>
              <a:rPr lang="en-US" altLang="tr-TR" dirty="0"/>
              <a:t>    Box(contentAlignment = Alignment.Center,</a:t>
            </a:r>
            <a:endParaRPr lang="en-US" altLang="tr-TR" dirty="0"/>
          </a:p>
          <a:p>
            <a:pPr marL="109855" indent="0">
              <a:buNone/>
            </a:pPr>
            <a:r>
              <a:rPr lang="en-US" altLang="tr-TR" dirty="0"/>
              <a:t>        modifier = Modifier.fillMaxSize())</a:t>
            </a:r>
            <a:endParaRPr lang="en-US" altLang="tr-TR" dirty="0"/>
          </a:p>
          <a:p>
            <a:pPr marL="109855" indent="0">
              <a:buNone/>
            </a:pPr>
            <a:r>
              <a:rPr lang="en-US" altLang="tr-TR" dirty="0"/>
              <a:t>    {</a:t>
            </a:r>
            <a:endParaRPr lang="en-US" altLang="tr-TR" dirty="0"/>
          </a:p>
          <a:p>
            <a:pPr marL="109855" indent="0">
              <a:buNone/>
            </a:pPr>
            <a:r>
              <a:rPr lang="en-US" altLang="tr-TR" dirty="0"/>
              <a:t>        Box(modifier = Modifier.size(120.dp)</a:t>
            </a:r>
            <a:endParaRPr lang="en-US" altLang="tr-TR" dirty="0"/>
          </a:p>
          <a:p>
            <a:pPr marL="109855" indent="0">
              <a:buNone/>
            </a:pPr>
            <a:r>
              <a:rPr lang="en-US" altLang="tr-TR" dirty="0"/>
              <a:t>                                .background(Color.Red)){}</a:t>
            </a:r>
            <a:endParaRPr lang="en-US" altLang="tr-TR" dirty="0"/>
          </a:p>
          <a:p>
            <a:pPr marL="109855" indent="0">
              <a:buNone/>
            </a:pPr>
            <a:r>
              <a:rPr lang="en-US" altLang="tr-TR" dirty="0"/>
              <a:t>        Box(modifier = Modifier.size(90.dp)</a:t>
            </a:r>
            <a:endParaRPr lang="en-US" altLang="tr-TR" dirty="0"/>
          </a:p>
          <a:p>
            <a:pPr marL="109855" indent="0">
              <a:buNone/>
            </a:pPr>
            <a:r>
              <a:rPr lang="en-US" altLang="tr-TR" dirty="0"/>
              <a:t>                                .background(Color.Green)){}</a:t>
            </a:r>
            <a:endParaRPr lang="en-US" altLang="tr-TR" dirty="0"/>
          </a:p>
          <a:p>
            <a:pPr marL="109855" indent="0">
              <a:buNone/>
            </a:pPr>
            <a:r>
              <a:rPr lang="en-US" altLang="tr-TR" dirty="0"/>
              <a:t>        Box(modifier = Modifier.size(60.dp)</a:t>
            </a:r>
            <a:endParaRPr lang="en-US" altLang="tr-TR" dirty="0"/>
          </a:p>
          <a:p>
            <a:pPr marL="109855" indent="0">
              <a:buNone/>
            </a:pPr>
            <a:r>
              <a:rPr lang="en-US" altLang="tr-TR" dirty="0"/>
              <a:t>                                .background(Color.Blue)){}</a:t>
            </a:r>
            <a:endParaRPr lang="en-US" altLang="tr-TR" dirty="0"/>
          </a:p>
          <a:p>
            <a:pPr marL="109855" indent="0">
              <a:buNone/>
            </a:pPr>
            <a:r>
              <a:rPr lang="en-US" altLang="tr-TR" dirty="0"/>
              <a:t>    }</a:t>
            </a:r>
            <a:endParaRPr lang="en-US" altLang="tr-TR" dirty="0"/>
          </a:p>
          <a:p>
            <a:pPr marL="109855" indent="0">
              <a:buNone/>
            </a:pPr>
            <a:r>
              <a:rPr lang="en-US" altLang="tr-TR" dirty="0"/>
              <a:t>}</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Modifiers (</a:t>
            </a:r>
            <a:r>
              <a:rPr lang="en-US" altLang="en-US" dirty="0"/>
              <a:t>Ş</a:t>
            </a:r>
            <a:r>
              <a:rPr lang="en-US" altLang="tr-TR" dirty="0"/>
              <a:t>ekillendiriciler)</a:t>
            </a:r>
            <a:endParaRPr lang="en-US" altLang="tr-TR" dirty="0"/>
          </a:p>
        </p:txBody>
      </p:sp>
      <p:pic>
        <p:nvPicPr>
          <p:cNvPr id="4" name="Resim 3" descr="Screenshot_1765196952"/>
          <p:cNvPicPr>
            <a:picLocks noChangeAspect="1"/>
          </p:cNvPicPr>
          <p:nvPr/>
        </p:nvPicPr>
        <p:blipFill>
          <a:blip r:embed="rId1"/>
          <a:stretch>
            <a:fillRect/>
          </a:stretch>
        </p:blipFill>
        <p:spPr>
          <a:xfrm>
            <a:off x="4860290" y="2249170"/>
            <a:ext cx="2472055" cy="43948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Row-Column Özellikleri</a:t>
            </a:r>
            <a:endParaRPr lang="tr-TR" altLang="en-US" dirty="0"/>
          </a:p>
        </p:txBody>
      </p:sp>
      <p:sp>
        <p:nvSpPr>
          <p:cNvPr id="3" name="İçerik Yer Tutucusu 2"/>
          <p:cNvSpPr>
            <a:spLocks noGrp="1"/>
          </p:cNvSpPr>
          <p:nvPr>
            <p:ph idx="1"/>
          </p:nvPr>
        </p:nvSpPr>
        <p:spPr/>
        <p:txBody>
          <a:bodyPr>
            <a:normAutofit lnSpcReduction="10000"/>
          </a:bodyPr>
          <a:lstStyle/>
          <a:p>
            <a:r>
              <a:rPr lang="tr-TR" altLang="en-US" dirty="0"/>
              <a:t>Row bileşeninin ana ekseni yatay ve zıt ekseni dikeydir. Buna bağlı olarak Row bileşenlerini yatayda hizalamak için horizontalArrangement parametresine Arrangement classının static ögeleri verilebilir. Bunların temel işlevleri aşağıdaki gibidir.</a:t>
            </a:r>
            <a:endParaRPr lang="tr-TR" altLang="en-US" dirty="0"/>
          </a:p>
          <a:p>
            <a:pPr marL="109855" indent="0">
              <a:buNone/>
            </a:pPr>
            <a:endParaRPr lang="tr-TR"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sym typeface="+mn-ea"/>
              </a:rPr>
              <a:t>Row</a:t>
            </a:r>
            <a:r>
              <a:rPr lang="tr-TR" altLang="en-US" dirty="0">
                <a:sym typeface="+mn-ea"/>
              </a:rPr>
              <a:t>-Column Özellikleri</a:t>
            </a:r>
            <a:endParaRPr lang="tr-TR" altLang="en-US" dirty="0"/>
          </a:p>
        </p:txBody>
      </p:sp>
      <p:graphicFrame>
        <p:nvGraphicFramePr>
          <p:cNvPr id="4" name="Tablo 3"/>
          <p:cNvGraphicFramePr/>
          <p:nvPr/>
        </p:nvGraphicFramePr>
        <p:xfrm>
          <a:off x="1829435" y="2689860"/>
          <a:ext cx="8533130" cy="2667000"/>
        </p:xfrm>
        <a:graphic>
          <a:graphicData uri="http://schemas.openxmlformats.org/drawingml/2006/table">
            <a:tbl>
              <a:tblPr firstRow="1" bandRow="1">
                <a:tableStyleId>{3B4B98B0-60AC-42C2-AFA5-B58CD77FA1E5}</a:tableStyleId>
              </a:tblPr>
              <a:tblGrid>
                <a:gridCol w="4266565"/>
                <a:gridCol w="4266565"/>
              </a:tblGrid>
              <a:tr h="381000">
                <a:tc>
                  <a:txBody>
                    <a:bodyPr/>
                    <a:p>
                      <a:pPr>
                        <a:buNone/>
                      </a:pPr>
                      <a:r>
                        <a:rPr lang="tr-TR" altLang="en-US"/>
                        <a:t>Yapı</a:t>
                      </a:r>
                      <a:endParaRPr lang="tr-TR" altLang="en-US"/>
                    </a:p>
                  </a:txBody>
                  <a:tcPr/>
                </a:tc>
                <a:tc>
                  <a:txBody>
                    <a:bodyPr/>
                    <a:p>
                      <a:pPr>
                        <a:buNone/>
                      </a:pPr>
                      <a:r>
                        <a:rPr lang="tr-TR" altLang="en-US"/>
                        <a:t>İşlevi</a:t>
                      </a:r>
                      <a:endParaRPr lang="tr-TR" altLang="en-US"/>
                    </a:p>
                  </a:txBody>
                  <a:tcPr/>
                </a:tc>
              </a:tr>
              <a:tr h="381000">
                <a:tc>
                  <a:txBody>
                    <a:bodyPr/>
                    <a:p>
                      <a:pPr>
                        <a:buNone/>
                      </a:pPr>
                      <a:r>
                        <a:rPr lang="tr-TR" altLang="en-US"/>
                        <a:t>Center</a:t>
                      </a:r>
                      <a:endParaRPr lang="tr-TR" altLang="en-US"/>
                    </a:p>
                  </a:txBody>
                  <a:tcPr/>
                </a:tc>
                <a:tc>
                  <a:txBody>
                    <a:bodyPr/>
                    <a:p>
                      <a:pPr>
                        <a:buNone/>
                      </a:pPr>
                      <a:r>
                        <a:rPr lang="tr-TR" altLang="en-US"/>
                        <a:t>Yatayda ortalar</a:t>
                      </a:r>
                      <a:endParaRPr lang="tr-TR" altLang="en-US"/>
                    </a:p>
                  </a:txBody>
                  <a:tcPr/>
                </a:tc>
              </a:tr>
              <a:tr h="381000">
                <a:tc>
                  <a:txBody>
                    <a:bodyPr/>
                    <a:p>
                      <a:pPr>
                        <a:buNone/>
                      </a:pPr>
                      <a:r>
                        <a:rPr lang="tr-TR" altLang="en-US"/>
                        <a:t>Start</a:t>
                      </a:r>
                      <a:endParaRPr lang="tr-TR" altLang="en-US"/>
                    </a:p>
                  </a:txBody>
                  <a:tcPr/>
                </a:tc>
                <a:tc>
                  <a:txBody>
                    <a:bodyPr/>
                    <a:p>
                      <a:pPr>
                        <a:buNone/>
                      </a:pPr>
                      <a:r>
                        <a:rPr lang="tr-TR" altLang="en-US"/>
                        <a:t>Yatayda sola hizalar</a:t>
                      </a:r>
                      <a:endParaRPr lang="tr-TR" altLang="en-US"/>
                    </a:p>
                  </a:txBody>
                  <a:tcPr/>
                </a:tc>
              </a:tr>
              <a:tr h="381000">
                <a:tc>
                  <a:txBody>
                    <a:bodyPr/>
                    <a:p>
                      <a:pPr>
                        <a:buNone/>
                      </a:pPr>
                      <a:r>
                        <a:rPr lang="tr-TR" altLang="en-US"/>
                        <a:t>End</a:t>
                      </a:r>
                      <a:endParaRPr lang="tr-TR" altLang="en-US"/>
                    </a:p>
                  </a:txBody>
                  <a:tcPr/>
                </a:tc>
                <a:tc>
                  <a:txBody>
                    <a:bodyPr/>
                    <a:p>
                      <a:pPr>
                        <a:buNone/>
                      </a:pPr>
                      <a:r>
                        <a:rPr lang="tr-TR" altLang="en-US"/>
                        <a:t>Yatayda sağa hizalar</a:t>
                      </a:r>
                      <a:endParaRPr lang="tr-TR" altLang="en-US"/>
                    </a:p>
                  </a:txBody>
                  <a:tcPr/>
                </a:tc>
              </a:tr>
              <a:tr h="381000">
                <a:tc>
                  <a:txBody>
                    <a:bodyPr/>
                    <a:p>
                      <a:pPr>
                        <a:buNone/>
                      </a:pPr>
                      <a:r>
                        <a:rPr lang="tr-TR" altLang="en-US"/>
                        <a:t>SpaceAround</a:t>
                      </a:r>
                      <a:endParaRPr lang="tr-TR" altLang="en-US"/>
                    </a:p>
                  </a:txBody>
                  <a:tcPr/>
                </a:tc>
                <a:tc>
                  <a:txBody>
                    <a:bodyPr/>
                    <a:p>
                      <a:pPr>
                        <a:buNone/>
                      </a:pPr>
                      <a:r>
                        <a:rPr lang="tr-TR" altLang="en-US"/>
                        <a:t>Tüm ögeleri ekran kenarlarından az ama aralıkları eşit boşluklarla ayırır.</a:t>
                      </a:r>
                      <a:endParaRPr lang="tr-TR" altLang="en-US"/>
                    </a:p>
                  </a:txBody>
                  <a:tcPr/>
                </a:tc>
              </a:tr>
              <a:tr h="381000">
                <a:tc>
                  <a:txBody>
                    <a:bodyPr/>
                    <a:p>
                      <a:pPr>
                        <a:buNone/>
                      </a:pPr>
                      <a:r>
                        <a:rPr lang="tr-TR" altLang="en-US"/>
                        <a:t>SpaceBetween</a:t>
                      </a:r>
                      <a:endParaRPr lang="tr-TR" altLang="en-US"/>
                    </a:p>
                  </a:txBody>
                  <a:tcPr/>
                </a:tc>
                <a:tc>
                  <a:txBody>
                    <a:bodyPr/>
                    <a:p>
                      <a:pPr>
                        <a:buNone/>
                      </a:pPr>
                      <a:r>
                        <a:rPr lang="tr-TR" altLang="en-US"/>
                        <a:t>Tüm ögeleri ekrandan ayırmadan eşit boşluklarla ayırır.</a:t>
                      </a:r>
                      <a:endParaRPr lang="tr-TR" altLang="en-US"/>
                    </a:p>
                  </a:txBody>
                  <a:tcPr/>
                </a:tc>
              </a:tr>
              <a:tr h="381000">
                <a:tc>
                  <a:txBody>
                    <a:bodyPr/>
                    <a:p>
                      <a:pPr>
                        <a:buNone/>
                      </a:pPr>
                      <a:r>
                        <a:rPr lang="tr-TR" altLang="en-US"/>
                        <a:t>SpaceEvenly</a:t>
                      </a:r>
                      <a:endParaRPr lang="tr-TR" altLang="en-US"/>
                    </a:p>
                  </a:txBody>
                  <a:tcPr/>
                </a:tc>
                <a:tc>
                  <a:txBody>
                    <a:bodyPr/>
                    <a:p>
                      <a:pPr>
                        <a:buNone/>
                      </a:pPr>
                      <a:r>
                        <a:rPr lang="tr-TR" altLang="en-US"/>
                        <a:t>Tüm ögeleri ekran kenarındanda aynı boşluk olacak şekilde eşit boşluklara ayırır</a:t>
                      </a:r>
                      <a:endParaRPr lang="tr-TR"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sym typeface="+mn-ea"/>
              </a:rPr>
              <a:t>Row</a:t>
            </a:r>
            <a:r>
              <a:rPr lang="tr-TR" altLang="en-US" dirty="0">
                <a:sym typeface="+mn-ea"/>
              </a:rPr>
              <a:t>-Column Özellikleri</a:t>
            </a:r>
            <a:endParaRPr lang="tr-TR" altLang="en-US" dirty="0"/>
          </a:p>
        </p:txBody>
      </p:sp>
      <p:sp>
        <p:nvSpPr>
          <p:cNvPr id="3" name="İçerik Yer Tutucusu 2"/>
          <p:cNvSpPr>
            <a:spLocks noGrp="1"/>
          </p:cNvSpPr>
          <p:nvPr>
            <p:ph idx="1"/>
          </p:nvPr>
        </p:nvSpPr>
        <p:spPr/>
        <p:txBody>
          <a:bodyPr>
            <a:normAutofit lnSpcReduction="10000"/>
          </a:bodyPr>
          <a:lstStyle/>
          <a:p>
            <a:r>
              <a:rPr lang="tr-TR" altLang="en-US" dirty="0"/>
              <a:t>Row bileşenlerini dikeyde hizalamak için verticalAlignment parametresine Alignment classının static ögeleri verilebilir. Bunların temel işlevleri aşağıdaki gibidir.</a:t>
            </a:r>
            <a:endParaRPr lang="tr-TR" altLang="en-US" dirty="0"/>
          </a:p>
          <a:p>
            <a:pPr marL="109855" indent="0">
              <a:buNone/>
            </a:pPr>
            <a:endParaRPr lang="tr-TR" altLang="en-US" dirty="0"/>
          </a:p>
          <a:p>
            <a:pPr marL="109855" indent="0">
              <a:buNone/>
            </a:pPr>
            <a:endParaRPr lang="tr-TR" altLang="en-US" dirty="0"/>
          </a:p>
        </p:txBody>
      </p:sp>
      <p:graphicFrame>
        <p:nvGraphicFramePr>
          <p:cNvPr id="4" name="Tablo 3"/>
          <p:cNvGraphicFramePr/>
          <p:nvPr/>
        </p:nvGraphicFramePr>
        <p:xfrm>
          <a:off x="1829435" y="3649980"/>
          <a:ext cx="8533130" cy="2667000"/>
        </p:xfrm>
        <a:graphic>
          <a:graphicData uri="http://schemas.openxmlformats.org/drawingml/2006/table">
            <a:tbl>
              <a:tblPr firstRow="1" bandRow="1">
                <a:tableStyleId>{3B4B98B0-60AC-42C2-AFA5-B58CD77FA1E5}</a:tableStyleId>
              </a:tblPr>
              <a:tblGrid>
                <a:gridCol w="4266565"/>
                <a:gridCol w="4266565"/>
              </a:tblGrid>
              <a:tr h="381000">
                <a:tc>
                  <a:txBody>
                    <a:bodyPr/>
                    <a:p>
                      <a:pPr>
                        <a:buNone/>
                      </a:pPr>
                      <a:r>
                        <a:rPr lang="tr-TR" altLang="en-US"/>
                        <a:t>Yapı</a:t>
                      </a:r>
                      <a:endParaRPr lang="tr-TR" altLang="en-US"/>
                    </a:p>
                  </a:txBody>
                  <a:tcPr/>
                </a:tc>
                <a:tc>
                  <a:txBody>
                    <a:bodyPr/>
                    <a:p>
                      <a:pPr>
                        <a:buNone/>
                      </a:pPr>
                      <a:r>
                        <a:rPr lang="tr-TR" altLang="en-US"/>
                        <a:t>İşlevi</a:t>
                      </a:r>
                      <a:endParaRPr lang="tr-TR" altLang="en-US"/>
                    </a:p>
                  </a:txBody>
                  <a:tcPr/>
                </a:tc>
              </a:tr>
              <a:tr h="381000">
                <a:tc>
                  <a:txBody>
                    <a:bodyPr/>
                    <a:p>
                      <a:pPr>
                        <a:buNone/>
                      </a:pPr>
                      <a:r>
                        <a:rPr lang="tr-TR" altLang="en-US"/>
                        <a:t>CenterVertically</a:t>
                      </a:r>
                      <a:endParaRPr lang="tr-TR" altLang="en-US"/>
                    </a:p>
                  </a:txBody>
                  <a:tcPr/>
                </a:tc>
                <a:tc>
                  <a:txBody>
                    <a:bodyPr/>
                    <a:p>
                      <a:pPr>
                        <a:buNone/>
                      </a:pPr>
                      <a:r>
                        <a:rPr lang="tr-TR" altLang="en-US"/>
                        <a:t>Dikeyde ortalar</a:t>
                      </a:r>
                      <a:endParaRPr lang="tr-TR" altLang="en-US"/>
                    </a:p>
                  </a:txBody>
                  <a:tcPr/>
                </a:tc>
              </a:tr>
              <a:tr h="381000">
                <a:tc>
                  <a:txBody>
                    <a:bodyPr/>
                    <a:p>
                      <a:pPr>
                        <a:buNone/>
                      </a:pPr>
                      <a:r>
                        <a:rPr lang="tr-TR" altLang="en-US"/>
                        <a:t>Top</a:t>
                      </a:r>
                      <a:endParaRPr lang="tr-TR" altLang="en-US"/>
                    </a:p>
                  </a:txBody>
                  <a:tcPr/>
                </a:tc>
                <a:tc>
                  <a:txBody>
                    <a:bodyPr/>
                    <a:p>
                      <a:pPr>
                        <a:buNone/>
                      </a:pPr>
                      <a:r>
                        <a:rPr lang="tr-TR" altLang="en-US"/>
                        <a:t>Dikeyde üste alır</a:t>
                      </a:r>
                      <a:endParaRPr lang="tr-TR" altLang="en-US"/>
                    </a:p>
                  </a:txBody>
                  <a:tcPr/>
                </a:tc>
              </a:tr>
              <a:tr h="381000">
                <a:tc>
                  <a:txBody>
                    <a:bodyPr/>
                    <a:p>
                      <a:pPr>
                        <a:buNone/>
                      </a:pPr>
                      <a:r>
                        <a:rPr lang="tr-TR" altLang="en-US"/>
                        <a:t>Bottom</a:t>
                      </a:r>
                      <a:endParaRPr lang="tr-TR" altLang="en-US"/>
                    </a:p>
                  </a:txBody>
                  <a:tcPr/>
                </a:tc>
                <a:tc>
                  <a:txBody>
                    <a:bodyPr/>
                    <a:p>
                      <a:pPr>
                        <a:buNone/>
                      </a:pPr>
                      <a:r>
                        <a:rPr lang="tr-TR" altLang="en-US"/>
                        <a:t>Dikeyde alta alır.</a:t>
                      </a:r>
                      <a:endParaRPr lang="tr-TR"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sym typeface="+mn-ea"/>
              </a:rPr>
              <a:t>Row</a:t>
            </a:r>
            <a:r>
              <a:rPr lang="tr-TR" altLang="en-US" dirty="0">
                <a:sym typeface="+mn-ea"/>
              </a:rPr>
              <a:t>-Column Özellikleri</a:t>
            </a:r>
            <a:endParaRPr lang="tr-TR" altLang="en-US" dirty="0"/>
          </a:p>
        </p:txBody>
      </p:sp>
      <p:sp>
        <p:nvSpPr>
          <p:cNvPr id="3" name="İçerik Yer Tutucusu 2"/>
          <p:cNvSpPr>
            <a:spLocks noGrp="1"/>
          </p:cNvSpPr>
          <p:nvPr>
            <p:ph idx="1"/>
          </p:nvPr>
        </p:nvSpPr>
        <p:spPr/>
        <p:txBody>
          <a:bodyPr>
            <a:normAutofit lnSpcReduction="10000"/>
          </a:bodyPr>
          <a:lstStyle/>
          <a:p>
            <a:r>
              <a:rPr lang="tr-TR" altLang="en-US" dirty="0"/>
              <a:t>Column hizalaması ise Row’un tam tersi şekilde olur. Column’ın ana ekseni dikey ve zıt ekseni yataydı. Dolayısı ile Column’ın içindeki bileşenleri dikeyde hizalamak için verticalArragement, yatayda hizalamak için ise horizontalAlignment parametreleri kullanılır. Arragement parametreleri aynı şekilde kullanılırken Alignment parametreleri aşağıdaki şekilde değişir.</a:t>
            </a:r>
            <a:endParaRPr lang="tr-TR" altLang="en-US" dirty="0"/>
          </a:p>
          <a:p>
            <a:pPr marL="109855" indent="0">
              <a:buNone/>
            </a:pPr>
            <a:endParaRPr lang="tr-TR" altLang="en-US" dirty="0"/>
          </a:p>
          <a:p>
            <a:pPr marL="109855" indent="0">
              <a:buNone/>
            </a:pPr>
            <a:endParaRPr lang="tr-TR" altLang="en-US" dirty="0"/>
          </a:p>
          <a:p>
            <a:pPr marL="109855" indent="0">
              <a:buNone/>
            </a:pPr>
            <a:endParaRPr lang="tr-TR" altLang="en-US" dirty="0"/>
          </a:p>
        </p:txBody>
      </p:sp>
      <p:graphicFrame>
        <p:nvGraphicFramePr>
          <p:cNvPr id="5" name="Tablo 4"/>
          <p:cNvGraphicFramePr/>
          <p:nvPr/>
        </p:nvGraphicFramePr>
        <p:xfrm>
          <a:off x="1829435" y="4733925"/>
          <a:ext cx="8533130" cy="2667000"/>
        </p:xfrm>
        <a:graphic>
          <a:graphicData uri="http://schemas.openxmlformats.org/drawingml/2006/table">
            <a:tbl>
              <a:tblPr firstRow="1" bandRow="1">
                <a:tableStyleId>{3B4B98B0-60AC-42C2-AFA5-B58CD77FA1E5}</a:tableStyleId>
              </a:tblPr>
              <a:tblGrid>
                <a:gridCol w="4266565"/>
                <a:gridCol w="4266565"/>
              </a:tblGrid>
              <a:tr h="381000">
                <a:tc>
                  <a:txBody>
                    <a:bodyPr/>
                    <a:p>
                      <a:pPr>
                        <a:buNone/>
                      </a:pPr>
                      <a:r>
                        <a:rPr lang="tr-TR" altLang="en-US"/>
                        <a:t>Yapı</a:t>
                      </a:r>
                      <a:endParaRPr lang="tr-TR" altLang="en-US"/>
                    </a:p>
                  </a:txBody>
                  <a:tcPr/>
                </a:tc>
                <a:tc>
                  <a:txBody>
                    <a:bodyPr/>
                    <a:p>
                      <a:pPr>
                        <a:buNone/>
                      </a:pPr>
                      <a:r>
                        <a:rPr lang="tr-TR" altLang="en-US"/>
                        <a:t>İşlevi</a:t>
                      </a:r>
                      <a:endParaRPr lang="tr-TR" altLang="en-US"/>
                    </a:p>
                  </a:txBody>
                  <a:tcPr/>
                </a:tc>
              </a:tr>
              <a:tr h="381000">
                <a:tc>
                  <a:txBody>
                    <a:bodyPr/>
                    <a:p>
                      <a:pPr>
                        <a:buNone/>
                      </a:pPr>
                      <a:r>
                        <a:rPr lang="tr-TR" altLang="en-US"/>
                        <a:t>CenterHorizontally</a:t>
                      </a:r>
                      <a:endParaRPr lang="tr-TR" altLang="en-US"/>
                    </a:p>
                  </a:txBody>
                  <a:tcPr/>
                </a:tc>
                <a:tc>
                  <a:txBody>
                    <a:bodyPr/>
                    <a:p>
                      <a:pPr>
                        <a:buNone/>
                      </a:pPr>
                      <a:r>
                        <a:rPr lang="tr-TR" altLang="en-US"/>
                        <a:t>Yatayda ortalar</a:t>
                      </a:r>
                      <a:endParaRPr lang="tr-TR" altLang="en-US"/>
                    </a:p>
                  </a:txBody>
                  <a:tcPr/>
                </a:tc>
              </a:tr>
              <a:tr h="381000">
                <a:tc>
                  <a:txBody>
                    <a:bodyPr/>
                    <a:p>
                      <a:pPr>
                        <a:buNone/>
                      </a:pPr>
                      <a:r>
                        <a:rPr lang="tr-TR" altLang="en-US"/>
                        <a:t>Start</a:t>
                      </a:r>
                      <a:endParaRPr lang="tr-TR" altLang="en-US"/>
                    </a:p>
                  </a:txBody>
                  <a:tcPr/>
                </a:tc>
                <a:tc>
                  <a:txBody>
                    <a:bodyPr/>
                    <a:p>
                      <a:pPr>
                        <a:buNone/>
                      </a:pPr>
                      <a:r>
                        <a:rPr lang="tr-TR" altLang="en-US"/>
                        <a:t>Yatayda sola alır</a:t>
                      </a:r>
                      <a:endParaRPr lang="tr-TR" altLang="en-US"/>
                    </a:p>
                  </a:txBody>
                  <a:tcPr/>
                </a:tc>
              </a:tr>
              <a:tr h="381000">
                <a:tc>
                  <a:txBody>
                    <a:bodyPr/>
                    <a:p>
                      <a:pPr>
                        <a:buNone/>
                      </a:pPr>
                      <a:r>
                        <a:rPr lang="tr-TR" altLang="en-US"/>
                        <a:t>End</a:t>
                      </a:r>
                      <a:endParaRPr lang="tr-TR" altLang="en-US"/>
                    </a:p>
                  </a:txBody>
                  <a:tcPr/>
                </a:tc>
                <a:tc>
                  <a:txBody>
                    <a:bodyPr/>
                    <a:p>
                      <a:pPr>
                        <a:buNone/>
                      </a:pPr>
                      <a:r>
                        <a:rPr lang="tr-TR" altLang="en-US"/>
                        <a:t>Yatayda sağa alır.</a:t>
                      </a:r>
                      <a:endParaRPr lang="tr-TR"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sym typeface="+mn-ea"/>
              </a:rPr>
              <a:t>Row</a:t>
            </a:r>
            <a:r>
              <a:rPr lang="tr-TR" altLang="en-US" dirty="0">
                <a:sym typeface="+mn-ea"/>
              </a:rPr>
              <a:t>-Column Özellikleri</a:t>
            </a:r>
            <a:endParaRPr lang="tr-TR" altLang="en-US" dirty="0"/>
          </a:p>
        </p:txBody>
      </p:sp>
      <p:sp>
        <p:nvSpPr>
          <p:cNvPr id="3" name="İçerik Yer Tutucusu 2"/>
          <p:cNvSpPr>
            <a:spLocks noGrp="1"/>
          </p:cNvSpPr>
          <p:nvPr>
            <p:ph idx="1"/>
          </p:nvPr>
        </p:nvSpPr>
        <p:spPr/>
        <p:txBody>
          <a:bodyPr>
            <a:normAutofit fontScale="50000"/>
          </a:bodyPr>
          <a:lstStyle/>
          <a:p>
            <a:pPr marL="109855" indent="0">
              <a:buNone/>
            </a:pPr>
            <a:r>
              <a:rPr lang="tr-TR" altLang="en-US" dirty="0"/>
              <a:t>Aşağıdaki Compose görüntüsünü yazarak ve çizerek gösteriniz.</a:t>
            </a:r>
            <a:endParaRPr lang="en-US" altLang="tr-TR" dirty="0"/>
          </a:p>
          <a:p>
            <a:pPr marL="109855" indent="0">
              <a:buNone/>
            </a:pPr>
            <a:r>
              <a:rPr lang="en-US" altLang="tr-TR" dirty="0"/>
              <a:t>@Composable</a:t>
            </a:r>
            <a:endParaRPr lang="en-US" altLang="tr-TR" dirty="0"/>
          </a:p>
          <a:p>
            <a:pPr marL="109855" indent="0">
              <a:buNone/>
            </a:pPr>
            <a:r>
              <a:rPr lang="en-US" altLang="tr-TR" dirty="0"/>
              <a:t>fun Box1()</a:t>
            </a:r>
            <a:endParaRPr lang="en-US" altLang="tr-TR" dirty="0"/>
          </a:p>
          <a:p>
            <a:pPr marL="109855" indent="0">
              <a:buNone/>
            </a:pPr>
            <a:r>
              <a:rPr lang="en-US" altLang="tr-TR" dirty="0"/>
              <a:t>{</a:t>
            </a:r>
            <a:endParaRPr lang="en-US" altLang="tr-TR" dirty="0"/>
          </a:p>
          <a:p>
            <a:pPr marL="109855" indent="0">
              <a:buNone/>
            </a:pPr>
            <a:r>
              <a:rPr lang="en-US" altLang="tr-TR" dirty="0"/>
              <a:t>    Row (horizontalArrangement = Arrangement.SpaceBetween,</a:t>
            </a:r>
            <a:endParaRPr lang="en-US" altLang="tr-TR" dirty="0"/>
          </a:p>
          <a:p>
            <a:pPr marL="109855" indent="0">
              <a:buNone/>
            </a:pPr>
            <a:r>
              <a:rPr lang="en-US" altLang="tr-TR" dirty="0"/>
              <a:t>        verticalAlignment = Alignment.CenterVertically,</a:t>
            </a:r>
            <a:endParaRPr lang="en-US" altLang="tr-TR" dirty="0"/>
          </a:p>
          <a:p>
            <a:pPr marL="109855" indent="0">
              <a:buNone/>
            </a:pPr>
            <a:r>
              <a:rPr lang="en-US" altLang="tr-TR" dirty="0"/>
              <a:t>        modifier = Modifier.fillMaxSize())</a:t>
            </a:r>
            <a:endParaRPr lang="en-US" altLang="tr-TR" dirty="0"/>
          </a:p>
          <a:p>
            <a:pPr marL="109855" indent="0">
              <a:buNone/>
            </a:pPr>
            <a:r>
              <a:rPr lang="en-US" altLang="tr-TR" dirty="0"/>
              <a:t>    {</a:t>
            </a:r>
            <a:endParaRPr lang="en-US" altLang="tr-TR" dirty="0"/>
          </a:p>
          <a:p>
            <a:pPr marL="109855" indent="0">
              <a:buNone/>
            </a:pPr>
            <a:r>
              <a:rPr lang="en-US" altLang="tr-TR" dirty="0"/>
              <a:t>        Box(modifier = Modifier.size(120.dp)</a:t>
            </a:r>
            <a:endParaRPr lang="en-US" altLang="tr-TR" dirty="0"/>
          </a:p>
          <a:p>
            <a:pPr marL="109855" indent="0">
              <a:buNone/>
            </a:pPr>
            <a:r>
              <a:rPr lang="en-US" altLang="tr-TR" dirty="0"/>
              <a:t>                                .background(Color.Red)){}</a:t>
            </a:r>
            <a:endParaRPr lang="en-US" altLang="tr-TR" dirty="0"/>
          </a:p>
          <a:p>
            <a:pPr marL="109855" indent="0">
              <a:buNone/>
            </a:pPr>
            <a:r>
              <a:rPr lang="en-US" altLang="tr-TR" dirty="0"/>
              <a:t>        Box(modifier = Modifier.size(90.dp)</a:t>
            </a:r>
            <a:endParaRPr lang="en-US" altLang="tr-TR" dirty="0"/>
          </a:p>
          <a:p>
            <a:pPr marL="109855" indent="0">
              <a:buNone/>
            </a:pPr>
            <a:r>
              <a:rPr lang="en-US" altLang="tr-TR" dirty="0"/>
              <a:t>                                .background(Color.Green)){}</a:t>
            </a:r>
            <a:endParaRPr lang="en-US" altLang="tr-TR" dirty="0"/>
          </a:p>
          <a:p>
            <a:pPr marL="109855" indent="0">
              <a:buNone/>
            </a:pPr>
            <a:r>
              <a:rPr lang="en-US" altLang="tr-TR" dirty="0"/>
              <a:t>        Box(modifier = Modifier.size(60.dp)</a:t>
            </a:r>
            <a:endParaRPr lang="en-US" altLang="tr-TR" dirty="0"/>
          </a:p>
          <a:p>
            <a:pPr marL="109855" indent="0">
              <a:buNone/>
            </a:pPr>
            <a:r>
              <a:rPr lang="en-US" altLang="tr-TR" dirty="0"/>
              <a:t>                                .background(Color.Blue)){}</a:t>
            </a:r>
            <a:endParaRPr lang="en-US" altLang="tr-TR" dirty="0"/>
          </a:p>
          <a:p>
            <a:pPr marL="109855" indent="0">
              <a:buNone/>
            </a:pPr>
            <a:r>
              <a:rPr lang="en-US" altLang="tr-TR" dirty="0"/>
              <a:t>    }</a:t>
            </a:r>
            <a:endParaRPr lang="en-US" altLang="tr-TR" dirty="0"/>
          </a:p>
          <a:p>
            <a:pPr marL="109855" indent="0">
              <a:buNone/>
            </a:pPr>
            <a:r>
              <a:rPr lang="en-US" altLang="tr-TR" dirty="0"/>
              <a:t>}</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sym typeface="+mn-ea"/>
              </a:rPr>
              <a:t>Row</a:t>
            </a:r>
            <a:r>
              <a:rPr lang="tr-TR" altLang="en-US" dirty="0">
                <a:sym typeface="+mn-ea"/>
              </a:rPr>
              <a:t>-Column Özellikleri</a:t>
            </a:r>
            <a:endParaRPr lang="tr-TR" altLang="en-US" dirty="0"/>
          </a:p>
        </p:txBody>
      </p:sp>
      <p:pic>
        <p:nvPicPr>
          <p:cNvPr id="4" name="Resim 3" descr="Screenshot_1765199106"/>
          <p:cNvPicPr>
            <a:picLocks noChangeAspect="1"/>
          </p:cNvPicPr>
          <p:nvPr/>
        </p:nvPicPr>
        <p:blipFill>
          <a:blip r:embed="rId1"/>
          <a:stretch>
            <a:fillRect/>
          </a:stretch>
        </p:blipFill>
        <p:spPr>
          <a:xfrm>
            <a:off x="4945380" y="2482215"/>
            <a:ext cx="2301875" cy="4092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Boşluk ve Konumlandırma</a:t>
            </a:r>
            <a:endParaRPr lang="tr-TR" altLang="en-US" dirty="0"/>
          </a:p>
        </p:txBody>
      </p:sp>
      <p:graphicFrame>
        <p:nvGraphicFramePr>
          <p:cNvPr id="4" name="İçerik Yer Tutucu 3"/>
          <p:cNvGraphicFramePr/>
          <p:nvPr>
            <p:ph idx="1"/>
          </p:nvPr>
        </p:nvGraphicFramePr>
        <p:xfrm>
          <a:off x="609600" y="2249424"/>
          <a:ext cx="10972800" cy="2286000"/>
        </p:xfrm>
        <a:graphic>
          <a:graphicData uri="http://schemas.openxmlformats.org/drawingml/2006/table">
            <a:tbl>
              <a:tblPr firstRow="1" bandRow="1">
                <a:tableStyleId>{3B4B98B0-60AC-42C2-AFA5-B58CD77FA1E5}</a:tableStyleId>
              </a:tblPr>
              <a:tblGrid>
                <a:gridCol w="5486400"/>
                <a:gridCol w="5486400"/>
              </a:tblGrid>
              <a:tr h="381000">
                <a:tc>
                  <a:txBody>
                    <a:bodyPr/>
                    <a:p>
                      <a:pPr>
                        <a:buNone/>
                      </a:pPr>
                      <a:r>
                        <a:rPr lang="tr-TR" altLang="en-US"/>
                        <a:t>Yapı</a:t>
                      </a:r>
                      <a:endParaRPr lang="tr-TR" altLang="en-US"/>
                    </a:p>
                  </a:txBody>
                  <a:tcPr/>
                </a:tc>
                <a:tc>
                  <a:txBody>
                    <a:bodyPr/>
                    <a:p>
                      <a:pPr>
                        <a:buNone/>
                      </a:pPr>
                      <a:r>
                        <a:rPr lang="tr-TR" altLang="en-US"/>
                        <a:t>İşlev</a:t>
                      </a:r>
                      <a:endParaRPr lang="tr-TR" altLang="en-US"/>
                    </a:p>
                  </a:txBody>
                  <a:tcPr/>
                </a:tc>
              </a:tr>
              <a:tr h="381000">
                <a:tc>
                  <a:txBody>
                    <a:bodyPr/>
                    <a:p>
                      <a:pPr>
                        <a:buNone/>
                      </a:pPr>
                      <a:r>
                        <a:rPr lang="tr-TR" altLang="en-US"/>
                        <a:t>.padding(dp)</a:t>
                      </a:r>
                      <a:endParaRPr lang="tr-TR" altLang="en-US"/>
                    </a:p>
                  </a:txBody>
                  <a:tcPr/>
                </a:tc>
                <a:tc>
                  <a:txBody>
                    <a:bodyPr/>
                    <a:p>
                      <a:pPr>
                        <a:buNone/>
                      </a:pPr>
                      <a:r>
                        <a:rPr lang="tr-TR" altLang="en-US"/>
                        <a:t>İç veya dış boşluk verir. Sıralamaya göre padding veya margin olur! JPC’de doğrudan margin yoktur!</a:t>
                      </a:r>
                      <a:endParaRPr lang="tr-TR" altLang="en-US"/>
                    </a:p>
                  </a:txBody>
                  <a:tcPr/>
                </a:tc>
              </a:tr>
              <a:tr h="381000">
                <a:tc>
                  <a:txBody>
                    <a:bodyPr/>
                    <a:p>
                      <a:pPr>
                        <a:buNone/>
                      </a:pPr>
                      <a:r>
                        <a:rPr lang="tr-TR" altLang="en-US"/>
                        <a:t>.padding(start, top, ...)</a:t>
                      </a:r>
                      <a:endParaRPr lang="tr-TR" altLang="en-US"/>
                    </a:p>
                  </a:txBody>
                  <a:tcPr/>
                </a:tc>
                <a:tc>
                  <a:txBody>
                    <a:bodyPr/>
                    <a:p>
                      <a:pPr>
                        <a:buNone/>
                      </a:pPr>
                      <a:r>
                        <a:rPr lang="tr-TR" altLang="en-US"/>
                        <a:t>Sadece belirli kenarlara boşluk verir.</a:t>
                      </a:r>
                      <a:endParaRPr lang="tr-TR" altLang="en-US"/>
                    </a:p>
                  </a:txBody>
                  <a:tcPr/>
                </a:tc>
              </a:tr>
              <a:tr h="381000">
                <a:tc>
                  <a:txBody>
                    <a:bodyPr/>
                    <a:p>
                      <a:pPr>
                        <a:buNone/>
                      </a:pPr>
                      <a:r>
                        <a:rPr lang="tr-TR" altLang="en-US"/>
                        <a:t>.offset(x, y)</a:t>
                      </a:r>
                      <a:endParaRPr lang="tr-TR" altLang="en-US"/>
                    </a:p>
                  </a:txBody>
                  <a:tcPr/>
                </a:tc>
                <a:tc>
                  <a:txBody>
                    <a:bodyPr/>
                    <a:p>
                      <a:pPr>
                        <a:buNone/>
                      </a:pPr>
                      <a:r>
                        <a:rPr lang="tr-TR" altLang="en-US"/>
                        <a:t>Bileşeni olduğu yerden x/y kadar kaydırır.</a:t>
                      </a:r>
                      <a:endParaRPr lang="tr-TR" altLang="en-US"/>
                    </a:p>
                  </a:txBody>
                  <a:tcPr/>
                </a:tc>
              </a:tr>
              <a:tr h="381000">
                <a:tc>
                  <a:txBody>
                    <a:bodyPr/>
                    <a:p>
                      <a:pPr>
                        <a:buNone/>
                      </a:pPr>
                      <a:r>
                        <a:rPr lang="tr-TR" altLang="en-US"/>
                        <a:t>.absoluteOffset(...)</a:t>
                      </a:r>
                      <a:endParaRPr lang="tr-TR" altLang="en-US"/>
                    </a:p>
                  </a:txBody>
                  <a:tcPr/>
                </a:tc>
                <a:tc>
                  <a:txBody>
                    <a:bodyPr/>
                    <a:p>
                      <a:pPr>
                        <a:buNone/>
                      </a:pPr>
                      <a:r>
                        <a:rPr lang="tr-TR" altLang="en-US"/>
                        <a:t>LTR/RTL(Sağdan-Soldan yazım) dinlemeden kesin pozisyon verir.</a:t>
                      </a:r>
                      <a:endParaRPr lang="tr-TR"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Görünüm ve Süsleme</a:t>
            </a:r>
            <a:endParaRPr lang="tr-TR" altLang="en-US" dirty="0"/>
          </a:p>
        </p:txBody>
      </p:sp>
      <p:graphicFrame>
        <p:nvGraphicFramePr>
          <p:cNvPr id="4" name="İçerik Yer Tutucu 3"/>
          <p:cNvGraphicFramePr/>
          <p:nvPr>
            <p:ph idx="1"/>
          </p:nvPr>
        </p:nvGraphicFramePr>
        <p:xfrm>
          <a:off x="609600" y="2249424"/>
          <a:ext cx="10972800" cy="3048000"/>
        </p:xfrm>
        <a:graphic>
          <a:graphicData uri="http://schemas.openxmlformats.org/drawingml/2006/table">
            <a:tbl>
              <a:tblPr firstRow="1" bandRow="1">
                <a:tableStyleId>{3B4B98B0-60AC-42C2-AFA5-B58CD77FA1E5}</a:tableStyleId>
              </a:tblPr>
              <a:tblGrid>
                <a:gridCol w="5486400"/>
                <a:gridCol w="5486400"/>
              </a:tblGrid>
              <a:tr h="381000">
                <a:tc>
                  <a:txBody>
                    <a:bodyPr/>
                    <a:p>
                      <a:pPr>
                        <a:buNone/>
                      </a:pPr>
                      <a:r>
                        <a:rPr lang="tr-TR" altLang="en-US"/>
                        <a:t>Yapı</a:t>
                      </a:r>
                      <a:endParaRPr lang="tr-TR" altLang="en-US"/>
                    </a:p>
                  </a:txBody>
                  <a:tcPr/>
                </a:tc>
                <a:tc>
                  <a:txBody>
                    <a:bodyPr/>
                    <a:p>
                      <a:pPr>
                        <a:buNone/>
                      </a:pPr>
                      <a:r>
                        <a:rPr lang="tr-TR" altLang="en-US"/>
                        <a:t>İşlev</a:t>
                      </a:r>
                      <a:endParaRPr lang="tr-TR" altLang="en-US"/>
                    </a:p>
                  </a:txBody>
                  <a:tcPr/>
                </a:tc>
              </a:tr>
              <a:tr h="381000">
                <a:tc>
                  <a:txBody>
                    <a:bodyPr/>
                    <a:p>
                      <a:pPr>
                        <a:buNone/>
                      </a:pPr>
                      <a:r>
                        <a:rPr lang="en-US" altLang="tr-TR"/>
                        <a:t>.background(Color)</a:t>
                      </a:r>
                      <a:endParaRPr lang="en-US" altLang="tr-TR"/>
                    </a:p>
                  </a:txBody>
                  <a:tcPr/>
                </a:tc>
                <a:tc>
                  <a:txBody>
                    <a:bodyPr/>
                    <a:p>
                      <a:pPr>
                        <a:buNone/>
                      </a:pPr>
                      <a:r>
                        <a:rPr lang="tr-TR" altLang="en-US"/>
                        <a:t>Arka plan rengi verir.</a:t>
                      </a:r>
                      <a:endParaRPr lang="tr-TR" altLang="en-US"/>
                    </a:p>
                  </a:txBody>
                  <a:tcPr/>
                </a:tc>
              </a:tr>
              <a:tr h="381000">
                <a:tc>
                  <a:txBody>
                    <a:bodyPr/>
                    <a:p>
                      <a:pPr>
                        <a:buNone/>
                      </a:pPr>
                      <a:r>
                        <a:rPr lang="en-US" altLang="tr-TR"/>
                        <a:t>.border(width, color)</a:t>
                      </a:r>
                      <a:endParaRPr lang="en-US" altLang="tr-TR"/>
                    </a:p>
                  </a:txBody>
                  <a:tcPr/>
                </a:tc>
                <a:tc>
                  <a:txBody>
                    <a:bodyPr/>
                    <a:p>
                      <a:pPr>
                        <a:buNone/>
                      </a:pPr>
                      <a:r>
                        <a:rPr lang="tr-TR" altLang="en-US"/>
                        <a:t>Kenarlık(Çerçeve) çizer</a:t>
                      </a:r>
                      <a:endParaRPr lang="tr-TR" altLang="en-US"/>
                    </a:p>
                  </a:txBody>
                  <a:tcPr/>
                </a:tc>
              </a:tr>
              <a:tr h="381000">
                <a:tc>
                  <a:txBody>
                    <a:bodyPr/>
                    <a:p>
                      <a:pPr>
                        <a:buNone/>
                      </a:pPr>
                      <a:r>
                        <a:rPr lang="en-US" altLang="tr-TR"/>
                        <a:t>.clip(Shape)</a:t>
                      </a:r>
                      <a:endParaRPr lang="en-US" altLang="tr-TR"/>
                    </a:p>
                  </a:txBody>
                  <a:tcPr/>
                </a:tc>
                <a:tc>
                  <a:txBody>
                    <a:bodyPr/>
                    <a:p>
                      <a:pPr>
                        <a:buNone/>
                      </a:pPr>
                      <a:r>
                        <a:rPr lang="en-US" altLang="tr-TR"/>
                        <a:t>Bile</a:t>
                      </a:r>
                      <a:r>
                        <a:rPr lang="" altLang="en-US"/>
                        <a:t>ş</a:t>
                      </a:r>
                      <a:r>
                        <a:rPr lang="en-US" altLang="tr-TR"/>
                        <a:t>eni belirli bir </a:t>
                      </a:r>
                      <a:r>
                        <a:rPr lang="" altLang="en-US"/>
                        <a:t>ş</a:t>
                      </a:r>
                      <a:r>
                        <a:rPr lang="en-US" altLang="tr-TR"/>
                        <a:t>ekle (Yuvarlak vb.) g</a:t>
                      </a:r>
                      <a:r>
                        <a:rPr lang="en-US" altLang="en-US"/>
                        <a:t>ö</a:t>
                      </a:r>
                      <a:r>
                        <a:rPr lang="en-US" altLang="tr-TR"/>
                        <a:t>re keser.</a:t>
                      </a:r>
                      <a:endParaRPr lang="en-US" altLang="tr-TR"/>
                    </a:p>
                  </a:txBody>
                  <a:tcPr/>
                </a:tc>
              </a:tr>
              <a:tr h="381000">
                <a:tc>
                  <a:txBody>
                    <a:bodyPr/>
                    <a:p>
                      <a:pPr>
                        <a:buNone/>
                      </a:pPr>
                      <a:r>
                        <a:rPr lang="en-US" altLang="tr-TR"/>
                        <a:t>.shadow(elevation)</a:t>
                      </a:r>
                      <a:endParaRPr lang="en-US" altLang="tr-TR"/>
                    </a:p>
                  </a:txBody>
                  <a:tcPr/>
                </a:tc>
                <a:tc>
                  <a:txBody>
                    <a:bodyPr/>
                    <a:p>
                      <a:pPr>
                        <a:buNone/>
                      </a:pPr>
                      <a:r>
                        <a:rPr lang="en-US" altLang="tr-TR"/>
                        <a:t>Bile</a:t>
                      </a:r>
                      <a:r>
                        <a:rPr lang="" altLang="en-US"/>
                        <a:t>ş</a:t>
                      </a:r>
                      <a:r>
                        <a:rPr lang="en-US" altLang="tr-TR"/>
                        <a:t>ene g</a:t>
                      </a:r>
                      <a:r>
                        <a:rPr lang="en-US" altLang="en-US"/>
                        <a:t>ö</a:t>
                      </a:r>
                      <a:r>
                        <a:rPr lang="en-US" altLang="tr-TR"/>
                        <a:t>lge verir.</a:t>
                      </a:r>
                      <a:endParaRPr lang="en-US" altLang="tr-TR"/>
                    </a:p>
                  </a:txBody>
                  <a:tcPr/>
                </a:tc>
              </a:tr>
              <a:tr h="381000">
                <a:tc>
                  <a:txBody>
                    <a:bodyPr/>
                    <a:p>
                      <a:pPr>
                        <a:buNone/>
                      </a:pPr>
                      <a:r>
                        <a:rPr lang="en-US" altLang="tr-TR"/>
                        <a:t>.alpha(float)</a:t>
                      </a:r>
                      <a:endParaRPr lang="en-US" altLang="tr-TR"/>
                    </a:p>
                  </a:txBody>
                  <a:tcPr/>
                </a:tc>
                <a:tc>
                  <a:txBody>
                    <a:bodyPr/>
                    <a:p>
                      <a:pPr>
                        <a:buNone/>
                      </a:pPr>
                      <a:r>
                        <a:rPr lang="" altLang="en-US"/>
                        <a:t>Ş</a:t>
                      </a:r>
                      <a:r>
                        <a:rPr lang="en-US" altLang="tr-TR"/>
                        <a:t>effafl</a:t>
                      </a:r>
                      <a:r>
                        <a:rPr lang="" altLang="en-US"/>
                        <a:t>ı</a:t>
                      </a:r>
                      <a:r>
                        <a:rPr lang="en-US" altLang="tr-TR"/>
                        <a:t>k ayar</a:t>
                      </a:r>
                      <a:r>
                        <a:rPr lang="" altLang="en-US"/>
                        <a:t>ı</a:t>
                      </a:r>
                      <a:r>
                        <a:rPr lang="en-US" altLang="tr-TR"/>
                        <a:t> (0.0 = G</a:t>
                      </a:r>
                      <a:r>
                        <a:rPr lang="en-US" altLang="en-US"/>
                        <a:t>ö</a:t>
                      </a:r>
                      <a:r>
                        <a:rPr lang="en-US" altLang="tr-TR"/>
                        <a:t>r</a:t>
                      </a:r>
                      <a:r>
                        <a:rPr lang="en-US" altLang="en-US"/>
                        <a:t>ü</a:t>
                      </a:r>
                      <a:r>
                        <a:rPr lang="en-US" altLang="tr-TR"/>
                        <a:t>nmez, 1.0 = Tam).</a:t>
                      </a:r>
                      <a:endParaRPr lang="en-US" altLang="tr-TR"/>
                    </a:p>
                  </a:txBody>
                  <a:tcPr/>
                </a:tc>
              </a:tr>
              <a:tr h="381000">
                <a:tc>
                  <a:txBody>
                    <a:bodyPr/>
                    <a:p>
                      <a:pPr>
                        <a:buNone/>
                      </a:pPr>
                      <a:r>
                        <a:rPr lang="en-US" altLang="tr-TR"/>
                        <a:t>.rotate(degrees)</a:t>
                      </a:r>
                      <a:endParaRPr lang="en-US" altLang="tr-TR"/>
                    </a:p>
                  </a:txBody>
                  <a:tcPr/>
                </a:tc>
                <a:tc>
                  <a:txBody>
                    <a:bodyPr/>
                    <a:p>
                      <a:pPr>
                        <a:buNone/>
                      </a:pPr>
                      <a:r>
                        <a:rPr lang="en-US" altLang="tr-TR"/>
                        <a:t>Bile</a:t>
                      </a:r>
                      <a:r>
                        <a:rPr lang="" altLang="en-US"/>
                        <a:t>ş</a:t>
                      </a:r>
                      <a:r>
                        <a:rPr lang="en-US" altLang="tr-TR"/>
                        <a:t>eni derece cinsinden d</a:t>
                      </a:r>
                      <a:r>
                        <a:rPr lang="en-US" altLang="en-US"/>
                        <a:t>ö</a:t>
                      </a:r>
                      <a:r>
                        <a:rPr lang="en-US" altLang="tr-TR"/>
                        <a:t>nd</a:t>
                      </a:r>
                      <a:r>
                        <a:rPr lang="en-US" altLang="en-US"/>
                        <a:t>ü</a:t>
                      </a:r>
                      <a:r>
                        <a:rPr lang="en-US" altLang="tr-TR"/>
                        <a:t>r</a:t>
                      </a:r>
                      <a:r>
                        <a:rPr lang="en-US" altLang="en-US"/>
                        <a:t>ü</a:t>
                      </a:r>
                      <a:r>
                        <a:rPr lang="en-US" altLang="tr-TR"/>
                        <a:t>r.</a:t>
                      </a:r>
                      <a:endParaRPr lang="en-US" altLang="tr-TR"/>
                    </a:p>
                  </a:txBody>
                  <a:tcPr/>
                </a:tc>
              </a:tr>
              <a:tr h="381000">
                <a:tc>
                  <a:txBody>
                    <a:bodyPr/>
                    <a:p>
                      <a:pPr>
                        <a:buNone/>
                      </a:pPr>
                      <a:r>
                        <a:rPr lang="en-US" altLang="tr-TR"/>
                        <a:t>.scale(scale)</a:t>
                      </a:r>
                      <a:endParaRPr lang="en-US" altLang="tr-TR"/>
                    </a:p>
                  </a:txBody>
                  <a:tcPr/>
                </a:tc>
                <a:tc>
                  <a:txBody>
                    <a:bodyPr/>
                    <a:p>
                      <a:pPr>
                        <a:buNone/>
                      </a:pPr>
                      <a:r>
                        <a:rPr lang="en-US" altLang="tr-TR"/>
                        <a:t>Bile</a:t>
                      </a:r>
                      <a:r>
                        <a:rPr lang="" altLang="en-US"/>
                        <a:t>ş</a:t>
                      </a:r>
                      <a:r>
                        <a:rPr lang="en-US" altLang="tr-TR"/>
                        <a:t>eni b</a:t>
                      </a:r>
                      <a:r>
                        <a:rPr lang="en-US" altLang="en-US"/>
                        <a:t>ü</a:t>
                      </a:r>
                      <a:r>
                        <a:rPr lang="en-US" altLang="tr-TR"/>
                        <a:t>y</a:t>
                      </a:r>
                      <a:r>
                        <a:rPr lang="en-US" altLang="en-US"/>
                        <a:t>ü</a:t>
                      </a:r>
                      <a:r>
                        <a:rPr lang="en-US" altLang="tr-TR"/>
                        <a:t>t</a:t>
                      </a:r>
                      <a:r>
                        <a:rPr lang="en-US" altLang="en-US"/>
                        <a:t>ü</a:t>
                      </a:r>
                      <a:r>
                        <a:rPr lang="en-US" altLang="tr-TR"/>
                        <a:t>r veya k</a:t>
                      </a:r>
                      <a:r>
                        <a:rPr lang="en-US" altLang="en-US"/>
                        <a:t>ü</a:t>
                      </a:r>
                      <a:r>
                        <a:rPr lang="" altLang="en-US"/>
                        <a:t>ç</a:t>
                      </a:r>
                      <a:r>
                        <a:rPr lang="en-US" altLang="en-US"/>
                        <a:t>ü</a:t>
                      </a:r>
                      <a:r>
                        <a:rPr lang="en-US" altLang="tr-TR"/>
                        <a:t>lt</a:t>
                      </a:r>
                      <a:r>
                        <a:rPr lang="en-US" altLang="en-US"/>
                        <a:t>ü</a:t>
                      </a:r>
                      <a:r>
                        <a:rPr lang="en-US" altLang="tr-TR"/>
                        <a:t>r (Zoom).</a:t>
                      </a:r>
                      <a:endParaRPr lang="en-US" altLang="tr-T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Etkileşim ve Olaylar</a:t>
            </a:r>
            <a:endParaRPr lang="tr-TR" altLang="en-US" dirty="0"/>
          </a:p>
        </p:txBody>
      </p:sp>
      <p:graphicFrame>
        <p:nvGraphicFramePr>
          <p:cNvPr id="4" name="İçerik Yer Tutucu 3"/>
          <p:cNvGraphicFramePr/>
          <p:nvPr>
            <p:ph idx="1"/>
          </p:nvPr>
        </p:nvGraphicFramePr>
        <p:xfrm>
          <a:off x="609600" y="2249424"/>
          <a:ext cx="10972800" cy="3048000"/>
        </p:xfrm>
        <a:graphic>
          <a:graphicData uri="http://schemas.openxmlformats.org/drawingml/2006/table">
            <a:tbl>
              <a:tblPr firstRow="1" bandRow="1">
                <a:tableStyleId>{3B4B98B0-60AC-42C2-AFA5-B58CD77FA1E5}</a:tableStyleId>
              </a:tblPr>
              <a:tblGrid>
                <a:gridCol w="5486400"/>
                <a:gridCol w="5486400"/>
              </a:tblGrid>
              <a:tr h="381000">
                <a:tc>
                  <a:txBody>
                    <a:bodyPr/>
                    <a:p>
                      <a:pPr>
                        <a:buNone/>
                      </a:pPr>
                      <a:r>
                        <a:rPr lang="tr-TR" altLang="en-US"/>
                        <a:t>Yapı</a:t>
                      </a:r>
                      <a:endParaRPr lang="tr-TR" altLang="en-US"/>
                    </a:p>
                  </a:txBody>
                  <a:tcPr/>
                </a:tc>
                <a:tc>
                  <a:txBody>
                    <a:bodyPr/>
                    <a:p>
                      <a:pPr>
                        <a:buNone/>
                      </a:pPr>
                      <a:r>
                        <a:rPr lang="tr-TR" altLang="en-US"/>
                        <a:t>İşlev</a:t>
                      </a:r>
                      <a:endParaRPr lang="tr-TR" altLang="en-US"/>
                    </a:p>
                  </a:txBody>
                  <a:tcPr/>
                </a:tc>
              </a:tr>
              <a:tr h="381000">
                <a:tc>
                  <a:txBody>
                    <a:bodyPr/>
                    <a:p>
                      <a:pPr>
                        <a:buNone/>
                      </a:pPr>
                      <a:r>
                        <a:rPr lang="en-US" altLang="tr-TR"/>
                        <a:t>.clickable { }</a:t>
                      </a:r>
                      <a:endParaRPr lang="en-US" altLang="tr-TR"/>
                    </a:p>
                  </a:txBody>
                  <a:tcPr/>
                </a:tc>
                <a:tc>
                  <a:txBody>
                    <a:bodyPr/>
                    <a:p>
                      <a:pPr>
                        <a:buNone/>
                      </a:pPr>
                      <a:r>
                        <a:rPr lang="en-US" altLang="tr-TR"/>
                        <a:t>T</a:t>
                      </a:r>
                      <a:r>
                        <a:rPr lang="" altLang="en-US"/>
                        <a:t>ı</a:t>
                      </a:r>
                      <a:r>
                        <a:rPr lang="en-US" altLang="tr-TR"/>
                        <a:t>klama olay</a:t>
                      </a:r>
                      <a:r>
                        <a:rPr lang="" altLang="en-US"/>
                        <a:t>ı</a:t>
                      </a:r>
                      <a:r>
                        <a:rPr lang="en-US" altLang="tr-TR"/>
                        <a:t>n</a:t>
                      </a:r>
                      <a:r>
                        <a:rPr lang="" altLang="en-US"/>
                        <a:t>ı</a:t>
                      </a:r>
                      <a:r>
                        <a:rPr lang="en-US" altLang="tr-TR"/>
                        <a:t> yakalar. Ripple efekti ekler.</a:t>
                      </a:r>
                      <a:endParaRPr lang="en-US" altLang="tr-TR"/>
                    </a:p>
                  </a:txBody>
                  <a:tcPr/>
                </a:tc>
              </a:tr>
              <a:tr h="381000">
                <a:tc>
                  <a:txBody>
                    <a:bodyPr/>
                    <a:p>
                      <a:pPr>
                        <a:buNone/>
                      </a:pPr>
                      <a:r>
                        <a:rPr lang="en-US" altLang="tr-TR"/>
                        <a:t>.combinedClickable(...)</a:t>
                      </a:r>
                      <a:endParaRPr lang="en-US" altLang="tr-TR"/>
                    </a:p>
                  </a:txBody>
                  <a:tcPr/>
                </a:tc>
                <a:tc>
                  <a:txBody>
                    <a:bodyPr/>
                    <a:p>
                      <a:pPr>
                        <a:buNone/>
                      </a:pPr>
                      <a:r>
                        <a:rPr lang="" altLang="en-US"/>
                        <a:t>Ç</a:t>
                      </a:r>
                      <a:r>
                        <a:rPr lang="en-US" altLang="tr-TR"/>
                        <a:t>ift t</a:t>
                      </a:r>
                      <a:r>
                        <a:rPr lang="" altLang="en-US"/>
                        <a:t>ı</a:t>
                      </a:r>
                      <a:r>
                        <a:rPr lang="en-US" altLang="tr-TR"/>
                        <a:t>klama (Double Tap) ve Uzun basma (Long Press).</a:t>
                      </a:r>
                      <a:endParaRPr lang="en-US" altLang="tr-TR"/>
                    </a:p>
                  </a:txBody>
                  <a:tcPr/>
                </a:tc>
              </a:tr>
              <a:tr h="381000">
                <a:tc>
                  <a:txBody>
                    <a:bodyPr/>
                    <a:p>
                      <a:pPr>
                        <a:buNone/>
                      </a:pPr>
                      <a:r>
                        <a:rPr lang="en-US" altLang="tr-TR"/>
                        <a:t>.toggleable(...)</a:t>
                      </a:r>
                      <a:endParaRPr lang="en-US" altLang="tr-TR"/>
                    </a:p>
                  </a:txBody>
                  <a:tcPr/>
                </a:tc>
                <a:tc>
                  <a:txBody>
                    <a:bodyPr/>
                    <a:p>
                      <a:pPr>
                        <a:buNone/>
                      </a:pPr>
                      <a:r>
                        <a:rPr lang="en-US" altLang="tr-TR"/>
                        <a:t>A</a:t>
                      </a:r>
                      <a:r>
                        <a:rPr lang="" altLang="en-US"/>
                        <a:t>ç</a:t>
                      </a:r>
                      <a:r>
                        <a:rPr lang="en-US" altLang="tr-TR"/>
                        <a:t>/Kapa (Switch mant</a:t>
                      </a:r>
                      <a:r>
                        <a:rPr lang="" altLang="en-US"/>
                        <a:t>ığı</a:t>
                      </a:r>
                      <a:r>
                        <a:rPr lang="en-US" altLang="tr-TR"/>
                        <a:t>) durumlar</a:t>
                      </a:r>
                      <a:r>
                        <a:rPr lang="" altLang="en-US"/>
                        <a:t>ı</a:t>
                      </a:r>
                      <a:r>
                        <a:rPr lang="en-US" altLang="tr-TR"/>
                        <a:t> i</a:t>
                      </a:r>
                      <a:r>
                        <a:rPr lang="" altLang="en-US"/>
                        <a:t>ç</a:t>
                      </a:r>
                      <a:r>
                        <a:rPr lang="en-US" altLang="tr-TR"/>
                        <a:t>in kullan</a:t>
                      </a:r>
                      <a:r>
                        <a:rPr lang="" altLang="en-US"/>
                        <a:t>ı</a:t>
                      </a:r>
                      <a:r>
                        <a:rPr lang="en-US" altLang="tr-TR"/>
                        <a:t>l</a:t>
                      </a:r>
                      <a:r>
                        <a:rPr lang="" altLang="en-US"/>
                        <a:t>ı</a:t>
                      </a:r>
                      <a:r>
                        <a:rPr lang="en-US" altLang="tr-TR"/>
                        <a:t>r.</a:t>
                      </a:r>
                      <a:endParaRPr lang="en-US" altLang="tr-TR"/>
                    </a:p>
                  </a:txBody>
                  <a:tcPr/>
                </a:tc>
              </a:tr>
              <a:tr h="381000">
                <a:tc>
                  <a:txBody>
                    <a:bodyPr/>
                    <a:p>
                      <a:pPr>
                        <a:buNone/>
                      </a:pPr>
                      <a:r>
                        <a:rPr lang="en-US" altLang="tr-TR"/>
                        <a:t>.draggable(...)</a:t>
                      </a:r>
                      <a:endParaRPr lang="en-US" altLang="tr-TR"/>
                    </a:p>
                  </a:txBody>
                  <a:tcPr/>
                </a:tc>
                <a:tc>
                  <a:txBody>
                    <a:bodyPr/>
                    <a:p>
                      <a:pPr>
                        <a:buNone/>
                      </a:pPr>
                      <a:r>
                        <a:rPr lang="en-US" altLang="tr-TR"/>
                        <a:t>S</a:t>
                      </a:r>
                      <a:r>
                        <a:rPr lang="en-US" altLang="en-US"/>
                        <a:t>ü</a:t>
                      </a:r>
                      <a:r>
                        <a:rPr lang="en-US" altLang="tr-TR"/>
                        <a:t>r</a:t>
                      </a:r>
                      <a:r>
                        <a:rPr lang="en-US" altLang="en-US"/>
                        <a:t>ü</a:t>
                      </a:r>
                      <a:r>
                        <a:rPr lang="en-US" altLang="tr-TR"/>
                        <a:t>kleme hareketlerini alg</a:t>
                      </a:r>
                      <a:r>
                        <a:rPr lang="" altLang="en-US"/>
                        <a:t>ı</a:t>
                      </a:r>
                      <a:r>
                        <a:rPr lang="en-US" altLang="tr-TR"/>
                        <a:t>lar.</a:t>
                      </a:r>
                      <a:endParaRPr lang="en-US" altLang="tr-TR"/>
                    </a:p>
                  </a:txBody>
                  <a:tcPr/>
                </a:tc>
              </a:tr>
              <a:tr h="381000">
                <a:tc>
                  <a:txBody>
                    <a:bodyPr/>
                    <a:p>
                      <a:pPr>
                        <a:buNone/>
                      </a:pPr>
                      <a:r>
                        <a:rPr lang="en-US" altLang="tr-TR"/>
                        <a:t>.verticalScroll(...)</a:t>
                      </a:r>
                      <a:endParaRPr lang="en-US" altLang="tr-TR"/>
                    </a:p>
                  </a:txBody>
                  <a:tcPr/>
                </a:tc>
                <a:tc>
                  <a:txBody>
                    <a:bodyPr/>
                    <a:p>
                      <a:pPr>
                        <a:buNone/>
                      </a:pPr>
                      <a:r>
                        <a:rPr lang="en-US" altLang="tr-TR"/>
                        <a:t>Dikey kayd</a:t>
                      </a:r>
                      <a:r>
                        <a:rPr lang="" altLang="en-US"/>
                        <a:t>ı</a:t>
                      </a:r>
                      <a:r>
                        <a:rPr lang="en-US" altLang="tr-TR"/>
                        <a:t>rma </a:t>
                      </a:r>
                      <a:r>
                        <a:rPr lang="en-US" altLang="en-US"/>
                        <a:t>ö</a:t>
                      </a:r>
                      <a:r>
                        <a:rPr lang="en-US" altLang="tr-TR"/>
                        <a:t>zelli</a:t>
                      </a:r>
                      <a:r>
                        <a:rPr lang="" altLang="en-US"/>
                        <a:t>ğ</a:t>
                      </a:r>
                      <a:r>
                        <a:rPr lang="en-US" altLang="tr-TR"/>
                        <a:t>i ekler (Column i</a:t>
                      </a:r>
                      <a:r>
                        <a:rPr lang="" altLang="en-US"/>
                        <a:t>ç</a:t>
                      </a:r>
                      <a:r>
                        <a:rPr lang="en-US" altLang="tr-TR"/>
                        <a:t>in).</a:t>
                      </a:r>
                      <a:endParaRPr lang="en-US" altLang="tr-TR"/>
                    </a:p>
                  </a:txBody>
                  <a:tcPr/>
                </a:tc>
              </a:tr>
              <a:tr h="381000">
                <a:tc>
                  <a:txBody>
                    <a:bodyPr/>
                    <a:p>
                      <a:pPr>
                        <a:buNone/>
                      </a:pPr>
                      <a:r>
                        <a:rPr lang="en-US" altLang="tr-TR"/>
                        <a:t>.horizontalScroll(...)</a:t>
                      </a:r>
                      <a:endParaRPr lang="en-US" altLang="tr-TR"/>
                    </a:p>
                  </a:txBody>
                  <a:tcPr/>
                </a:tc>
                <a:tc>
                  <a:txBody>
                    <a:bodyPr/>
                    <a:p>
                      <a:pPr>
                        <a:buNone/>
                      </a:pPr>
                      <a:r>
                        <a:rPr lang="en-US" altLang="tr-TR"/>
                        <a:t>Yatay kayd</a:t>
                      </a:r>
                      <a:r>
                        <a:rPr lang="" altLang="en-US"/>
                        <a:t>ı</a:t>
                      </a:r>
                      <a:r>
                        <a:rPr lang="en-US" altLang="tr-TR"/>
                        <a:t>rma </a:t>
                      </a:r>
                      <a:r>
                        <a:rPr lang="en-US" altLang="en-US"/>
                        <a:t>ö</a:t>
                      </a:r>
                      <a:r>
                        <a:rPr lang="en-US" altLang="tr-TR"/>
                        <a:t>zelli</a:t>
                      </a:r>
                      <a:r>
                        <a:rPr lang="" altLang="en-US"/>
                        <a:t>ğ</a:t>
                      </a:r>
                      <a:r>
                        <a:rPr lang="en-US" altLang="tr-TR"/>
                        <a:t>i ekler (Row i</a:t>
                      </a:r>
                      <a:r>
                        <a:rPr lang="" altLang="en-US"/>
                        <a:t>ç</a:t>
                      </a:r>
                      <a:r>
                        <a:rPr lang="en-US" altLang="tr-TR"/>
                        <a:t>in).</a:t>
                      </a:r>
                      <a:endParaRPr lang="en-US" altLang="tr-T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Scope Özel</a:t>
            </a:r>
            <a:endParaRPr lang="tr-TR" altLang="en-US" dirty="0"/>
          </a:p>
        </p:txBody>
      </p:sp>
      <p:graphicFrame>
        <p:nvGraphicFramePr>
          <p:cNvPr id="5" name="İçerik Yer Tutucu 4"/>
          <p:cNvGraphicFramePr/>
          <p:nvPr>
            <p:ph idx="1"/>
          </p:nvPr>
        </p:nvGraphicFramePr>
        <p:xfrm>
          <a:off x="609600" y="2249424"/>
          <a:ext cx="10972800" cy="2804160"/>
        </p:xfrm>
        <a:graphic>
          <a:graphicData uri="http://schemas.openxmlformats.org/drawingml/2006/table">
            <a:tbl>
              <a:tblPr firstRow="1" bandRow="1">
                <a:tableStyleId>{3B4B98B0-60AC-42C2-AFA5-B58CD77FA1E5}</a:tableStyleId>
              </a:tblPr>
              <a:tblGrid>
                <a:gridCol w="3657600"/>
                <a:gridCol w="3657600"/>
                <a:gridCol w="3657600"/>
              </a:tblGrid>
              <a:tr h="381000">
                <a:tc>
                  <a:txBody>
                    <a:bodyPr/>
                    <a:p>
                      <a:pPr>
                        <a:buNone/>
                      </a:pPr>
                      <a:r>
                        <a:rPr lang="tr-TR" altLang="en-US"/>
                        <a:t>Yapı</a:t>
                      </a:r>
                      <a:endParaRPr lang="tr-TR" altLang="en-US"/>
                    </a:p>
                  </a:txBody>
                  <a:tcPr/>
                </a:tc>
                <a:tc>
                  <a:txBody>
                    <a:bodyPr/>
                    <a:p>
                      <a:pPr>
                        <a:buNone/>
                      </a:pPr>
                      <a:r>
                        <a:rPr lang="tr-TR" altLang="en-US"/>
                        <a:t>Hangi Scope?</a:t>
                      </a:r>
                      <a:endParaRPr lang="tr-TR" altLang="en-US"/>
                    </a:p>
                  </a:txBody>
                  <a:tcPr/>
                </a:tc>
                <a:tc>
                  <a:txBody>
                    <a:bodyPr/>
                    <a:p>
                      <a:pPr>
                        <a:buNone/>
                      </a:pPr>
                      <a:r>
                        <a:rPr lang="tr-TR" altLang="en-US"/>
                        <a:t>İşlev</a:t>
                      </a:r>
                      <a:endParaRPr lang="tr-TR" altLang="en-US"/>
                    </a:p>
                  </a:txBody>
                  <a:tcPr/>
                </a:tc>
              </a:tr>
              <a:tr h="381000">
                <a:tc>
                  <a:txBody>
                    <a:bodyPr/>
                    <a:p>
                      <a:pPr>
                        <a:buNone/>
                      </a:pPr>
                      <a:r>
                        <a:rPr lang="tr-TR" altLang="en-US"/>
                        <a:t>.weight(float)</a:t>
                      </a:r>
                      <a:endParaRPr lang="tr-TR" altLang="en-US"/>
                    </a:p>
                  </a:txBody>
                  <a:tcPr/>
                </a:tc>
                <a:tc>
                  <a:txBody>
                    <a:bodyPr/>
                    <a:p>
                      <a:pPr>
                        <a:buNone/>
                      </a:pPr>
                      <a:r>
                        <a:rPr lang="tr-TR" altLang="en-US"/>
                        <a:t>Row/Column</a:t>
                      </a:r>
                      <a:endParaRPr lang="tr-TR" altLang="en-US"/>
                    </a:p>
                  </a:txBody>
                  <a:tcPr/>
                </a:tc>
                <a:tc>
                  <a:txBody>
                    <a:bodyPr/>
                    <a:p>
                      <a:pPr>
                        <a:buNone/>
                      </a:pPr>
                      <a:r>
                        <a:rPr lang="tr-TR" altLang="en-US"/>
                        <a:t>Kalan boşluğu oransal dağıtır.</a:t>
                      </a:r>
                      <a:endParaRPr lang="tr-TR" altLang="en-US"/>
                    </a:p>
                  </a:txBody>
                  <a:tcPr/>
                </a:tc>
              </a:tr>
              <a:tr h="381000">
                <a:tc>
                  <a:txBody>
                    <a:bodyPr/>
                    <a:p>
                      <a:pPr>
                        <a:buNone/>
                      </a:pPr>
                      <a:r>
                        <a:rPr lang="en-US" altLang="tr-TR"/>
                        <a:t>.align(Alignment)</a:t>
                      </a:r>
                      <a:endParaRPr lang="en-US" altLang="tr-TR"/>
                    </a:p>
                  </a:txBody>
                  <a:tcPr/>
                </a:tc>
                <a:tc>
                  <a:txBody>
                    <a:bodyPr/>
                    <a:p>
                      <a:pPr>
                        <a:buNone/>
                      </a:pPr>
                      <a:r>
                        <a:rPr lang="en-US" altLang="tr-TR"/>
                        <a:t>Box</a:t>
                      </a:r>
                      <a:endParaRPr lang="en-US" altLang="tr-TR"/>
                    </a:p>
                  </a:txBody>
                  <a:tcPr/>
                </a:tc>
                <a:tc>
                  <a:txBody>
                    <a:bodyPr/>
                    <a:p>
                      <a:pPr>
                        <a:buNone/>
                      </a:pPr>
                      <a:r>
                        <a:rPr lang="en-US" altLang="tr-TR"/>
                        <a:t>Kutunun neresinde duraca</a:t>
                      </a:r>
                      <a:r>
                        <a:rPr lang="" altLang="en-US"/>
                        <a:t>ğı</a:t>
                      </a:r>
                      <a:r>
                        <a:rPr lang="en-US" altLang="tr-TR"/>
                        <a:t>n</a:t>
                      </a:r>
                      <a:r>
                        <a:rPr lang="" altLang="en-US"/>
                        <a:t>ı</a:t>
                      </a:r>
                      <a:r>
                        <a:rPr lang="en-US" altLang="tr-TR"/>
                        <a:t> se</a:t>
                      </a:r>
                      <a:r>
                        <a:rPr lang="" altLang="en-US"/>
                        <a:t>ç</a:t>
                      </a:r>
                      <a:r>
                        <a:rPr lang="en-US" altLang="tr-TR"/>
                        <a:t>er (</a:t>
                      </a:r>
                      <a:r>
                        <a:rPr lang="en-US" altLang="en-US"/>
                        <a:t>Ö</a:t>
                      </a:r>
                      <a:r>
                        <a:rPr lang="en-US" altLang="tr-TR"/>
                        <a:t>rn: BottomEnd).</a:t>
                      </a:r>
                      <a:endParaRPr lang="en-US" altLang="tr-TR"/>
                    </a:p>
                  </a:txBody>
                  <a:tcPr/>
                </a:tc>
              </a:tr>
              <a:tr h="381000">
                <a:tc>
                  <a:txBody>
                    <a:bodyPr/>
                    <a:p>
                      <a:pPr>
                        <a:buNone/>
                      </a:pPr>
                      <a:r>
                        <a:rPr lang="en-US" altLang="tr-TR"/>
                        <a:t>.align(Alignment)</a:t>
                      </a:r>
                      <a:endParaRPr lang="en-US" altLang="tr-TR"/>
                    </a:p>
                  </a:txBody>
                  <a:tcPr/>
                </a:tc>
                <a:tc>
                  <a:txBody>
                    <a:bodyPr/>
                    <a:p>
                      <a:pPr>
                        <a:buNone/>
                      </a:pPr>
                      <a:r>
                        <a:rPr lang="en-US" altLang="tr-TR"/>
                        <a:t>Row</a:t>
                      </a:r>
                      <a:endParaRPr lang="en-US" altLang="tr-TR"/>
                    </a:p>
                  </a:txBody>
                  <a:tcPr/>
                </a:tc>
                <a:tc>
                  <a:txBody>
                    <a:bodyPr/>
                    <a:p>
                      <a:pPr>
                        <a:buNone/>
                      </a:pPr>
                      <a:r>
                        <a:rPr lang="en-US" altLang="tr-TR"/>
                        <a:t>Dikey hizalama (CenterVertically vb.).</a:t>
                      </a:r>
                      <a:endParaRPr lang="en-US" altLang="tr-TR"/>
                    </a:p>
                  </a:txBody>
                  <a:tcPr/>
                </a:tc>
              </a:tr>
              <a:tr h="381000">
                <a:tc>
                  <a:txBody>
                    <a:bodyPr/>
                    <a:p>
                      <a:pPr>
                        <a:buNone/>
                      </a:pPr>
                      <a:r>
                        <a:rPr lang="en-US" altLang="tr-TR"/>
                        <a:t>.align(Alignment)</a:t>
                      </a:r>
                      <a:endParaRPr lang="en-US" altLang="tr-TR"/>
                    </a:p>
                  </a:txBody>
                  <a:tcPr/>
                </a:tc>
                <a:tc>
                  <a:txBody>
                    <a:bodyPr/>
                    <a:p>
                      <a:pPr>
                        <a:buNone/>
                      </a:pPr>
                      <a:r>
                        <a:rPr lang="en-US" altLang="tr-TR"/>
                        <a:t>Column</a:t>
                      </a:r>
                      <a:endParaRPr lang="en-US" altLang="tr-TR"/>
                    </a:p>
                  </a:txBody>
                  <a:tcPr/>
                </a:tc>
                <a:tc>
                  <a:txBody>
                    <a:bodyPr/>
                    <a:p>
                      <a:pPr>
                        <a:buNone/>
                      </a:pPr>
                      <a:r>
                        <a:rPr lang="en-US" altLang="tr-TR"/>
                        <a:t>Yatay hizalama (CenterHorizontally vb.).</a:t>
                      </a:r>
                      <a:endParaRPr lang="en-US" altLang="tr-TR"/>
                    </a:p>
                  </a:txBody>
                  <a:tcPr/>
                </a:tc>
              </a:tr>
              <a:tr h="381000">
                <a:tc>
                  <a:txBody>
                    <a:bodyPr/>
                    <a:p>
                      <a:pPr>
                        <a:buNone/>
                      </a:pPr>
                      <a:r>
                        <a:rPr lang="en-US" altLang="tr-TR"/>
                        <a:t>.alignByBaseline()</a:t>
                      </a:r>
                      <a:endParaRPr lang="en-US" altLang="tr-TR"/>
                    </a:p>
                  </a:txBody>
                  <a:tcPr/>
                </a:tc>
                <a:tc>
                  <a:txBody>
                    <a:bodyPr/>
                    <a:p>
                      <a:pPr>
                        <a:buNone/>
                      </a:pPr>
                      <a:r>
                        <a:rPr lang="en-US" altLang="tr-TR"/>
                        <a:t>Row</a:t>
                      </a:r>
                      <a:endParaRPr lang="en-US" altLang="tr-TR"/>
                    </a:p>
                  </a:txBody>
                  <a:tcPr/>
                </a:tc>
                <a:tc>
                  <a:txBody>
                    <a:bodyPr/>
                    <a:p>
                      <a:pPr>
                        <a:buNone/>
                      </a:pPr>
                      <a:r>
                        <a:rPr lang="en-US" altLang="tr-TR"/>
                        <a:t>Metinlerin taban </a:t>
                      </a:r>
                      <a:r>
                        <a:rPr lang="" altLang="en-US"/>
                        <a:t>ç</a:t>
                      </a:r>
                      <a:r>
                        <a:rPr lang="en-US" altLang="tr-TR"/>
                        <a:t>izgisine (baseline) g</a:t>
                      </a:r>
                      <a:r>
                        <a:rPr lang="en-US" altLang="en-US"/>
                        <a:t>ö</a:t>
                      </a:r>
                      <a:r>
                        <a:rPr lang="en-US" altLang="tr-TR"/>
                        <a:t>re hizalar.</a:t>
                      </a:r>
                      <a:endParaRPr lang="en-US" altLang="tr-T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altLang="en-US" dirty="0"/>
              <a:t>Önemli Modifier Yapıları - Alan Kontrolü</a:t>
            </a:r>
            <a:endParaRPr lang="tr-TR" altLang="en-US" dirty="0"/>
          </a:p>
        </p:txBody>
      </p:sp>
      <p:graphicFrame>
        <p:nvGraphicFramePr>
          <p:cNvPr id="4" name="İçerik Yer Tutucu 3"/>
          <p:cNvGraphicFramePr/>
          <p:nvPr>
            <p:ph idx="1"/>
          </p:nvPr>
        </p:nvGraphicFramePr>
        <p:xfrm>
          <a:off x="609600" y="2249424"/>
          <a:ext cx="10972800" cy="3048000"/>
        </p:xfrm>
        <a:graphic>
          <a:graphicData uri="http://schemas.openxmlformats.org/drawingml/2006/table">
            <a:tbl>
              <a:tblPr firstRow="1" bandRow="1">
                <a:tableStyleId>{3B4B98B0-60AC-42C2-AFA5-B58CD77FA1E5}</a:tableStyleId>
              </a:tblPr>
              <a:tblGrid>
                <a:gridCol w="5486400"/>
                <a:gridCol w="5486400"/>
              </a:tblGrid>
              <a:tr h="381000">
                <a:tc>
                  <a:txBody>
                    <a:bodyPr/>
                    <a:p>
                      <a:pPr>
                        <a:buNone/>
                      </a:pPr>
                      <a:r>
                        <a:rPr lang="tr-TR" altLang="en-US"/>
                        <a:t>Yapı</a:t>
                      </a:r>
                      <a:endParaRPr lang="tr-TR" altLang="en-US"/>
                    </a:p>
                  </a:txBody>
                  <a:tcPr/>
                </a:tc>
                <a:tc>
                  <a:txBody>
                    <a:bodyPr/>
                    <a:p>
                      <a:pPr>
                        <a:buNone/>
                      </a:pPr>
                      <a:r>
                        <a:rPr lang="tr-TR" altLang="en-US"/>
                        <a:t>İşlev</a:t>
                      </a:r>
                      <a:endParaRPr lang="tr-TR" altLang="en-US"/>
                    </a:p>
                  </a:txBody>
                  <a:tcPr/>
                </a:tc>
              </a:tr>
              <a:tr h="381000">
                <a:tc>
                  <a:txBody>
                    <a:bodyPr/>
                    <a:p>
                      <a:pPr>
                        <a:buNone/>
                      </a:pPr>
                      <a:r>
                        <a:rPr lang="en-US" altLang="tr-TR"/>
                        <a:t>.statusBarsPadding()</a:t>
                      </a:r>
                      <a:endParaRPr lang="en-US" altLang="tr-TR"/>
                    </a:p>
                  </a:txBody>
                  <a:tcPr/>
                </a:tc>
                <a:tc>
                  <a:txBody>
                    <a:bodyPr/>
                    <a:p>
                      <a:pPr>
                        <a:buNone/>
                      </a:pPr>
                      <a:r>
                        <a:rPr lang="" altLang="en-US"/>
                        <a:t>İç</a:t>
                      </a:r>
                      <a:r>
                        <a:rPr lang="en-US" altLang="tr-TR"/>
                        <a:t>eri</a:t>
                      </a:r>
                      <a:r>
                        <a:rPr lang="" altLang="en-US"/>
                        <a:t>ğ</a:t>
                      </a:r>
                      <a:r>
                        <a:rPr lang="en-US" altLang="tr-TR"/>
                        <a:t>in status bar (saat/pil) alt</a:t>
                      </a:r>
                      <a:r>
                        <a:rPr lang="" altLang="en-US"/>
                        <a:t>ı</a:t>
                      </a:r>
                      <a:r>
                        <a:rPr lang="en-US" altLang="tr-TR"/>
                        <a:t>nda kalmas</a:t>
                      </a:r>
                      <a:r>
                        <a:rPr lang="" altLang="en-US"/>
                        <a:t>ı</a:t>
                      </a:r>
                      <a:r>
                        <a:rPr lang="en-US" altLang="tr-TR"/>
                        <a:t>n</a:t>
                      </a:r>
                      <a:r>
                        <a:rPr lang="" altLang="en-US"/>
                        <a:t>ı</a:t>
                      </a:r>
                      <a:r>
                        <a:rPr lang="en-US" altLang="tr-TR"/>
                        <a:t> engeller.</a:t>
                      </a:r>
                      <a:endParaRPr lang="en-US" altLang="tr-TR"/>
                    </a:p>
                  </a:txBody>
                  <a:tcPr/>
                </a:tc>
              </a:tr>
              <a:tr h="381000">
                <a:tc>
                  <a:txBody>
                    <a:bodyPr/>
                    <a:p>
                      <a:pPr>
                        <a:buNone/>
                      </a:pPr>
                      <a:r>
                        <a:rPr lang="en-US" altLang="tr-TR"/>
                        <a:t>.navigationBarsPadding()</a:t>
                      </a:r>
                      <a:endParaRPr lang="en-US" altLang="tr-TR"/>
                    </a:p>
                  </a:txBody>
                  <a:tcPr/>
                </a:tc>
                <a:tc>
                  <a:txBody>
                    <a:bodyPr/>
                    <a:p>
                      <a:pPr>
                        <a:buNone/>
                      </a:pPr>
                      <a:r>
                        <a:rPr lang="" altLang="en-US"/>
                        <a:t>İç</a:t>
                      </a:r>
                      <a:r>
                        <a:rPr lang="en-US" altLang="tr-TR"/>
                        <a:t>eri</a:t>
                      </a:r>
                      <a:r>
                        <a:rPr lang="" altLang="en-US"/>
                        <a:t>ğ</a:t>
                      </a:r>
                      <a:r>
                        <a:rPr lang="en-US" altLang="tr-TR"/>
                        <a:t>in alttaki gezinme </a:t>
                      </a:r>
                      <a:r>
                        <a:rPr lang="" altLang="en-US"/>
                        <a:t>ç</a:t>
                      </a:r>
                      <a:r>
                        <a:rPr lang="en-US" altLang="tr-TR"/>
                        <a:t>ubu</a:t>
                      </a:r>
                      <a:r>
                        <a:rPr lang="" altLang="en-US"/>
                        <a:t>ğ</a:t>
                      </a:r>
                      <a:r>
                        <a:rPr lang="en-US" altLang="tr-TR"/>
                        <a:t>u alt</a:t>
                      </a:r>
                      <a:r>
                        <a:rPr lang="" altLang="en-US"/>
                        <a:t>ı</a:t>
                      </a:r>
                      <a:r>
                        <a:rPr lang="en-US" altLang="tr-TR"/>
                        <a:t>nda kalmas</a:t>
                      </a:r>
                      <a:r>
                        <a:rPr lang="" altLang="en-US"/>
                        <a:t>ı</a:t>
                      </a:r>
                      <a:r>
                        <a:rPr lang="en-US" altLang="tr-TR"/>
                        <a:t>n</a:t>
                      </a:r>
                      <a:r>
                        <a:rPr lang="" altLang="en-US"/>
                        <a:t>ı</a:t>
                      </a:r>
                      <a:r>
                        <a:rPr lang="en-US" altLang="tr-TR"/>
                        <a:t> engeller.</a:t>
                      </a:r>
                      <a:endParaRPr lang="en-US" altLang="tr-TR"/>
                    </a:p>
                  </a:txBody>
                  <a:tcPr/>
                </a:tc>
              </a:tr>
              <a:tr h="381000">
                <a:tc>
                  <a:txBody>
                    <a:bodyPr/>
                    <a:p>
                      <a:pPr>
                        <a:buNone/>
                      </a:pPr>
                      <a:r>
                        <a:rPr lang="en-US" altLang="tr-TR"/>
                        <a:t>.imePadding()</a:t>
                      </a:r>
                      <a:endParaRPr lang="en-US" altLang="tr-TR"/>
                    </a:p>
                  </a:txBody>
                  <a:tcPr/>
                </a:tc>
                <a:tc>
                  <a:txBody>
                    <a:bodyPr/>
                    <a:p>
                      <a:pPr>
                        <a:buNone/>
                      </a:pPr>
                      <a:r>
                        <a:rPr lang="en-US" altLang="tr-TR"/>
                        <a:t>Klavye a</a:t>
                      </a:r>
                      <a:r>
                        <a:rPr lang="" altLang="en-US"/>
                        <a:t>çı</a:t>
                      </a:r>
                      <a:r>
                        <a:rPr lang="en-US" altLang="tr-TR"/>
                        <a:t>ld</a:t>
                      </a:r>
                      <a:r>
                        <a:rPr lang="" altLang="en-US"/>
                        <a:t>ığı</a:t>
                      </a:r>
                      <a:r>
                        <a:rPr lang="en-US" altLang="tr-TR"/>
                        <a:t>nda i</a:t>
                      </a:r>
                      <a:r>
                        <a:rPr lang="" altLang="en-US"/>
                        <a:t>ç</a:t>
                      </a:r>
                      <a:r>
                        <a:rPr lang="en-US" altLang="tr-TR"/>
                        <a:t>eri</a:t>
                      </a:r>
                      <a:r>
                        <a:rPr lang="" altLang="en-US"/>
                        <a:t>ğ</a:t>
                      </a:r>
                      <a:r>
                        <a:rPr lang="en-US" altLang="tr-TR"/>
                        <a:t>i yukar</a:t>
                      </a:r>
                      <a:r>
                        <a:rPr lang="" altLang="en-US"/>
                        <a:t>ı</a:t>
                      </a:r>
                      <a:r>
                        <a:rPr lang="en-US" altLang="tr-TR"/>
                        <a:t> iter.</a:t>
                      </a:r>
                      <a:endParaRPr lang="en-US" altLang="tr-T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en-US" altLang="tr-TR" dirty="0"/>
              <a:t>State (Durum) Y</a:t>
            </a:r>
            <a:r>
              <a:rPr lang="en-US" altLang="en-US" dirty="0"/>
              <a:t>ö</a:t>
            </a:r>
            <a:r>
              <a:rPr lang="en-US" altLang="tr-TR" dirty="0"/>
              <a:t>netimi ve Recomposition</a:t>
            </a:r>
            <a:endParaRPr lang="en-US" altLang="tr-TR" dirty="0"/>
          </a:p>
        </p:txBody>
      </p:sp>
      <p:sp>
        <p:nvSpPr>
          <p:cNvPr id="3" name="İçerik Yer Tutucusu 2"/>
          <p:cNvSpPr>
            <a:spLocks noGrp="1"/>
          </p:cNvSpPr>
          <p:nvPr>
            <p:ph idx="1"/>
          </p:nvPr>
        </p:nvSpPr>
        <p:spPr/>
        <p:txBody>
          <a:bodyPr>
            <a:normAutofit lnSpcReduction="10000"/>
          </a:bodyPr>
          <a:lstStyle/>
          <a:p>
            <a:r>
              <a:rPr lang="en-US" altLang="tr-TR" dirty="0"/>
              <a:t>Compose'un en kritik konusudur.</a:t>
            </a:r>
            <a:endParaRPr lang="en-US" altLang="tr-TR" dirty="0"/>
          </a:p>
          <a:p>
            <a:r>
              <a:rPr lang="en-US" altLang="tr-TR" dirty="0"/>
              <a:t>State: Uygulaman</a:t>
            </a:r>
            <a:r>
              <a:rPr lang="" altLang="en-US" dirty="0"/>
              <a:t>ı</a:t>
            </a:r>
            <a:r>
              <a:rPr lang="en-US" altLang="tr-TR" dirty="0"/>
              <a:t>n o anki verisi (</a:t>
            </a:r>
            <a:r>
              <a:rPr lang="en-US" altLang="en-US" dirty="0"/>
              <a:t>Ö</a:t>
            </a:r>
            <a:r>
              <a:rPr lang="en-US" altLang="tr-TR" dirty="0"/>
              <a:t>rn: Sayac</a:t>
            </a:r>
            <a:r>
              <a:rPr lang="" altLang="en-US" dirty="0"/>
              <a:t>ı</a:t>
            </a:r>
            <a:r>
              <a:rPr lang="en-US" altLang="tr-TR" dirty="0"/>
              <a:t>n de</a:t>
            </a:r>
            <a:r>
              <a:rPr lang="" altLang="en-US" dirty="0"/>
              <a:t>ğ</a:t>
            </a:r>
            <a:r>
              <a:rPr lang="en-US" altLang="tr-TR" dirty="0"/>
              <a:t>eri, kullan</a:t>
            </a:r>
            <a:r>
              <a:rPr lang="" altLang="en-US" dirty="0"/>
              <a:t>ı</a:t>
            </a:r>
            <a:r>
              <a:rPr lang="en-US" altLang="tr-TR" dirty="0"/>
              <a:t>c</a:t>
            </a:r>
            <a:r>
              <a:rPr lang="" altLang="en-US" dirty="0"/>
              <a:t>ı</a:t>
            </a:r>
            <a:r>
              <a:rPr lang="en-US" altLang="tr-TR" dirty="0"/>
              <a:t>n</a:t>
            </a:r>
            <a:r>
              <a:rPr lang="" altLang="en-US" dirty="0"/>
              <a:t>ı</a:t>
            </a:r>
            <a:r>
              <a:rPr lang="en-US" altLang="tr-TR" dirty="0"/>
              <a:t>n ismi).</a:t>
            </a:r>
            <a:endParaRPr lang="en-US" altLang="tr-TR" dirty="0"/>
          </a:p>
          <a:p>
            <a:r>
              <a:rPr lang="en-US" altLang="tr-TR" dirty="0"/>
              <a:t>Recomposition: State de</a:t>
            </a:r>
            <a:r>
              <a:rPr lang="" altLang="en-US" dirty="0"/>
              <a:t>ğ</a:t>
            </a:r>
            <a:r>
              <a:rPr lang="en-US" altLang="tr-TR" dirty="0"/>
              <a:t>i</a:t>
            </a:r>
            <a:r>
              <a:rPr lang="" altLang="en-US" dirty="0"/>
              <a:t>ş</a:t>
            </a:r>
            <a:r>
              <a:rPr lang="en-US" altLang="tr-TR" dirty="0"/>
              <a:t>ti</a:t>
            </a:r>
            <a:r>
              <a:rPr lang="" altLang="en-US" dirty="0"/>
              <a:t>ğ</a:t>
            </a:r>
            <a:r>
              <a:rPr lang="en-US" altLang="tr-TR" dirty="0"/>
              <a:t>inde, Compose'un sadece de</a:t>
            </a:r>
            <a:r>
              <a:rPr lang="" altLang="en-US" dirty="0"/>
              <a:t>ğ</a:t>
            </a:r>
            <a:r>
              <a:rPr lang="en-US" altLang="tr-TR" dirty="0"/>
              <a:t>i</a:t>
            </a:r>
            <a:r>
              <a:rPr lang="" altLang="en-US" dirty="0"/>
              <a:t>ş</a:t>
            </a:r>
            <a:r>
              <a:rPr lang="en-US" altLang="tr-TR" dirty="0"/>
              <a:t>en k</a:t>
            </a:r>
            <a:r>
              <a:rPr lang="" altLang="en-US" dirty="0"/>
              <a:t>ı</a:t>
            </a:r>
            <a:r>
              <a:rPr lang="en-US" altLang="tr-TR" dirty="0"/>
              <a:t>sm</a:t>
            </a:r>
            <a:r>
              <a:rPr lang="" altLang="en-US" dirty="0"/>
              <a:t>ı</a:t>
            </a:r>
            <a:r>
              <a:rPr lang="en-US" altLang="tr-TR" dirty="0"/>
              <a:t> alg</a:t>
            </a:r>
            <a:r>
              <a:rPr lang="" altLang="en-US" dirty="0"/>
              <a:t>ı</a:t>
            </a:r>
            <a:r>
              <a:rPr lang="en-US" altLang="tr-TR" dirty="0"/>
              <a:t>lay</a:t>
            </a:r>
            <a:r>
              <a:rPr lang="" altLang="en-US" dirty="0"/>
              <a:t>ı</a:t>
            </a:r>
            <a:r>
              <a:rPr lang="en-US" altLang="tr-TR" dirty="0"/>
              <a:t>p o fonksiyonu tekrar </a:t>
            </a:r>
            <a:r>
              <a:rPr lang="" altLang="en-US" dirty="0"/>
              <a:t>ç</a:t>
            </a:r>
            <a:r>
              <a:rPr lang="en-US" altLang="tr-TR" dirty="0"/>
              <a:t>al</a:t>
            </a:r>
            <a:r>
              <a:rPr lang="" altLang="en-US" dirty="0"/>
              <a:t>ış</a:t>
            </a:r>
            <a:r>
              <a:rPr lang="en-US" altLang="tr-TR" dirty="0"/>
              <a:t>t</a:t>
            </a:r>
            <a:r>
              <a:rPr lang="" altLang="en-US" dirty="0"/>
              <a:t>ı</a:t>
            </a:r>
            <a:r>
              <a:rPr lang="en-US" altLang="tr-TR" dirty="0"/>
              <a:t>rmas</a:t>
            </a:r>
            <a:r>
              <a:rPr lang="" altLang="en-US" dirty="0"/>
              <a:t>ı</a:t>
            </a:r>
            <a:r>
              <a:rPr lang="en-US" altLang="tr-TR" dirty="0"/>
              <a:t>d</a:t>
            </a:r>
            <a:r>
              <a:rPr lang="" altLang="en-US" dirty="0"/>
              <a:t>ı</a:t>
            </a:r>
            <a:r>
              <a:rPr lang="en-US" altLang="tr-TR" dirty="0"/>
              <a:t>r. Ekran</a:t>
            </a:r>
            <a:r>
              <a:rPr lang="" altLang="en-US" dirty="0"/>
              <a:t>ı</a:t>
            </a:r>
            <a:r>
              <a:rPr lang="en-US" altLang="tr-TR" dirty="0"/>
              <a:t>n tamam</a:t>
            </a:r>
            <a:r>
              <a:rPr lang="" altLang="en-US" dirty="0"/>
              <a:t>ı</a:t>
            </a:r>
            <a:r>
              <a:rPr lang="en-US" altLang="tr-TR" dirty="0"/>
              <a:t> de</a:t>
            </a:r>
            <a:r>
              <a:rPr lang="" altLang="en-US" dirty="0"/>
              <a:t>ğ</a:t>
            </a:r>
            <a:r>
              <a:rPr lang="en-US" altLang="tr-TR" dirty="0"/>
              <a:t>il, sadece de</a:t>
            </a:r>
            <a:r>
              <a:rPr lang="" altLang="en-US" dirty="0"/>
              <a:t>ğ</a:t>
            </a:r>
            <a:r>
              <a:rPr lang="en-US" altLang="tr-TR" dirty="0"/>
              <a:t>i</a:t>
            </a:r>
            <a:r>
              <a:rPr lang="" altLang="en-US" dirty="0"/>
              <a:t>ş</a:t>
            </a:r>
            <a:r>
              <a:rPr lang="en-US" altLang="tr-TR" dirty="0"/>
              <a:t>en k</a:t>
            </a:r>
            <a:r>
              <a:rPr lang="" altLang="en-US" dirty="0"/>
              <a:t>ı</a:t>
            </a:r>
            <a:r>
              <a:rPr lang="en-US" altLang="tr-TR" dirty="0"/>
              <a:t>s</a:t>
            </a:r>
            <a:r>
              <a:rPr lang="" altLang="en-US" dirty="0"/>
              <a:t>ı</a:t>
            </a:r>
            <a:r>
              <a:rPr lang="en-US" altLang="tr-TR" dirty="0"/>
              <a:t>m g</a:t>
            </a:r>
            <a:r>
              <a:rPr lang="en-US" altLang="en-US" dirty="0"/>
              <a:t>ü</a:t>
            </a:r>
            <a:r>
              <a:rPr lang="en-US" altLang="tr-TR" dirty="0"/>
              <a:t>ncellenir.</a:t>
            </a:r>
            <a:endParaRPr lang="en-US" altLang="tr-TR" dirty="0"/>
          </a:p>
          <a:p>
            <a:r>
              <a:rPr lang="en-US" altLang="tr-TR" dirty="0"/>
              <a:t>Kullan</a:t>
            </a:r>
            <a:r>
              <a:rPr lang="" altLang="en-US" dirty="0"/>
              <a:t>ı</a:t>
            </a:r>
            <a:r>
              <a:rPr lang="en-US" altLang="tr-TR" dirty="0"/>
              <a:t>lan yap</a:t>
            </a:r>
            <a:r>
              <a:rPr lang="" altLang="en-US" dirty="0"/>
              <a:t>ı</a:t>
            </a:r>
            <a:r>
              <a:rPr lang="en-US" altLang="tr-TR" dirty="0"/>
              <a:t>lar: remember { mutableStateOf(...) }.</a:t>
            </a:r>
            <a:endParaRPr lang="en-US" alt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0</TotalTime>
  <Words>7895</Words>
  <Application>WPS Sunum</Application>
  <PresentationFormat>Geniş ekran</PresentationFormat>
  <Paragraphs>409</Paragraphs>
  <Slides>31</Slides>
  <Notes>1</Notes>
  <HiddenSlides>0</HiddenSlides>
  <MMClips>2</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31</vt:i4>
      </vt:variant>
    </vt:vector>
  </HeadingPairs>
  <TitlesOfParts>
    <vt:vector size="41" baseType="lpstr">
      <vt:lpstr>Arial</vt:lpstr>
      <vt:lpstr>SimSun</vt:lpstr>
      <vt:lpstr>Wingdings</vt:lpstr>
      <vt:lpstr>Georgia</vt:lpstr>
      <vt:lpstr>Wingdings 2</vt:lpstr>
      <vt:lpstr>Wingdings</vt:lpstr>
      <vt:lpstr>Calibri</vt:lpstr>
      <vt:lpstr>Microsoft YaHei</vt:lpstr>
      <vt:lpstr>Arial Unicode MS</vt:lpstr>
      <vt:lpstr>Eğitim sunusu</vt:lpstr>
      <vt:lpstr>Paralel Hesaplama</vt:lpstr>
      <vt:lpstr>Hata Ayıklama için Thread Bilgileri ve Yönetimi</vt:lpstr>
      <vt:lpstr>Jetpack Compose Nedir?</vt:lpstr>
      <vt:lpstr>Imperative vs. Declarative UI (Dönüm Noktası)</vt:lpstr>
      <vt:lpstr>@Composable Fonksiyonlar</vt:lpstr>
      <vt:lpstr>@Composable Fonksiyonlar</vt:lpstr>
      <vt:lpstr>@Composable Fonksiyonlar</vt:lpstr>
      <vt:lpstr>@Composable Fonksiyonlar</vt:lpstr>
      <vt:lpstr>@Composable Fonksiyonlar</vt:lpstr>
      <vt:lpstr>@Composable Fonksiyonlar</vt:lpstr>
      <vt:lpstr>@Composable Fonksiyonlar</vt:lpstr>
      <vt:lpstr>@Composable Fonksiyonlar</vt:lpstr>
      <vt:lpstr>@Composable Fonksiyonlar</vt:lpstr>
      <vt:lpstr>@Composable Fonksiyonlar</vt:lpstr>
      <vt:lpstr>@Composable Fonksiyonlar</vt:lpstr>
      <vt:lpstr>Modifiers (Şekillendiriciler)</vt:lpstr>
      <vt:lpstr>Önemli Modifier Yapıları</vt:lpstr>
      <vt:lpstr>Modifiers (Şekillendiriciler)</vt:lpstr>
      <vt:lpstr>Modifiers (Şekillendiriciler)</vt:lpstr>
      <vt:lpstr>Önemli Modifier Yapıları - Boşluk ve Konumlandırma</vt:lpstr>
      <vt:lpstr>Önemli Modifier Yapıları - Boşluk ve Konumlandırma</vt:lpstr>
      <vt:lpstr>Önemli Modifier Yapıları - Boşluk ve Konumlandırma</vt:lpstr>
      <vt:lpstr>Önemli Modifier Yapıları - Boşluk ve Konumlandırma</vt:lpstr>
      <vt:lpstr>Önemli Modifier Yapıları - Boşluk ve Konumlandırma</vt:lpstr>
      <vt:lpstr>Önemli Modifier Yapıları - Boşluk ve Konumlandırma</vt:lpstr>
      <vt:lpstr>Önemli Modifier Yapıları - Boyutlandırma</vt:lpstr>
      <vt:lpstr>Önemli Modifier Yapıları - Boşluk ve Konumlandırma</vt:lpstr>
      <vt:lpstr>Önemli Modifier Yapıları - Görünüm ve Süsleme</vt:lpstr>
      <vt:lpstr>Önemli Modifier Yapıları - Etkileşim ve Olaylar</vt:lpstr>
      <vt:lpstr>Önemli Modifier Yapıları - Etkileşim ve Olaylar</vt:lpstr>
      <vt:lpstr>Modifiers (Şekillendiriciler)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477</cp:revision>
  <dcterms:created xsi:type="dcterms:W3CDTF">2023-12-09T09:03:00Z</dcterms:created>
  <dcterms:modified xsi:type="dcterms:W3CDTF">2025-12-08T18:07:14Z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CV">
    <vt:lpwstr>075980AA15F642F48986FAA59BC7CDD0_12</vt:lpwstr>
  </property>
  <property fmtid="{D5CDD505-2E9C-101B-9397-08002B2CF9AE}" pid="4" name="KSOProductBuildVer">
    <vt:lpwstr>1055-12.2.0.22549</vt:lpwstr>
  </property>
</Properties>
</file>