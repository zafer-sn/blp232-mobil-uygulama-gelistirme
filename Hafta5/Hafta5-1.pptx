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5"/>
  </p:notesMasterIdLst>
  <p:handoutMasterIdLst>
    <p:handoutMasterId r:id="rId16"/>
  </p:handoutMasterIdLst>
  <p:sldIdLst>
    <p:sldId id="257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9911" autoAdjust="0"/>
  </p:normalViewPr>
  <p:slideViewPr>
    <p:cSldViewPr snapToGrid="0">
      <p:cViewPr varScale="1">
        <p:scale>
          <a:sx n="87" d="100"/>
          <a:sy n="87" d="100"/>
        </p:scale>
        <p:origin x="480" y="58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20.09.2024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20.09.2024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5640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40824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84278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42478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86784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46266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37344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11006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50611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13398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74738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56083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20.09.2024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20.09.2024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20.09.2024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20.09.2024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20.09.2024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20.09.2024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20.09.2024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20.09.2024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20.09.2024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20.09.2024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20.09.2024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20.09.2024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Mobil Uygulama Geliştirme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VARSAYILAN KOD AÇIKLAMASI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algn="just">
              <a:buNone/>
            </a:pPr>
            <a:endParaRPr lang="tr-TR" b="1" dirty="0"/>
          </a:p>
          <a:p>
            <a:pPr marL="109728" indent="0" algn="just">
              <a:buNone/>
            </a:pPr>
            <a:endParaRPr lang="tr-TR" b="1" dirty="0" smtClean="0"/>
          </a:p>
          <a:p>
            <a:pPr algn="just"/>
            <a:r>
              <a:rPr lang="tr-TR" b="1" dirty="0" smtClean="0"/>
              <a:t>Açıklama</a:t>
            </a:r>
            <a:r>
              <a:rPr lang="tr-TR" dirty="0"/>
              <a:t>: Bu satır, kodun hangi paket altında olduğunu belirtir. Paketler, kodu mantıksal olarak gruplandırmak için kullanılır. Burada, </a:t>
            </a:r>
            <a:r>
              <a:rPr lang="tr-TR" dirty="0" smtClean="0"/>
              <a:t>kod ‘</a:t>
            </a:r>
            <a:r>
              <a:rPr lang="tr-TR" dirty="0" err="1"/>
              <a:t>package</a:t>
            </a:r>
            <a:r>
              <a:rPr lang="tr-TR" dirty="0"/>
              <a:t> </a:t>
            </a:r>
            <a:r>
              <a:rPr lang="tr-TR" dirty="0" err="1"/>
              <a:t>com.zserin.ilkuygulama</a:t>
            </a:r>
            <a:r>
              <a:rPr lang="tr-TR" dirty="0" smtClean="0"/>
              <a:t>’ paketi altında yer alıyor.</a:t>
            </a:r>
          </a:p>
          <a:p>
            <a:pPr algn="just"/>
            <a:endParaRPr lang="tr-TR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09600" y="2249424"/>
            <a:ext cx="10972800" cy="64633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package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com.zserin.ilkuygulama</a:t>
            </a:r>
            <a:endParaRPr kumimoji="0" lang="tr-TR" altLang="tr-T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26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VARSAYILAN KOD AÇIKLAMASI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algn="just">
              <a:buNone/>
            </a:pPr>
            <a:endParaRPr lang="tr-TR" b="1" dirty="0" smtClean="0"/>
          </a:p>
          <a:p>
            <a:pPr marL="109728" indent="0" algn="just">
              <a:buNone/>
            </a:pPr>
            <a:endParaRPr lang="tr-TR" b="1" dirty="0"/>
          </a:p>
          <a:p>
            <a:pPr marL="109728" indent="0" algn="just">
              <a:buNone/>
            </a:pPr>
            <a:endParaRPr lang="tr-TR" b="1" dirty="0" smtClean="0"/>
          </a:p>
          <a:p>
            <a:pPr marL="109728" indent="0" algn="just">
              <a:buNone/>
            </a:pPr>
            <a:endParaRPr lang="tr-TR" b="1" dirty="0"/>
          </a:p>
          <a:p>
            <a:pPr marL="109728" indent="0" algn="just">
              <a:buNone/>
            </a:pPr>
            <a:endParaRPr lang="tr-TR" b="1" dirty="0" smtClean="0"/>
          </a:p>
          <a:p>
            <a:pPr algn="just"/>
            <a:endParaRPr lang="tr-TR" dirty="0" smtClean="0"/>
          </a:p>
          <a:p>
            <a:pPr algn="just"/>
            <a:endParaRPr lang="tr-TR" dirty="0" smtClean="0"/>
          </a:p>
          <a:p>
            <a:pPr algn="just"/>
            <a:r>
              <a:rPr lang="tr-TR" b="1" dirty="0"/>
              <a:t>Açıklama</a:t>
            </a:r>
            <a:r>
              <a:rPr lang="tr-TR" dirty="0"/>
              <a:t>: Bu satırlar, kodun çalışması için gerekli olan kütüphaneleri içe aktarır</a:t>
            </a:r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09600" y="2249424"/>
            <a:ext cx="10972800" cy="286232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import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android.os.Bundle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/>
            </a:r>
            <a:b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import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androidx.activity.enableEdgeToEdge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/>
            </a:r>
            <a:b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import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androidx.appcompat.app.AppCompatActivity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/>
            </a:r>
            <a:b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import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androidx.core.view.ViewCompat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/>
            </a:r>
            <a:b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import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androidx.core.view.WindowInsetsCompat</a:t>
            </a:r>
            <a:endParaRPr kumimoji="0" lang="tr-TR" altLang="tr-T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18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VARSAYILAN KOD AÇIKLAMASI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b="1" dirty="0" smtClean="0"/>
              <a:t>‘</a:t>
            </a:r>
            <a:r>
              <a:rPr lang="tr-TR" b="1" dirty="0" err="1" smtClean="0"/>
              <a:t>android.os.bundle</a:t>
            </a:r>
            <a:r>
              <a:rPr lang="tr-TR" b="1" dirty="0" smtClean="0"/>
              <a:t>’: </a:t>
            </a:r>
            <a:r>
              <a:rPr lang="tr-TR" dirty="0" err="1"/>
              <a:t>Activity'ler</a:t>
            </a:r>
            <a:r>
              <a:rPr lang="tr-TR" dirty="0"/>
              <a:t> arasında veri taşımak için kullanılır</a:t>
            </a:r>
            <a:r>
              <a:rPr lang="tr-TR" dirty="0" smtClean="0"/>
              <a:t>.</a:t>
            </a:r>
          </a:p>
          <a:p>
            <a:pPr algn="just"/>
            <a:r>
              <a:rPr lang="tr-TR" b="1" dirty="0" smtClean="0"/>
              <a:t>‘</a:t>
            </a:r>
            <a:r>
              <a:rPr lang="tr-TR" b="1" dirty="0" err="1" smtClean="0"/>
              <a:t>androidx.activity.enableEdgeToEdge</a:t>
            </a:r>
            <a:r>
              <a:rPr lang="tr-TR" b="1" dirty="0" smtClean="0"/>
              <a:t>’: </a:t>
            </a:r>
            <a:r>
              <a:rPr lang="tr-TR" dirty="0"/>
              <a:t>Ekranın kenarlarına kadar uzanmasını sağlar</a:t>
            </a:r>
            <a:r>
              <a:rPr lang="tr-TR" dirty="0" smtClean="0"/>
              <a:t>.</a:t>
            </a:r>
          </a:p>
          <a:p>
            <a:pPr algn="just"/>
            <a:r>
              <a:rPr lang="tr-TR" b="1" dirty="0"/>
              <a:t>‘</a:t>
            </a:r>
            <a:r>
              <a:rPr lang="tr-TR" b="1" dirty="0" err="1"/>
              <a:t>androidx.appcompat.app.AppCompatActivity</a:t>
            </a:r>
            <a:r>
              <a:rPr lang="tr-TR" b="1" dirty="0" smtClean="0"/>
              <a:t>’: </a:t>
            </a:r>
            <a:r>
              <a:rPr lang="tr-TR" dirty="0" err="1" smtClean="0"/>
              <a:t>Android</a:t>
            </a:r>
            <a:r>
              <a:rPr lang="tr-TR" dirty="0" smtClean="0"/>
              <a:t> </a:t>
            </a:r>
            <a:r>
              <a:rPr lang="tr-TR" dirty="0"/>
              <a:t>uygulamalarında kullanılan temel Activity sınıfı</a:t>
            </a:r>
            <a:r>
              <a:rPr lang="tr-TR" dirty="0" smtClean="0"/>
              <a:t>.</a:t>
            </a:r>
          </a:p>
          <a:p>
            <a:pPr algn="just"/>
            <a:r>
              <a:rPr lang="tr-TR" b="1" dirty="0"/>
              <a:t>‘</a:t>
            </a:r>
            <a:r>
              <a:rPr lang="tr-TR" b="1" dirty="0" err="1"/>
              <a:t>androidx.core.view.ViewCompat</a:t>
            </a:r>
            <a:r>
              <a:rPr lang="tr-TR" b="1" dirty="0"/>
              <a:t>’: </a:t>
            </a:r>
            <a:r>
              <a:rPr lang="tr-TR" dirty="0" err="1"/>
              <a:t>View</a:t>
            </a:r>
            <a:r>
              <a:rPr lang="tr-TR" dirty="0"/>
              <a:t> ile ilgili yardımcı fonksiyonlar sağlar</a:t>
            </a:r>
            <a:r>
              <a:rPr lang="tr-TR" dirty="0" smtClean="0"/>
              <a:t>.</a:t>
            </a:r>
          </a:p>
          <a:p>
            <a:pPr algn="just"/>
            <a:r>
              <a:rPr lang="tr-TR" b="1" dirty="0"/>
              <a:t>‘</a:t>
            </a:r>
            <a:r>
              <a:rPr lang="tr-TR" b="1" dirty="0" err="1"/>
              <a:t>import</a:t>
            </a:r>
            <a:r>
              <a:rPr lang="tr-TR" b="1" dirty="0"/>
              <a:t> </a:t>
            </a:r>
            <a:r>
              <a:rPr lang="tr-TR" b="1" dirty="0" err="1" smtClean="0"/>
              <a:t>androidx.core.view.WindowInsetsCompat</a:t>
            </a:r>
            <a:r>
              <a:rPr lang="tr-TR" b="1" dirty="0"/>
              <a:t>’: </a:t>
            </a:r>
            <a:r>
              <a:rPr lang="tr-TR" dirty="0"/>
              <a:t>Pencere için kenar boşluklarını yönetir.</a:t>
            </a:r>
            <a:endParaRPr lang="tr-TR" dirty="0" smtClean="0"/>
          </a:p>
          <a:p>
            <a:pPr marL="109728" indent="0" algn="just">
              <a:buNone/>
            </a:pPr>
            <a:endParaRPr lang="tr-TR" b="1" dirty="0"/>
          </a:p>
          <a:p>
            <a:pPr marL="109728" indent="0" algn="just">
              <a:buNone/>
            </a:pPr>
            <a:endParaRPr lang="tr-TR" b="1" dirty="0" smtClean="0"/>
          </a:p>
          <a:p>
            <a:pPr marL="109728" indent="0" algn="just">
              <a:buNone/>
            </a:pPr>
            <a:endParaRPr lang="tr-TR" b="1" dirty="0"/>
          </a:p>
          <a:p>
            <a:pPr marL="109728" indent="0" algn="just">
              <a:buNone/>
            </a:pPr>
            <a:endParaRPr lang="tr-TR" b="1" dirty="0" smtClean="0"/>
          </a:p>
          <a:p>
            <a:pPr algn="just"/>
            <a:endParaRPr lang="tr-TR" dirty="0" smtClean="0"/>
          </a:p>
          <a:p>
            <a:pPr algn="just"/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2552102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VARSAYILAN KOD AÇIKLAMASI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algn="just">
              <a:buNone/>
            </a:pPr>
            <a:endParaRPr lang="tr-TR" sz="3600" b="1" dirty="0" smtClean="0"/>
          </a:p>
          <a:p>
            <a:pPr algn="just"/>
            <a:r>
              <a:rPr lang="tr-TR" b="1" dirty="0"/>
              <a:t>Açıklama: </a:t>
            </a:r>
            <a:r>
              <a:rPr lang="tr-TR" dirty="0" err="1"/>
              <a:t>MainActivity</a:t>
            </a:r>
            <a:r>
              <a:rPr lang="tr-TR" dirty="0"/>
              <a:t> adında bir sınıf tanımlanıyor ve bu sınıf </a:t>
            </a:r>
            <a:r>
              <a:rPr lang="tr-TR" dirty="0" err="1"/>
              <a:t>AppCompatActivity</a:t>
            </a:r>
            <a:r>
              <a:rPr lang="tr-TR" dirty="0"/>
              <a:t> sınıfından türetiliyor. Bu, </a:t>
            </a:r>
            <a:r>
              <a:rPr lang="tr-TR" dirty="0" err="1"/>
              <a:t>MainActivity'nin</a:t>
            </a:r>
            <a:r>
              <a:rPr lang="tr-TR" dirty="0"/>
              <a:t> bir </a:t>
            </a:r>
            <a:r>
              <a:rPr lang="tr-TR" dirty="0" err="1"/>
              <a:t>Android</a:t>
            </a:r>
            <a:r>
              <a:rPr lang="tr-TR" dirty="0"/>
              <a:t> Activity olduğunu gösterir.</a:t>
            </a:r>
          </a:p>
          <a:p>
            <a:pPr marL="109728" indent="0" algn="just">
              <a:buNone/>
            </a:pPr>
            <a:endParaRPr lang="tr-TR" sz="3600" b="1" dirty="0" smtClean="0"/>
          </a:p>
          <a:p>
            <a:pPr algn="just"/>
            <a:endParaRPr lang="tr-TR" sz="3600" dirty="0" smtClean="0"/>
          </a:p>
          <a:p>
            <a:pPr algn="just"/>
            <a:endParaRPr lang="tr-TR" sz="3600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9600" y="2209800"/>
            <a:ext cx="10972800" cy="64633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MainActivity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: 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AppCompatActivity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{</a:t>
            </a:r>
            <a:endParaRPr kumimoji="0" lang="tr-TR" altLang="tr-T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520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VARSAYILAN KOD AÇIKLAMASI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algn="just">
              <a:buNone/>
            </a:pPr>
            <a:endParaRPr lang="tr-TR" sz="3600" b="1" dirty="0" smtClean="0"/>
          </a:p>
          <a:p>
            <a:pPr algn="just"/>
            <a:r>
              <a:rPr lang="tr-TR" b="1" dirty="0"/>
              <a:t>Açıklama: </a:t>
            </a:r>
            <a:r>
              <a:rPr lang="tr-TR" dirty="0" err="1"/>
              <a:t>onCreate</a:t>
            </a:r>
            <a:r>
              <a:rPr lang="tr-TR" dirty="0"/>
              <a:t> metodu, Activity oluşturulduğunda çağrılır. Bu metot, </a:t>
            </a:r>
            <a:r>
              <a:rPr lang="tr-TR" dirty="0" err="1"/>
              <a:t>Activity'nin</a:t>
            </a:r>
            <a:r>
              <a:rPr lang="tr-TR" dirty="0"/>
              <a:t> başlatılması ve ilk ayarların yapılması için kullanılır. </a:t>
            </a:r>
            <a:r>
              <a:rPr lang="tr-TR" dirty="0" err="1"/>
              <a:t>savedInstanceState</a:t>
            </a:r>
            <a:r>
              <a:rPr lang="tr-TR" dirty="0"/>
              <a:t> parametresi, </a:t>
            </a:r>
            <a:r>
              <a:rPr lang="tr-TR" dirty="0" err="1"/>
              <a:t>Activity'nin</a:t>
            </a:r>
            <a:r>
              <a:rPr lang="tr-TR" dirty="0"/>
              <a:t> önceki durumunu geri yüklemek için kullanılır.</a:t>
            </a:r>
            <a:endParaRPr lang="tr-TR" dirty="0" smtClean="0"/>
          </a:p>
          <a:p>
            <a:pPr algn="just"/>
            <a:endParaRPr lang="tr-TR" sz="3600" dirty="0" smtClean="0"/>
          </a:p>
          <a:p>
            <a:pPr algn="just"/>
            <a:endParaRPr lang="tr-TR" sz="3600" dirty="0" smtClean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09600" y="2209800"/>
            <a:ext cx="11238974" cy="64633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override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fun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onCreate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savedInstanceState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 Bundle?) {</a:t>
            </a:r>
            <a:endParaRPr kumimoji="0" lang="tr-TR" altLang="tr-T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62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VARSAYILAN KOD AÇIKLAMASI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algn="just">
              <a:buNone/>
            </a:pPr>
            <a:endParaRPr lang="tr-TR" sz="3600" dirty="0" smtClean="0"/>
          </a:p>
          <a:p>
            <a:pPr algn="just"/>
            <a:r>
              <a:rPr lang="tr-TR" b="1" dirty="0"/>
              <a:t>Açıklama: </a:t>
            </a:r>
            <a:r>
              <a:rPr lang="tr-TR" dirty="0" err="1"/>
              <a:t>super.onCreate</a:t>
            </a:r>
            <a:r>
              <a:rPr lang="tr-TR" dirty="0"/>
              <a:t>(</a:t>
            </a:r>
            <a:r>
              <a:rPr lang="tr-TR" dirty="0" err="1"/>
              <a:t>savedInstanceState</a:t>
            </a:r>
            <a:r>
              <a:rPr lang="tr-TR" dirty="0"/>
              <a:t>) çağrısı, </a:t>
            </a:r>
            <a:r>
              <a:rPr lang="tr-TR" dirty="0" err="1"/>
              <a:t>AppCompatActivity</a:t>
            </a:r>
            <a:r>
              <a:rPr lang="tr-TR" dirty="0"/>
              <a:t> sınıfının </a:t>
            </a:r>
            <a:r>
              <a:rPr lang="tr-TR" dirty="0" err="1"/>
              <a:t>onCreate</a:t>
            </a:r>
            <a:r>
              <a:rPr lang="tr-TR" dirty="0"/>
              <a:t> metodunu çağırır. Bu, üst sınıfın işlemlerini yapmasını sağlar.</a:t>
            </a:r>
            <a:endParaRPr lang="tr-TR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9600" y="2248038"/>
            <a:ext cx="10972800" cy="64633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super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.onCreate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savedInstanceState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endParaRPr kumimoji="0" lang="tr-TR" altLang="tr-T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33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VARSAYILAN KOD AÇIKLAMASI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algn="just">
              <a:buNone/>
            </a:pPr>
            <a:endParaRPr lang="tr-TR" sz="3600" b="1" dirty="0" smtClean="0"/>
          </a:p>
          <a:p>
            <a:pPr algn="just"/>
            <a:r>
              <a:rPr lang="tr-TR" b="1" dirty="0"/>
              <a:t>Açıklama: </a:t>
            </a:r>
            <a:r>
              <a:rPr lang="tr-TR" dirty="0" err="1"/>
              <a:t>enableEdgeToEdge</a:t>
            </a:r>
            <a:r>
              <a:rPr lang="tr-TR" dirty="0"/>
              <a:t>() metodu, </a:t>
            </a:r>
            <a:r>
              <a:rPr lang="tr-TR" dirty="0" err="1"/>
              <a:t>Activity'nin</a:t>
            </a:r>
            <a:r>
              <a:rPr lang="tr-TR" dirty="0"/>
              <a:t> ekranın kenarlarına kadar uzanmasını sağlar. Bu, özellikle modern </a:t>
            </a:r>
            <a:r>
              <a:rPr lang="tr-TR" dirty="0" err="1"/>
              <a:t>Android</a:t>
            </a:r>
            <a:r>
              <a:rPr lang="tr-TR" dirty="0"/>
              <a:t> cihazlarda kullanılan bir özelliktir.</a:t>
            </a:r>
            <a:endParaRPr lang="tr-TR" dirty="0" smtClean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09600" y="2209800"/>
            <a:ext cx="10972800" cy="64633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600" b="0" i="1" u="none" strike="noStrike" cap="none" normalizeH="0" baseline="0" dirty="0" err="1" smtClean="0">
                <a:ln>
                  <a:noFill/>
                </a:ln>
                <a:solidFill>
                  <a:srgbClr val="57AAF7"/>
                </a:solidFill>
                <a:effectLst/>
                <a:latin typeface="JetBrains Mono"/>
              </a:rPr>
              <a:t>enableEdgeToEdge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</a:t>
            </a:r>
            <a:endParaRPr kumimoji="0" lang="tr-TR" altLang="tr-T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34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VARSAYILAN KOD AÇIKLAMASI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algn="just">
              <a:buNone/>
            </a:pPr>
            <a:endParaRPr lang="tr-TR" sz="3600" b="1" dirty="0" smtClean="0"/>
          </a:p>
          <a:p>
            <a:pPr algn="just"/>
            <a:r>
              <a:rPr lang="tr-TR" b="1" dirty="0"/>
              <a:t>Açıklama: </a:t>
            </a:r>
            <a:r>
              <a:rPr lang="tr-TR" dirty="0" err="1"/>
              <a:t>setContentView</a:t>
            </a:r>
            <a:r>
              <a:rPr lang="tr-TR" dirty="0"/>
              <a:t>(</a:t>
            </a:r>
            <a:r>
              <a:rPr lang="tr-TR" dirty="0" err="1"/>
              <a:t>R.layout.activity_main</a:t>
            </a:r>
            <a:r>
              <a:rPr lang="tr-TR" dirty="0"/>
              <a:t>) metodu, </a:t>
            </a:r>
            <a:r>
              <a:rPr lang="tr-TR" dirty="0" err="1"/>
              <a:t>Activity'nin</a:t>
            </a:r>
            <a:r>
              <a:rPr lang="tr-TR" dirty="0"/>
              <a:t> </a:t>
            </a:r>
            <a:r>
              <a:rPr lang="tr-TR" dirty="0" err="1"/>
              <a:t>arayüzünü</a:t>
            </a:r>
            <a:r>
              <a:rPr lang="tr-TR" dirty="0"/>
              <a:t> belirler. Burada </a:t>
            </a:r>
            <a:r>
              <a:rPr lang="tr-TR" dirty="0" err="1"/>
              <a:t>activity_main</a:t>
            </a:r>
            <a:r>
              <a:rPr lang="tr-TR" dirty="0"/>
              <a:t> adında bir </a:t>
            </a:r>
            <a:r>
              <a:rPr lang="tr-TR" dirty="0" err="1"/>
              <a:t>layout</a:t>
            </a:r>
            <a:r>
              <a:rPr lang="tr-TR" dirty="0"/>
              <a:t> dosyası kullanılıyor. Bu dosya, </a:t>
            </a:r>
            <a:r>
              <a:rPr lang="tr-TR" dirty="0" err="1"/>
              <a:t>Activity'nin</a:t>
            </a:r>
            <a:r>
              <a:rPr lang="tr-TR" dirty="0"/>
              <a:t> görünümünü tanımlar.</a:t>
            </a:r>
            <a:endParaRPr lang="tr-TR" dirty="0" smtClean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09600" y="2249424"/>
            <a:ext cx="10972800" cy="64633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setContentView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R.layout.</a:t>
            </a:r>
            <a:r>
              <a:rPr kumimoji="0" lang="tr-TR" altLang="tr-TR" sz="3600" b="0" i="1" u="none" strike="noStrike" cap="none" normalizeH="0" baseline="0" dirty="0" err="1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activity_main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endParaRPr kumimoji="0" lang="tr-TR" altLang="tr-T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49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VARSAYILAN KOD AÇIKLAMASI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endParaRPr lang="tr-TR" sz="3600" b="1" dirty="0" smtClean="0"/>
          </a:p>
          <a:p>
            <a:pPr algn="just"/>
            <a:r>
              <a:rPr lang="tr-TR" b="1" dirty="0"/>
              <a:t>Açıklama: </a:t>
            </a:r>
            <a:r>
              <a:rPr lang="tr-TR" dirty="0"/>
              <a:t>Bu satır, </a:t>
            </a:r>
            <a:r>
              <a:rPr lang="tr-TR" dirty="0" err="1"/>
              <a:t>ViewCompat.setOnApplyWindowInsetsListener</a:t>
            </a:r>
            <a:r>
              <a:rPr lang="tr-TR" dirty="0"/>
              <a:t> metodunu kullanarak, belirli bir </a:t>
            </a:r>
            <a:r>
              <a:rPr lang="tr-TR" dirty="0" err="1"/>
              <a:t>View'a</a:t>
            </a:r>
            <a:r>
              <a:rPr lang="tr-TR" dirty="0"/>
              <a:t> (</a:t>
            </a:r>
            <a:r>
              <a:rPr lang="tr-TR" dirty="0" err="1"/>
              <a:t>findViewById</a:t>
            </a:r>
            <a:r>
              <a:rPr lang="tr-TR" dirty="0"/>
              <a:t>(</a:t>
            </a:r>
            <a:r>
              <a:rPr lang="tr-TR" dirty="0" err="1"/>
              <a:t>R.id.main</a:t>
            </a:r>
            <a:r>
              <a:rPr lang="tr-TR" dirty="0"/>
              <a:t>)) pencere kenar boşluklarını (</a:t>
            </a:r>
            <a:r>
              <a:rPr lang="tr-TR" dirty="0" err="1"/>
              <a:t>insets</a:t>
            </a:r>
            <a:r>
              <a:rPr lang="tr-TR" dirty="0"/>
              <a:t>) uygulamak için bir dinleyici ekler. v parametresi, dinleyicinin uygulandığı </a:t>
            </a:r>
            <a:r>
              <a:rPr lang="tr-TR" dirty="0" err="1"/>
              <a:t>View'ı</a:t>
            </a:r>
            <a:r>
              <a:rPr lang="tr-TR" dirty="0"/>
              <a:t> temsil eder. </a:t>
            </a:r>
            <a:r>
              <a:rPr lang="tr-TR" dirty="0" err="1"/>
              <a:t>insets</a:t>
            </a:r>
            <a:r>
              <a:rPr lang="tr-TR" dirty="0"/>
              <a:t> parametresi, pencere kenar boşluklarını temsil eder.</a:t>
            </a:r>
            <a:endParaRPr lang="tr-TR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9600" y="2249424"/>
            <a:ext cx="10972800" cy="43088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2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ViewCompat.setOnApplyWindowInsetsListener</a:t>
            </a:r>
            <a:r>
              <a:rPr kumimoji="0" lang="tr-TR" altLang="tr-TR" sz="22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2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findViewById</a:t>
            </a:r>
            <a:r>
              <a:rPr kumimoji="0" lang="tr-TR" altLang="tr-TR" sz="22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2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R.id.</a:t>
            </a:r>
            <a:r>
              <a:rPr kumimoji="0" lang="tr-TR" altLang="tr-TR" sz="2200" b="0" i="1" u="none" strike="noStrike" cap="none" normalizeH="0" baseline="0" dirty="0" err="1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main</a:t>
            </a:r>
            <a:r>
              <a:rPr kumimoji="0" lang="tr-TR" altLang="tr-TR" sz="22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 </a:t>
            </a:r>
            <a:r>
              <a:rPr kumimoji="0" lang="tr-TR" altLang="tr-TR" sz="2200" b="1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{ </a:t>
            </a:r>
            <a:r>
              <a:rPr kumimoji="0" lang="tr-TR" altLang="tr-TR" sz="22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v, </a:t>
            </a:r>
            <a:r>
              <a:rPr kumimoji="0" lang="tr-TR" altLang="tr-TR" sz="22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insets</a:t>
            </a:r>
            <a:r>
              <a:rPr kumimoji="0" lang="tr-TR" altLang="tr-TR" sz="22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kumimoji="0" lang="tr-TR" altLang="tr-TR" sz="2200" b="1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-&gt;</a:t>
            </a:r>
            <a:endParaRPr kumimoji="0" lang="tr-TR" altLang="tr-T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65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VARSAYILAN KOD AÇIKLAMASI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endParaRPr lang="tr-TR" sz="3600" b="1" dirty="0" smtClean="0"/>
          </a:p>
          <a:p>
            <a:pPr algn="just"/>
            <a:r>
              <a:rPr lang="tr-TR" b="1" dirty="0"/>
              <a:t>Açıklama: </a:t>
            </a:r>
            <a:r>
              <a:rPr lang="tr-TR" dirty="0" err="1"/>
              <a:t>systemBars</a:t>
            </a:r>
            <a:r>
              <a:rPr lang="tr-TR" dirty="0"/>
              <a:t> değişkeni, pencere kenar boşluklarından sistem çubuklarının (</a:t>
            </a:r>
            <a:r>
              <a:rPr lang="tr-TR" dirty="0" err="1"/>
              <a:t>status</a:t>
            </a:r>
            <a:r>
              <a:rPr lang="tr-TR" dirty="0"/>
              <a:t> bar, </a:t>
            </a:r>
            <a:r>
              <a:rPr lang="tr-TR" dirty="0" err="1"/>
              <a:t>navigation</a:t>
            </a:r>
            <a:r>
              <a:rPr lang="tr-TR" dirty="0"/>
              <a:t> bar) boşluklarını alır.</a:t>
            </a:r>
            <a:endParaRPr lang="tr-TR" dirty="0" smtClean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09600" y="2209800"/>
            <a:ext cx="10675620" cy="46166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val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systemBars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insets.getInsets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WindowInsetsCompat.Type.systemBars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12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VARSAYILAN KOD AÇIKLAMASI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endParaRPr lang="tr-TR" sz="3600" b="1" dirty="0" smtClean="0"/>
          </a:p>
          <a:p>
            <a:pPr algn="just"/>
            <a:r>
              <a:rPr lang="tr-TR" b="1" dirty="0"/>
              <a:t>Açıklama: </a:t>
            </a:r>
            <a:r>
              <a:rPr lang="tr-TR" dirty="0"/>
              <a:t>Bu satır, </a:t>
            </a:r>
            <a:r>
              <a:rPr lang="tr-TR" dirty="0" err="1"/>
              <a:t>View'ın</a:t>
            </a:r>
            <a:r>
              <a:rPr lang="tr-TR" dirty="0"/>
              <a:t> </a:t>
            </a:r>
            <a:r>
              <a:rPr lang="tr-TR" dirty="0" err="1"/>
              <a:t>padding'ini</a:t>
            </a:r>
            <a:r>
              <a:rPr lang="tr-TR" dirty="0"/>
              <a:t> sistem çubuklarının boşluklarına göre ayarlar. Bu sayede, </a:t>
            </a:r>
            <a:r>
              <a:rPr lang="tr-TR" dirty="0" err="1"/>
              <a:t>View</a:t>
            </a:r>
            <a:r>
              <a:rPr lang="tr-TR" dirty="0"/>
              <a:t>, sistem çubuklarının üzerine çıkmadan doğru şekilde konumlanır.</a:t>
            </a:r>
            <a:endParaRPr lang="tr-TR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9600" y="2249424"/>
            <a:ext cx="9855775" cy="40011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v.setPadding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systemBars.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left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systemBars.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top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systemBars.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right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systemBars.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bottom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139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VARSAYILAN KOD AÇIKLAMASI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endParaRPr lang="tr-TR" sz="3600" b="1" dirty="0" smtClean="0"/>
          </a:p>
          <a:p>
            <a:pPr algn="just"/>
            <a:r>
              <a:rPr lang="tr-TR" b="1" dirty="0"/>
              <a:t>Açıklama: </a:t>
            </a:r>
            <a:r>
              <a:rPr lang="tr-TR" dirty="0"/>
              <a:t>Bu satır, </a:t>
            </a:r>
            <a:r>
              <a:rPr lang="tr-TR" dirty="0" err="1"/>
              <a:t>insets</a:t>
            </a:r>
            <a:r>
              <a:rPr lang="tr-TR" dirty="0"/>
              <a:t> nesnesini döndürerek, diğer dinleyicilerin de bu kenar boşluklarını kullanmasını sağlar.</a:t>
            </a:r>
            <a:endParaRPr lang="tr-TR" dirty="0" smtClean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09600" y="2209800"/>
            <a:ext cx="1390124" cy="64633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6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insets</a:t>
            </a:r>
            <a:endParaRPr kumimoji="0" lang="tr-TR" altLang="tr-TR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62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1363</TotalTime>
  <Words>934</Words>
  <Application>Microsoft Office PowerPoint</Application>
  <PresentationFormat>Geniş ekran</PresentationFormat>
  <Paragraphs>101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9" baseType="lpstr">
      <vt:lpstr>Arial</vt:lpstr>
      <vt:lpstr>Calibri</vt:lpstr>
      <vt:lpstr>Georgia</vt:lpstr>
      <vt:lpstr>JetBrains Mono</vt:lpstr>
      <vt:lpstr>Wingdings 2</vt:lpstr>
      <vt:lpstr>Eğitim sunusu</vt:lpstr>
      <vt:lpstr>Mobil Uygulama Geliştirme</vt:lpstr>
      <vt:lpstr>VARSAYILAN KOD AÇIKLAMASI</vt:lpstr>
      <vt:lpstr>VARSAYILAN KOD AÇIKLAMASI</vt:lpstr>
      <vt:lpstr>VARSAYILAN KOD AÇIKLAMASI</vt:lpstr>
      <vt:lpstr>VARSAYILAN KOD AÇIKLAMASI</vt:lpstr>
      <vt:lpstr>VARSAYILAN KOD AÇIKLAMASI</vt:lpstr>
      <vt:lpstr>VARSAYILAN KOD AÇIKLAMASI</vt:lpstr>
      <vt:lpstr>VARSAYILAN KOD AÇIKLAMASI</vt:lpstr>
      <vt:lpstr>VARSAYILAN KOD AÇIKLAMASI</vt:lpstr>
      <vt:lpstr>VARSAYILAN KOD AÇIKLAMASI</vt:lpstr>
      <vt:lpstr>VARSAYILAN KOD AÇIKLAMASI</vt:lpstr>
      <vt:lpstr>VARSAYILAN KOD AÇIKLAMASI</vt:lpstr>
      <vt:lpstr>VARSAYILAN KOD AÇIKLAMASI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</cp:lastModifiedBy>
  <cp:revision>200</cp:revision>
  <dcterms:created xsi:type="dcterms:W3CDTF">2023-12-09T09:03:26Z</dcterms:created>
  <dcterms:modified xsi:type="dcterms:W3CDTF">2024-09-20T12:49:47Z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