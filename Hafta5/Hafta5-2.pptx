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handoutMasterIdLst>
    <p:handoutMasterId r:id="rId21"/>
  </p:handoutMasterIdLst>
  <p:sldIdLst>
    <p:sldId id="257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9911" autoAdjust="0"/>
  </p:normalViewPr>
  <p:slideViewPr>
    <p:cSldViewPr snapToGrid="0">
      <p:cViewPr varScale="1">
        <p:scale>
          <a:sx n="87" d="100"/>
          <a:sy n="87" d="100"/>
        </p:scale>
        <p:origin x="480" y="58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22.09.2024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22.09.2024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5640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53640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94288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96982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03113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612058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44380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92122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680162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14704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62764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13231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331185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98906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9478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34316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85424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22.09.2024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22.09.2024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22.09.2024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22.09.2024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22.09.2024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22.09.2024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22.09.2024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22.09.2024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22.09.2024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22.09.2024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22.09.2024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22.09.2024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Mobil Uygulama Geliştirme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Bir görünüme kod ile erişmek için aşağıdaki kod kullanılabilir.</a:t>
            </a:r>
          </a:p>
          <a:p>
            <a:pPr marL="109728" indent="0" algn="just">
              <a:buNone/>
            </a:pPr>
            <a:endParaRPr lang="tr-TR" dirty="0" smtClean="0"/>
          </a:p>
          <a:p>
            <a:pPr algn="just"/>
            <a:r>
              <a:rPr lang="tr-TR" dirty="0" smtClean="0"/>
              <a:t>Burada </a:t>
            </a:r>
            <a:r>
              <a:rPr lang="tr-TR" dirty="0" err="1" smtClean="0"/>
              <a:t>findViewById</a:t>
            </a:r>
            <a:r>
              <a:rPr lang="tr-TR" dirty="0" smtClean="0"/>
              <a:t> metodu ile </a:t>
            </a:r>
            <a:r>
              <a:rPr lang="tr-TR" dirty="0" err="1" smtClean="0"/>
              <a:t>TextView</a:t>
            </a:r>
            <a:r>
              <a:rPr lang="tr-TR" dirty="0" smtClean="0"/>
              <a:t> </a:t>
            </a:r>
            <a:r>
              <a:rPr lang="tr-TR" dirty="0" err="1" smtClean="0"/>
              <a:t>classı</a:t>
            </a:r>
            <a:r>
              <a:rPr lang="tr-TR" dirty="0" smtClean="0"/>
              <a:t> tipinde bir veriye erişileceği belirtilir. Parametre olarak ise </a:t>
            </a:r>
            <a:r>
              <a:rPr lang="tr-TR" dirty="0" err="1" smtClean="0"/>
              <a:t>Resources</a:t>
            </a:r>
            <a:r>
              <a:rPr lang="tr-TR" dirty="0" smtClean="0"/>
              <a:t> altındaki </a:t>
            </a:r>
            <a:r>
              <a:rPr lang="tr-TR" dirty="0" err="1" smtClean="0"/>
              <a:t>id</a:t>
            </a:r>
            <a:r>
              <a:rPr lang="tr-TR" dirty="0" smtClean="0"/>
              <a:t> değerinden textView4 görünümü verilmiştir.</a:t>
            </a:r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662784" y="2793721"/>
            <a:ext cx="6866431" cy="46166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val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txt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findViewById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&lt;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TextView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&gt;(R.id.</a:t>
            </a:r>
            <a:r>
              <a:rPr kumimoji="0" lang="tr-TR" altLang="tr-TR" sz="2400" b="0" i="1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textView4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26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pic>
        <p:nvPicPr>
          <p:cNvPr id="6" name="İçerik Yer Tutucusu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2595259"/>
            <a:ext cx="10972800" cy="363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87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Bu erişim işleminden sonra kod ile istenilen </a:t>
            </a:r>
            <a:r>
              <a:rPr lang="tr-TR" dirty="0" err="1" smtClean="0"/>
              <a:t>attribute</a:t>
            </a:r>
            <a:r>
              <a:rPr lang="tr-TR" dirty="0" smtClean="0"/>
              <a:t> değiştirilebilir.</a:t>
            </a:r>
          </a:p>
          <a:p>
            <a:pPr marL="109728" indent="0" algn="just">
              <a:buNone/>
            </a:pPr>
            <a:endParaRPr lang="tr-TR" dirty="0" smtClean="0"/>
          </a:p>
          <a:p>
            <a:pPr marL="109728" indent="0" algn="just">
              <a:buNone/>
            </a:pPr>
            <a:endParaRPr lang="tr-TR" dirty="0"/>
          </a:p>
          <a:p>
            <a:pPr marL="109728" indent="0" algn="just">
              <a:buNone/>
            </a:pPr>
            <a:endParaRPr lang="tr-TR" dirty="0" smtClean="0"/>
          </a:p>
          <a:p>
            <a:pPr algn="just"/>
            <a:r>
              <a:rPr lang="tr-TR" dirty="0" smtClean="0"/>
              <a:t>Bu durumda kod çalıştırıldıktan sonra ‘Merhaba Dünya’ yazısı ‘Selam’ olarak değişecektir.</a:t>
            </a:r>
            <a:endParaRPr lang="tr-TR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662784" y="2802487"/>
            <a:ext cx="6866431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val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txt = findViewById&lt;TextView&gt;(R.id.</a:t>
            </a:r>
            <a:r>
              <a:rPr kumimoji="0" lang="tr-TR" altLang="tr-TR" sz="2400" b="0" i="1" u="none" strike="noStrike" cap="none" normalizeH="0" baseline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textView4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txt.</a:t>
            </a:r>
            <a:r>
              <a:rPr kumimoji="0" lang="tr-TR" altLang="tr-TR" sz="2400" b="0" i="1" u="none" strike="noStrike" cap="none" normalizeH="0" baseline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text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"Selam"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383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59897" y="2249488"/>
            <a:ext cx="387220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41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err="1" smtClean="0"/>
              <a:t>findViewById</a:t>
            </a:r>
            <a:r>
              <a:rPr lang="tr-TR" dirty="0" smtClean="0"/>
              <a:t> pek çok durumda kullanılabilse ve verimli olsa da çok büyük eksikliklere sahiptir. Özellikle optimizasyon tarafında aranan </a:t>
            </a:r>
            <a:r>
              <a:rPr lang="tr-TR" dirty="0" err="1" smtClean="0"/>
              <a:t>id’ye</a:t>
            </a:r>
            <a:r>
              <a:rPr lang="tr-TR" dirty="0" smtClean="0"/>
              <a:t> sahip görünümü bulmak için ekranda bulunan bütün görünümleri gezer. Büyük uygulamalarda yüzlerce görünüm olabileceği için bu durum büyük performans kayıplarına neden olmaktadır. Bunun önüne geçmek için </a:t>
            </a:r>
            <a:r>
              <a:rPr lang="tr-TR" dirty="0" err="1" smtClean="0"/>
              <a:t>herbir</a:t>
            </a:r>
            <a:r>
              <a:rPr lang="tr-TR" dirty="0" smtClean="0"/>
              <a:t> görünüme sabit </a:t>
            </a:r>
            <a:r>
              <a:rPr lang="tr-TR" dirty="0" err="1" smtClean="0"/>
              <a:t>classlar</a:t>
            </a:r>
            <a:r>
              <a:rPr lang="tr-TR" dirty="0" smtClean="0"/>
              <a:t> ile erişen </a:t>
            </a:r>
            <a:r>
              <a:rPr lang="tr-TR" dirty="0" err="1" smtClean="0"/>
              <a:t>View</a:t>
            </a:r>
            <a:r>
              <a:rPr lang="tr-TR" dirty="0" smtClean="0"/>
              <a:t> </a:t>
            </a:r>
            <a:r>
              <a:rPr lang="tr-TR" dirty="0" err="1" smtClean="0"/>
              <a:t>Binding</a:t>
            </a:r>
            <a:r>
              <a:rPr lang="tr-TR" dirty="0" smtClean="0"/>
              <a:t> yöntemi kullanılabilir.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378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err="1" smtClean="0"/>
              <a:t>View</a:t>
            </a:r>
            <a:r>
              <a:rPr lang="tr-TR" dirty="0" smtClean="0"/>
              <a:t> </a:t>
            </a:r>
            <a:r>
              <a:rPr lang="tr-TR" dirty="0" err="1" smtClean="0"/>
              <a:t>Binding</a:t>
            </a:r>
            <a:r>
              <a:rPr lang="tr-TR" dirty="0" smtClean="0"/>
              <a:t> kullanabilmek için bazı ayarlar yapılmalıdır. Uygulama klasörlerinde </a:t>
            </a:r>
            <a:r>
              <a:rPr lang="tr-TR" dirty="0" err="1" smtClean="0"/>
              <a:t>Gradle</a:t>
            </a:r>
            <a:r>
              <a:rPr lang="tr-TR" dirty="0" smtClean="0"/>
              <a:t> </a:t>
            </a:r>
            <a:r>
              <a:rPr lang="tr-TR" dirty="0" err="1" smtClean="0"/>
              <a:t>Scripts</a:t>
            </a:r>
            <a:r>
              <a:rPr lang="tr-TR" dirty="0" smtClean="0"/>
              <a:t> -&gt; </a:t>
            </a:r>
            <a:r>
              <a:rPr lang="tr-TR" dirty="0" err="1" smtClean="0"/>
              <a:t>build.gradle.kts</a:t>
            </a:r>
            <a:r>
              <a:rPr lang="tr-TR" dirty="0" smtClean="0"/>
              <a:t> yolu izlenerek bu .</a:t>
            </a:r>
            <a:r>
              <a:rPr lang="tr-TR" dirty="0" err="1" smtClean="0"/>
              <a:t>kts</a:t>
            </a:r>
            <a:r>
              <a:rPr lang="tr-TR" dirty="0" smtClean="0"/>
              <a:t> dosyası açılarak burada </a:t>
            </a:r>
            <a:r>
              <a:rPr lang="tr-TR" dirty="0" err="1" smtClean="0"/>
              <a:t>android</a:t>
            </a:r>
            <a:r>
              <a:rPr lang="tr-TR" dirty="0" smtClean="0"/>
              <a:t> bloğu altına aşağıdaki kod eklenmelidir.</a:t>
            </a:r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691495" y="4025874"/>
            <a:ext cx="4809009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buildFeatures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{</a:t>
            </a:r>
            <a:b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       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viewBinding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/>
            </a:r>
            <a:b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   }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tr-TR" altLang="tr-T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712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Son durumda şu şekilde olmaktadır. Üstte çıkan mavi uyarıda </a:t>
            </a:r>
            <a:r>
              <a:rPr lang="tr-TR" dirty="0" err="1" smtClean="0"/>
              <a:t>Sync</a:t>
            </a:r>
            <a:r>
              <a:rPr lang="tr-TR" dirty="0" smtClean="0"/>
              <a:t> </a:t>
            </a:r>
            <a:r>
              <a:rPr lang="tr-TR" dirty="0" err="1" smtClean="0"/>
              <a:t>Now</a:t>
            </a:r>
            <a:r>
              <a:rPr lang="tr-TR" dirty="0" smtClean="0"/>
              <a:t> tıklanmalıdır.</a:t>
            </a:r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391" y="3334536"/>
            <a:ext cx="8679218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17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err="1" smtClean="0"/>
              <a:t>View</a:t>
            </a:r>
            <a:r>
              <a:rPr lang="tr-TR" dirty="0" smtClean="0"/>
              <a:t> </a:t>
            </a:r>
            <a:r>
              <a:rPr lang="tr-TR" dirty="0" err="1" smtClean="0"/>
              <a:t>Bindingi</a:t>
            </a:r>
            <a:r>
              <a:rPr lang="tr-TR" dirty="0" smtClean="0"/>
              <a:t> aktif etmek için </a:t>
            </a:r>
            <a:r>
              <a:rPr lang="tr-TR" dirty="0" err="1" smtClean="0"/>
              <a:t>MainActivity.kt</a:t>
            </a:r>
            <a:r>
              <a:rPr lang="tr-TR" dirty="0" smtClean="0"/>
              <a:t> dosyasında da bazı düzenlemeler yapılmalıdır. </a:t>
            </a:r>
            <a:r>
              <a:rPr lang="tr-TR" dirty="0" err="1" smtClean="0"/>
              <a:t>MainActivity</a:t>
            </a:r>
            <a:r>
              <a:rPr lang="tr-TR" dirty="0" smtClean="0"/>
              <a:t> </a:t>
            </a:r>
            <a:r>
              <a:rPr lang="tr-TR" dirty="0" err="1" smtClean="0"/>
              <a:t>classı</a:t>
            </a:r>
            <a:r>
              <a:rPr lang="tr-TR" dirty="0" smtClean="0"/>
              <a:t> içinde ama </a:t>
            </a:r>
            <a:r>
              <a:rPr lang="tr-TR" dirty="0" err="1" smtClean="0"/>
              <a:t>onCreate</a:t>
            </a:r>
            <a:r>
              <a:rPr lang="tr-TR" dirty="0" smtClean="0"/>
              <a:t> fonksiyonunun dışında aşağıdaki değişken tanımlaması yapılmalıdır.</a:t>
            </a:r>
          </a:p>
          <a:p>
            <a:pPr algn="just"/>
            <a:endParaRPr lang="tr-TR" dirty="0" smtClean="0"/>
          </a:p>
          <a:p>
            <a:pPr algn="just"/>
            <a:endParaRPr lang="tr-TR" dirty="0"/>
          </a:p>
          <a:p>
            <a:pPr algn="just"/>
            <a:r>
              <a:rPr lang="tr-TR" dirty="0" smtClean="0"/>
              <a:t>Burada </a:t>
            </a:r>
            <a:r>
              <a:rPr lang="tr-TR" dirty="0" err="1" smtClean="0"/>
              <a:t>ActivityMainBinding</a:t>
            </a:r>
            <a:r>
              <a:rPr lang="tr-TR" dirty="0" smtClean="0"/>
              <a:t> ile belirtilen isim XML dosyasına göre oluşturulmaktadır. Eğer farklı bir XML dosyası kullanıyorsanız burada </a:t>
            </a:r>
            <a:r>
              <a:rPr lang="tr-TR" dirty="0" err="1" smtClean="0"/>
              <a:t>binding</a:t>
            </a:r>
            <a:r>
              <a:rPr lang="tr-TR" dirty="0" smtClean="0"/>
              <a:t>: den sonra ‘</a:t>
            </a:r>
            <a:r>
              <a:rPr lang="tr-TR" dirty="0" err="1" smtClean="0"/>
              <a:t>Binding</a:t>
            </a:r>
            <a:r>
              <a:rPr lang="tr-TR" dirty="0" smtClean="0"/>
              <a:t>’ yazarak uygun olanı seçebilirsiniz.</a:t>
            </a:r>
            <a:endParaRPr lang="tr-TR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843827" y="3734499"/>
            <a:ext cx="6504345" cy="46166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private lateinit var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binding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 ActivityMainBinding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24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Daha sonra ise yine </a:t>
            </a:r>
            <a:r>
              <a:rPr lang="tr-TR" dirty="0" err="1" smtClean="0"/>
              <a:t>MainActivity.kt</a:t>
            </a:r>
            <a:r>
              <a:rPr lang="tr-TR" dirty="0" smtClean="0"/>
              <a:t> dosyasında </a:t>
            </a:r>
            <a:r>
              <a:rPr lang="tr-TR" dirty="0" err="1" smtClean="0"/>
              <a:t>onCreate</a:t>
            </a:r>
            <a:r>
              <a:rPr lang="tr-TR" dirty="0" smtClean="0"/>
              <a:t> </a:t>
            </a:r>
            <a:r>
              <a:rPr lang="tr-TR" dirty="0"/>
              <a:t>fonksiyonu içerisinde  </a:t>
            </a:r>
            <a:r>
              <a:rPr lang="tr-TR" dirty="0" err="1"/>
              <a:t>super.onCreate</a:t>
            </a:r>
            <a:r>
              <a:rPr lang="tr-TR" dirty="0"/>
              <a:t>(</a:t>
            </a:r>
            <a:r>
              <a:rPr lang="tr-TR" dirty="0" err="1"/>
              <a:t>savedInstanceState</a:t>
            </a:r>
            <a:r>
              <a:rPr lang="tr-TR" dirty="0" smtClean="0"/>
              <a:t>)’den sonra </a:t>
            </a:r>
            <a:r>
              <a:rPr lang="tr-TR" dirty="0"/>
              <a:t>aşağıdaki </a:t>
            </a:r>
            <a:r>
              <a:rPr lang="tr-TR" dirty="0" smtClean="0"/>
              <a:t>kod yazılmalı ve </a:t>
            </a:r>
            <a:r>
              <a:rPr lang="tr-TR" dirty="0" err="1" smtClean="0"/>
              <a:t>View</a:t>
            </a:r>
            <a:r>
              <a:rPr lang="tr-TR" dirty="0" smtClean="0"/>
              <a:t> </a:t>
            </a:r>
            <a:r>
              <a:rPr lang="tr-TR" dirty="0" err="1" smtClean="0"/>
              <a:t>Binding</a:t>
            </a:r>
            <a:r>
              <a:rPr lang="tr-TR" dirty="0" smtClean="0"/>
              <a:t> aktif edilmelidir. Aşağıdaki yeni </a:t>
            </a:r>
            <a:r>
              <a:rPr lang="tr-TR" dirty="0" err="1" smtClean="0"/>
              <a:t>setContentView</a:t>
            </a:r>
            <a:r>
              <a:rPr lang="tr-TR" dirty="0" smtClean="0"/>
              <a:t> eklendikten sonra </a:t>
            </a:r>
            <a:r>
              <a:rPr lang="tr-TR" b="1" u="sng" dirty="0"/>
              <a:t>ö</a:t>
            </a:r>
            <a:r>
              <a:rPr lang="tr-TR" b="1" u="sng" dirty="0" smtClean="0"/>
              <a:t>nceden kalan </a:t>
            </a:r>
            <a:r>
              <a:rPr lang="tr-TR" b="1" u="sng" dirty="0" err="1" smtClean="0"/>
              <a:t>setContentView</a:t>
            </a:r>
            <a:r>
              <a:rPr lang="tr-TR" b="1" u="sng" dirty="0" smtClean="0"/>
              <a:t> silinmelidir!</a:t>
            </a:r>
          </a:p>
          <a:p>
            <a:pPr algn="just"/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565706" y="4585538"/>
            <a:ext cx="7060587" cy="120032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binding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ActivityMainBinding.inflate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1" u="none" strike="noStrike" cap="none" normalizeH="0" baseline="0" dirty="0" err="1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layoutInflater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val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view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binding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kumimoji="0" lang="tr-TR" altLang="tr-TR" sz="2400" b="0" i="1" u="none" strike="noStrike" cap="none" normalizeH="0" baseline="0" dirty="0" err="1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root</a:t>
            </a:r>
            <a:r>
              <a:rPr kumimoji="0" lang="tr-TR" altLang="tr-TR" sz="2400" b="0" i="1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/>
            </a:r>
            <a:br>
              <a:rPr kumimoji="0" lang="tr-TR" altLang="tr-TR" sz="2400" b="0" i="1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setContentView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view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55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Son durumda </a:t>
            </a:r>
            <a:r>
              <a:rPr lang="tr-TR" dirty="0" err="1" smtClean="0"/>
              <a:t>MainActivity.kt</a:t>
            </a:r>
            <a:r>
              <a:rPr lang="tr-TR" dirty="0" smtClean="0"/>
              <a:t> dosyası şu şekilde olmaktadır.</a:t>
            </a:r>
          </a:p>
          <a:p>
            <a:pPr algn="just"/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637" y="2634655"/>
            <a:ext cx="8382726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58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Daha sonra direk </a:t>
            </a:r>
            <a:r>
              <a:rPr lang="tr-TR" dirty="0" err="1" smtClean="0"/>
              <a:t>binding</a:t>
            </a:r>
            <a:r>
              <a:rPr lang="tr-TR" dirty="0" smtClean="0"/>
              <a:t> referansı üzerinden </a:t>
            </a:r>
            <a:r>
              <a:rPr lang="tr-TR" dirty="0" err="1" smtClean="0"/>
              <a:t>herbir</a:t>
            </a:r>
            <a:r>
              <a:rPr lang="tr-TR" dirty="0" smtClean="0"/>
              <a:t> görünüme ve özelliğe erişilebilir. Daha önce şu şekilde yapılan işlem:</a:t>
            </a:r>
          </a:p>
          <a:p>
            <a:pPr algn="just"/>
            <a:endParaRPr lang="tr-TR" dirty="0" smtClean="0"/>
          </a:p>
          <a:p>
            <a:pPr algn="just"/>
            <a:endParaRPr lang="tr-TR" dirty="0"/>
          </a:p>
          <a:p>
            <a:pPr algn="just"/>
            <a:endParaRPr lang="tr-TR" dirty="0" smtClean="0"/>
          </a:p>
          <a:p>
            <a:pPr algn="just"/>
            <a:r>
              <a:rPr lang="tr-TR" dirty="0" smtClean="0"/>
              <a:t>Artık daha hızlı ve kolay bir şekilde yapılabilir:</a:t>
            </a:r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662784" y="3215725"/>
            <a:ext cx="6866431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val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txt = findViewById&lt;TextView&gt;(R.id.</a:t>
            </a:r>
            <a:r>
              <a:rPr kumimoji="0" lang="tr-TR" altLang="tr-TR" sz="2400" b="0" i="1" u="none" strike="noStrike" cap="none" normalizeH="0" baseline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textView4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txt.</a:t>
            </a:r>
            <a:r>
              <a:rPr kumimoji="0" lang="tr-TR" altLang="tr-TR" sz="2400" b="0" i="1" u="none" strike="noStrike" cap="none" normalizeH="0" baseline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text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"Selam"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642025" y="5246776"/>
            <a:ext cx="4616200" cy="46166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binding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textView4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kumimoji="0" lang="tr-TR" altLang="tr-TR" sz="2400" b="0" i="1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text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"Selam"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282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Bir butona tıklandığında bir işlem gerçekleştirebilmek için 2 yöntem kullanılabilir. Bunlardan ilki </a:t>
            </a:r>
            <a:r>
              <a:rPr lang="tr-TR" dirty="0" err="1" smtClean="0"/>
              <a:t>onCreate</a:t>
            </a:r>
            <a:r>
              <a:rPr lang="tr-TR" dirty="0" smtClean="0"/>
              <a:t> fonksiyonu içerisinde aşağıdaki kodu kullanmaktır. Burada button2’nin XML tarafındaki </a:t>
            </a:r>
            <a:r>
              <a:rPr lang="tr-TR" dirty="0" err="1" smtClean="0"/>
              <a:t>id</a:t>
            </a:r>
            <a:r>
              <a:rPr lang="tr-TR" dirty="0" smtClean="0"/>
              <a:t> olduğu unutulmamalıdır!</a:t>
            </a:r>
          </a:p>
          <a:p>
            <a:pPr algn="just"/>
            <a:endParaRPr lang="tr-TR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937090" y="4119546"/>
            <a:ext cx="6317820" cy="120032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binding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button2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.setOnClickListener 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{</a:t>
            </a:r>
            <a:b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binding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textView4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kumimoji="0" lang="tr-TR" altLang="tr-TR" sz="2400" b="0" i="1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text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"Butona Tıklandı!"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29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52374" y="2249488"/>
            <a:ext cx="3887252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6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Diğer yöntem ise butona tıklandığında çalışacak fonksiyonu belirlemektir. Bunun için öncelikle activity_main.xml dosyasına gidilerek butona tıklanmalı ve butonun </a:t>
            </a:r>
            <a:r>
              <a:rPr lang="tr-TR" dirty="0" err="1" smtClean="0"/>
              <a:t>attributelarından</a:t>
            </a:r>
            <a:r>
              <a:rPr lang="tr-TR" dirty="0" smtClean="0"/>
              <a:t> </a:t>
            </a:r>
            <a:r>
              <a:rPr lang="tr-TR" dirty="0" err="1" smtClean="0"/>
              <a:t>onClick</a:t>
            </a:r>
            <a:r>
              <a:rPr lang="tr-TR" dirty="0" smtClean="0"/>
              <a:t> bulunarak karşısına fonksiyon ismi yazılmalıdır.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2580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2274885"/>
            <a:ext cx="10972800" cy="427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99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Daha sonra </a:t>
            </a:r>
            <a:r>
              <a:rPr lang="tr-TR" dirty="0" err="1" smtClean="0"/>
              <a:t>onClick</a:t>
            </a:r>
            <a:r>
              <a:rPr lang="tr-TR" dirty="0" smtClean="0"/>
              <a:t> karşısına yazılan isim ile aynı isimde bir </a:t>
            </a:r>
            <a:r>
              <a:rPr lang="tr-TR" dirty="0" smtClean="0"/>
              <a:t>fonksiyon </a:t>
            </a:r>
            <a:r>
              <a:rPr lang="tr-TR" dirty="0" err="1" smtClean="0"/>
              <a:t>MainActivity.kt</a:t>
            </a:r>
            <a:r>
              <a:rPr lang="tr-TR" dirty="0" smtClean="0"/>
              <a:t> </a:t>
            </a:r>
            <a:r>
              <a:rPr lang="tr-TR" dirty="0" err="1" smtClean="0"/>
              <a:t>classında</a:t>
            </a:r>
            <a:r>
              <a:rPr lang="tr-TR" dirty="0" smtClean="0"/>
              <a:t> </a:t>
            </a:r>
            <a:r>
              <a:rPr lang="tr-TR" dirty="0" err="1" smtClean="0"/>
              <a:t>onCreate</a:t>
            </a:r>
            <a:r>
              <a:rPr lang="tr-TR" dirty="0" smtClean="0"/>
              <a:t> fonksiyonu dışında oluşturulmalıdır. Burada 3 önemli nokta vardır:</a:t>
            </a:r>
          </a:p>
          <a:p>
            <a:pPr marL="624078" indent="-514350" algn="just">
              <a:buFont typeface="+mj-lt"/>
              <a:buAutoNum type="arabicPeriod"/>
            </a:pPr>
            <a:r>
              <a:rPr lang="tr-TR" dirty="0" err="1" smtClean="0"/>
              <a:t>onClick</a:t>
            </a:r>
            <a:r>
              <a:rPr lang="tr-TR" dirty="0" smtClean="0"/>
              <a:t> karşısına yazılan isim ve fonksiyon ismi aynı olmalıdır.</a:t>
            </a:r>
          </a:p>
          <a:p>
            <a:pPr marL="624078" indent="-514350" algn="just">
              <a:buFont typeface="+mj-lt"/>
              <a:buAutoNum type="arabicPeriod"/>
            </a:pPr>
            <a:r>
              <a:rPr lang="tr-TR" dirty="0" smtClean="0"/>
              <a:t>Fonksiyon </a:t>
            </a:r>
            <a:r>
              <a:rPr lang="tr-TR" dirty="0" err="1" smtClean="0"/>
              <a:t>private</a:t>
            </a:r>
            <a:r>
              <a:rPr lang="tr-TR" dirty="0" smtClean="0"/>
              <a:t> olmamalıdır!</a:t>
            </a:r>
          </a:p>
          <a:p>
            <a:pPr marL="624078" indent="-514350" algn="just">
              <a:buFont typeface="+mj-lt"/>
              <a:buAutoNum type="arabicPeriod"/>
            </a:pPr>
            <a:r>
              <a:rPr lang="tr-TR" dirty="0" smtClean="0"/>
              <a:t>Fonksiyon bir </a:t>
            </a:r>
            <a:r>
              <a:rPr lang="tr-TR" dirty="0" err="1" smtClean="0"/>
              <a:t>view</a:t>
            </a:r>
            <a:r>
              <a:rPr lang="tr-TR" dirty="0" smtClean="0"/>
              <a:t> parametresi almalıdır</a:t>
            </a:r>
            <a:r>
              <a:rPr lang="tr-TR" dirty="0" smtClean="0"/>
              <a:t>. (Eğer </a:t>
            </a:r>
            <a:r>
              <a:rPr lang="tr-TR" dirty="0" err="1" smtClean="0"/>
              <a:t>View</a:t>
            </a:r>
            <a:r>
              <a:rPr lang="tr-TR" dirty="0" smtClean="0"/>
              <a:t> kırmızı olursa Alt + </a:t>
            </a:r>
            <a:r>
              <a:rPr lang="tr-TR" dirty="0" err="1" smtClean="0"/>
              <a:t>Enter</a:t>
            </a:r>
            <a:r>
              <a:rPr lang="tr-TR" smtClean="0"/>
              <a:t> kombinasyonu </a:t>
            </a:r>
            <a:r>
              <a:rPr lang="tr-TR" dirty="0" smtClean="0"/>
              <a:t>ile gerekli paket dahil edilebilir.)</a:t>
            </a:r>
            <a:endParaRPr lang="tr-TR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872186" y="5497318"/>
            <a:ext cx="4447628" cy="107721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fun</a:t>
            </a: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kaydet</a:t>
            </a: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16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view</a:t>
            </a: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: </a:t>
            </a:r>
            <a:r>
              <a:rPr kumimoji="0" lang="tr-TR" altLang="tr-TR" sz="16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View</a:t>
            </a: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{</a:t>
            </a:r>
            <a:b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binding</a:t>
            </a: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textView4</a:t>
            </a: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kumimoji="0" lang="tr-TR" altLang="tr-TR" sz="1600" b="0" i="1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text </a:t>
            </a: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"Butona Tıklandı! 2"</a:t>
            </a:r>
            <a:b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tr-TR" altLang="tr-T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818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GÖRÜNÜMLERE KOD İLE ERİŞME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3 değer alarak bunlardan </a:t>
            </a:r>
            <a:r>
              <a:rPr lang="tr-TR" dirty="0" err="1" smtClean="0"/>
              <a:t>enbüyüğünü</a:t>
            </a:r>
            <a:r>
              <a:rPr lang="tr-TR" dirty="0" smtClean="0"/>
              <a:t> yazan mobil uygulamayı geliştirin.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85" y="2974536"/>
            <a:ext cx="3651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6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1473</TotalTime>
  <Words>1304</Words>
  <Application>Microsoft Office PowerPoint</Application>
  <PresentationFormat>Geniş ekran</PresentationFormat>
  <Paragraphs>109</Paragraphs>
  <Slides>18</Slides>
  <Notes>18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5" baseType="lpstr">
      <vt:lpstr>Arial</vt:lpstr>
      <vt:lpstr>Arial Unicode MS</vt:lpstr>
      <vt:lpstr>Calibri</vt:lpstr>
      <vt:lpstr>Georgia</vt:lpstr>
      <vt:lpstr>JetBrains Mono</vt:lpstr>
      <vt:lpstr>Wingdings 2</vt:lpstr>
      <vt:lpstr>Eğitim sunusu</vt:lpstr>
      <vt:lpstr>Mobil Uygulama Geliştirme</vt:lpstr>
      <vt:lpstr>GÖRÜNÜMLERE KOD İLE ERİŞME</vt:lpstr>
      <vt:lpstr>GÖRÜNÜMLERE KOD İLE ERİŞME</vt:lpstr>
      <vt:lpstr>GÖRÜNÜMLERE KOD İLE ERİŞME</vt:lpstr>
      <vt:lpstr>GÖRÜNÜMLERE KOD İLE ERİŞME</vt:lpstr>
      <vt:lpstr>GÖRÜNÜMLERE KOD İLE ERİŞME</vt:lpstr>
      <vt:lpstr>GÖRÜNÜMLERE KOD İLE ERİŞME</vt:lpstr>
      <vt:lpstr>GÖRÜNÜMLERE KOD İLE ERİŞME</vt:lpstr>
      <vt:lpstr>GÖRÜNÜMLERE KOD İLE ERİŞME</vt:lpstr>
      <vt:lpstr>GÖRÜNÜMLERE KOD İLE ERİŞME</vt:lpstr>
      <vt:lpstr>GÖRÜNÜMLERE KOD İLE ERİŞME</vt:lpstr>
      <vt:lpstr>GÖRÜNÜMLERE KOD İLE ERİŞME</vt:lpstr>
      <vt:lpstr>GÖRÜNÜMLERE KOD İLE ERİŞME</vt:lpstr>
      <vt:lpstr>GÖRÜNÜMLERE KOD İLE ERİŞME</vt:lpstr>
      <vt:lpstr>GÖRÜNÜMLERE KOD İLE ERİŞME</vt:lpstr>
      <vt:lpstr>GÖRÜNÜMLERE KOD İLE ERİŞME</vt:lpstr>
      <vt:lpstr>GÖRÜNÜMLERE KOD İLE ERİŞME</vt:lpstr>
      <vt:lpstr>GÖRÜNÜMLERE KOD İLE ERİŞME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</cp:lastModifiedBy>
  <cp:revision>221</cp:revision>
  <dcterms:created xsi:type="dcterms:W3CDTF">2023-12-09T09:03:26Z</dcterms:created>
  <dcterms:modified xsi:type="dcterms:W3CDTF">2024-09-22T09:49:23Z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