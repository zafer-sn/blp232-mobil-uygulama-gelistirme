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jpeg"/>
  <Default Extension="org&amp;utm_campaign=index&amp;utm_content=thumbnai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media/image29.org&amp;utm_campaign=index&amp;utm_content=original" ContentType="image/png"/>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4"/>
  </p:notesMasterIdLst>
  <p:handoutMasterIdLst>
    <p:handoutMasterId r:id="rId35"/>
  </p:handout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4" r:id="rId16"/>
    <p:sldId id="275" r:id="rId17"/>
    <p:sldId id="272" r:id="rId18"/>
    <p:sldId id="273" r:id="rId19"/>
    <p:sldId id="276" r:id="rId20"/>
    <p:sldId id="279" r:id="rId21"/>
    <p:sldId id="280" r:id="rId22"/>
    <p:sldId id="281" r:id="rId23"/>
    <p:sldId id="282" r:id="rId24"/>
    <p:sldId id="283" r:id="rId25"/>
    <p:sldId id="284" r:id="rId26"/>
    <p:sldId id="285" r:id="rId27"/>
    <p:sldId id="287" r:id="rId28"/>
    <p:sldId id="289" r:id="rId29"/>
    <p:sldId id="286" r:id="rId30"/>
    <p:sldId id="288" r:id="rId31"/>
    <p:sldId id="290" r:id="rId32"/>
    <p:sldId id="291" r:id="rId33"/>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911" autoAdjust="0"/>
  </p:normalViewPr>
  <p:slideViewPr>
    <p:cSldViewPr snapToGrid="0">
      <p:cViewPr varScale="1">
        <p:scale>
          <a:sx n="66" d="100"/>
          <a:sy n="66" d="100"/>
        </p:scale>
        <p:origin x="668" y="52"/>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27.09.2026</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27.09.2026</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118867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D3CF-0FDE-D3B1-7140-01140A1F9128}"/>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DCAECBF0-54DC-A01C-4701-C329F0E1BA5B}"/>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2043C8AA-BA00-DEE2-7F2A-0773861ABA8F}"/>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ECB8DE46-BB87-9DED-8B40-9DABF6E85F24}"/>
              </a:ext>
            </a:extLst>
          </p:cNvPr>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2950626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92EE-1E91-1D5B-3DEF-53B9AD90E8B6}"/>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EBF486B1-1A11-D5E5-829A-DB0BB7103325}"/>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C12D3DE9-898D-AD04-48A4-DE475E0BFBDB}"/>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2551C03E-021D-6946-4BBF-0656487D454C}"/>
              </a:ext>
            </a:extLst>
          </p:cNvPr>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27235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C5C8-97F6-3DC7-5202-6173FFC51BEF}"/>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B2820B4-9BBB-5016-0FD7-6E14151252F5}"/>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D49D82B4-B79D-DA33-56D2-3B0D469316D4}"/>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F0F41037-6CC7-93DC-B280-864493773DD9}"/>
              </a:ext>
            </a:extLst>
          </p:cNvPr>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4181164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5CA7-3966-03FA-0954-3A3D2FD2066A}"/>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6B189A3A-5911-FEC6-3222-5A3B27272086}"/>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9A571C07-4A93-231E-AE06-776753B374BE}"/>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4F04AA75-21F3-EF0C-1F8E-1197D5E09C52}"/>
              </a:ext>
            </a:extLst>
          </p:cNvPr>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4081466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07816-3F7B-11DD-DD2D-FED9AC6BAAC2}"/>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3E12C6F7-6AE2-B97B-4D6E-A4C3F4C51B0C}"/>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C9228052-F262-BB13-8E7A-ABCE2994FEB2}"/>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ED74AC5E-C24B-DFE0-7524-7E98FE4E5653}"/>
              </a:ext>
            </a:extLst>
          </p:cNvPr>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79232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CAD8-12D7-F2C7-415C-0C657100FC9F}"/>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FA738E32-592C-C950-6C11-72C271C00B7F}"/>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4AB1BA33-B334-DCE7-82C3-BA97ADF50E0A}"/>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1147D2A1-B800-BAF7-7478-D97984D39721}"/>
              </a:ext>
            </a:extLst>
          </p:cNvPr>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3125028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04314-777C-FDC8-0EBB-6A0936F8EB06}"/>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84A1716F-D8B8-2487-D358-BF0EA8457EDC}"/>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964DC6E5-E65C-C191-65C3-4D63003EE594}"/>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BB4B2F1A-8930-3011-0908-3A1796084CB7}"/>
              </a:ext>
            </a:extLst>
          </p:cNvPr>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3896566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A96B-396A-B73C-8AE4-EEFC7F300F52}"/>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C9B8E2FD-9226-6C1E-0A49-C620FB4E7117}"/>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9D8AD279-3019-0A60-9A3B-47A14504AF7F}"/>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F683D9A2-C4A5-7E87-FFFC-CA84062E998D}"/>
              </a:ext>
            </a:extLst>
          </p:cNvPr>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2675850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5D56D-8042-6348-EE20-B3AF8C347002}"/>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49EA2CD-5669-7206-CC35-6E0DD1F6D635}"/>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434B12AD-53BE-3646-D045-505AA956636B}"/>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6768C341-E4C5-5402-8582-18BBC316C3BA}"/>
              </a:ext>
            </a:extLst>
          </p:cNvPr>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2333395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5C3AF-7DA8-A05F-E085-CBD2E80AFC3C}"/>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CBE8B838-5191-EF62-4454-00052F8E58D3}"/>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5EACC67C-627B-99D1-6B47-3F9ED60B44BD}"/>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013D2489-C6C1-5841-09A8-9335E15DBF4A}"/>
              </a:ext>
            </a:extLst>
          </p:cNvPr>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3725701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D8FF-C58E-5A43-2107-09F620DB147B}"/>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21DA7194-B847-3207-BCD7-9C371E14AC08}"/>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5BDAB63C-B433-F1DB-D21F-3B86BDE320D0}"/>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6A275E4A-1C5A-FE2E-8744-4E9382A44C50}"/>
              </a:ext>
            </a:extLst>
          </p:cNvPr>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188600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A7487-9C50-252C-1F47-99EB237C126F}"/>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B3399F38-5B7B-A921-F968-64A3648274AD}"/>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ABD94C33-ECA9-CBCF-43FF-31CC0C1BBB73}"/>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3F28BE99-F1B2-51D9-6ACD-09D4B2F97F16}"/>
              </a:ext>
            </a:extLst>
          </p:cNvPr>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1546987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9C5A-95EF-CCCA-7D44-223B970DC2B8}"/>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8FE12280-C78B-AD55-149B-45A43F3AC4DF}"/>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00BA6075-EECA-CA7D-2F0E-FF1AE1E3A2D8}"/>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F12B4CF3-7E9A-9F0F-CFA5-E5472E8D922C}"/>
              </a:ext>
            </a:extLst>
          </p:cNvPr>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3625381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4FDF-EF46-537B-5F34-5504E9029A30}"/>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D45397B5-95C0-75A2-3784-5F4D599AE1CD}"/>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33126543-1948-382D-1255-F6040A5C3893}"/>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50285340-9868-1530-D173-58C5FA3A1D68}"/>
              </a:ext>
            </a:extLst>
          </p:cNvPr>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3528449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FA232-020F-0FF3-71FB-A79972703B6D}"/>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3D0908E7-9099-DA51-C7CA-0B953F37682F}"/>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CEE2E9AC-C9A6-67B7-9E60-53DAB48012C1}"/>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EBE92ECE-4B6F-7EA6-E669-CA0F40A052E4}"/>
              </a:ext>
            </a:extLst>
          </p:cNvPr>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4158380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9ED08-F98A-9E24-2AAD-ACA4C837DA1D}"/>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7EF9E8BA-081B-692C-FABB-B98BE49DADDE}"/>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D184B0D8-2748-147A-B376-EBFD9FE326B3}"/>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8C51B5D5-208F-0A84-A70F-2D9DE5C1577E}"/>
              </a:ext>
            </a:extLst>
          </p:cNvPr>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2817426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19E81-ACFB-5CC6-86B2-A00E01171866}"/>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8FC67D02-5EAE-55EE-0188-525CCA16C3FE}"/>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E7AED9AD-64A7-E114-AF77-C9B40FBA51F5}"/>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E736AADF-F459-0CD8-DCE6-22782F0A42DD}"/>
              </a:ext>
            </a:extLst>
          </p:cNvPr>
          <p:cNvSpPr>
            <a:spLocks noGrp="1"/>
          </p:cNvSpPr>
          <p:nvPr>
            <p:ph type="sldNum" sz="quarter" idx="10"/>
          </p:nvPr>
        </p:nvSpPr>
        <p:spPr/>
        <p:txBody>
          <a:bodyPr rtlCol="0"/>
          <a:lstStyle/>
          <a:p>
            <a:pPr rtl="0"/>
            <a:fld id="{CF2FD335-6D8E-486A-8F5F-DFC7325903FF}" type="slidenum">
              <a:rPr lang="tr-TR" smtClean="0"/>
              <a:t>19</a:t>
            </a:fld>
            <a:endParaRPr lang="tr-TR" dirty="0"/>
          </a:p>
        </p:txBody>
      </p:sp>
    </p:spTree>
    <p:extLst>
      <p:ext uri="{BB962C8B-B14F-4D97-AF65-F5344CB8AC3E}">
        <p14:creationId xmlns:p14="http://schemas.microsoft.com/office/powerpoint/2010/main" val="1929912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EAE6-AFD7-6D09-5BB2-9B8008317DAB}"/>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A4A85DE-F936-817F-1F54-53D301D3155F}"/>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75770F94-A7D4-3F03-8BDF-F6C83533F9EC}"/>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EA79FDF8-B096-BDA5-05A7-A5D4B016C014}"/>
              </a:ext>
            </a:extLst>
          </p:cNvPr>
          <p:cNvSpPr>
            <a:spLocks noGrp="1"/>
          </p:cNvSpPr>
          <p:nvPr>
            <p:ph type="sldNum" sz="quarter" idx="10"/>
          </p:nvPr>
        </p:nvSpPr>
        <p:spPr/>
        <p:txBody>
          <a:bodyPr rtlCol="0"/>
          <a:lstStyle/>
          <a:p>
            <a:pPr rtl="0"/>
            <a:fld id="{CF2FD335-6D8E-486A-8F5F-DFC7325903FF}" type="slidenum">
              <a:rPr lang="tr-TR" smtClean="0"/>
              <a:t>20</a:t>
            </a:fld>
            <a:endParaRPr lang="tr-TR" dirty="0"/>
          </a:p>
        </p:txBody>
      </p:sp>
    </p:spTree>
    <p:extLst>
      <p:ext uri="{BB962C8B-B14F-4D97-AF65-F5344CB8AC3E}">
        <p14:creationId xmlns:p14="http://schemas.microsoft.com/office/powerpoint/2010/main" val="2235847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EFBD6-14CA-8EEA-3C41-BC6C1993AA59}"/>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4D8EA564-E8E1-9F38-EE61-7EC6E85CD3ED}"/>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7421B373-FCF0-32E6-0A1D-AF7E5E8CFBC5}"/>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548EA7FB-3F66-5F25-F478-B54DAE96817D}"/>
              </a:ext>
            </a:extLst>
          </p:cNvPr>
          <p:cNvSpPr>
            <a:spLocks noGrp="1"/>
          </p:cNvSpPr>
          <p:nvPr>
            <p:ph type="sldNum" sz="quarter" idx="10"/>
          </p:nvPr>
        </p:nvSpPr>
        <p:spPr/>
        <p:txBody>
          <a:bodyPr rtlCol="0"/>
          <a:lstStyle/>
          <a:p>
            <a:pPr rtl="0"/>
            <a:fld id="{CF2FD335-6D8E-486A-8F5F-DFC7325903FF}" type="slidenum">
              <a:rPr lang="tr-TR" smtClean="0"/>
              <a:t>21</a:t>
            </a:fld>
            <a:endParaRPr lang="tr-TR" dirty="0"/>
          </a:p>
        </p:txBody>
      </p:sp>
    </p:spTree>
    <p:extLst>
      <p:ext uri="{BB962C8B-B14F-4D97-AF65-F5344CB8AC3E}">
        <p14:creationId xmlns:p14="http://schemas.microsoft.com/office/powerpoint/2010/main" val="312038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BB224-F3EE-4E4C-4757-F8C9D6C0AF6A}"/>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B460FF7A-72EF-7D1E-23F8-3AB214B6F06C}"/>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9DB896FB-BEBC-4EDD-8C19-FF5854B2D1B8}"/>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8D9810CD-0352-D9A9-3824-94E0DF9C88EA}"/>
              </a:ext>
            </a:extLst>
          </p:cNvPr>
          <p:cNvSpPr>
            <a:spLocks noGrp="1"/>
          </p:cNvSpPr>
          <p:nvPr>
            <p:ph type="sldNum" sz="quarter" idx="10"/>
          </p:nvPr>
        </p:nvSpPr>
        <p:spPr/>
        <p:txBody>
          <a:bodyPr rtlCol="0"/>
          <a:lstStyle/>
          <a:p>
            <a:pPr rtl="0"/>
            <a:fld id="{CF2FD335-6D8E-486A-8F5F-DFC7325903FF}" type="slidenum">
              <a:rPr lang="tr-TR" smtClean="0"/>
              <a:t>22</a:t>
            </a:fld>
            <a:endParaRPr lang="tr-TR" dirty="0"/>
          </a:p>
        </p:txBody>
      </p:sp>
    </p:spTree>
    <p:extLst>
      <p:ext uri="{BB962C8B-B14F-4D97-AF65-F5344CB8AC3E}">
        <p14:creationId xmlns:p14="http://schemas.microsoft.com/office/powerpoint/2010/main" val="1581230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6862-1FFA-BA1C-B47F-BAE1183AC164}"/>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D842ADAE-EA5D-332E-43B4-6D0890B50160}"/>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83F8BEA8-9904-4A81-128B-7E2CA44A4724}"/>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78B3A6D2-0D4C-62A5-0573-B1EFE903C662}"/>
              </a:ext>
            </a:extLst>
          </p:cNvPr>
          <p:cNvSpPr>
            <a:spLocks noGrp="1"/>
          </p:cNvSpPr>
          <p:nvPr>
            <p:ph type="sldNum" sz="quarter" idx="10"/>
          </p:nvPr>
        </p:nvSpPr>
        <p:spPr/>
        <p:txBody>
          <a:bodyPr rtlCol="0"/>
          <a:lstStyle/>
          <a:p>
            <a:pPr rtl="0"/>
            <a:fld id="{CF2FD335-6D8E-486A-8F5F-DFC7325903FF}" type="slidenum">
              <a:rPr lang="tr-TR" smtClean="0"/>
              <a:t>23</a:t>
            </a:fld>
            <a:endParaRPr lang="tr-TR" dirty="0"/>
          </a:p>
        </p:txBody>
      </p:sp>
    </p:spTree>
    <p:extLst>
      <p:ext uri="{BB962C8B-B14F-4D97-AF65-F5344CB8AC3E}">
        <p14:creationId xmlns:p14="http://schemas.microsoft.com/office/powerpoint/2010/main" val="3406298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C65BB-CFA3-4AC9-DDA3-516A9DB00772}"/>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C5D1F83-BA39-A526-B62B-AA09D76DA5C4}"/>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A6607511-3802-3D28-155F-ACC7DCDB638F}"/>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3706D7A8-056B-219C-2FD6-1D27B258AB1A}"/>
              </a:ext>
            </a:extLst>
          </p:cNvPr>
          <p:cNvSpPr>
            <a:spLocks noGrp="1"/>
          </p:cNvSpPr>
          <p:nvPr>
            <p:ph type="sldNum" sz="quarter" idx="10"/>
          </p:nvPr>
        </p:nvSpPr>
        <p:spPr/>
        <p:txBody>
          <a:bodyPr rtlCol="0"/>
          <a:lstStyle/>
          <a:p>
            <a:pPr rtl="0"/>
            <a:fld id="{CF2FD335-6D8E-486A-8F5F-DFC7325903FF}" type="slidenum">
              <a:rPr lang="tr-TR" smtClean="0"/>
              <a:t>24</a:t>
            </a:fld>
            <a:endParaRPr lang="tr-TR" dirty="0"/>
          </a:p>
        </p:txBody>
      </p:sp>
    </p:spTree>
    <p:extLst>
      <p:ext uri="{BB962C8B-B14F-4D97-AF65-F5344CB8AC3E}">
        <p14:creationId xmlns:p14="http://schemas.microsoft.com/office/powerpoint/2010/main" val="8685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C70C4-8557-5DB6-DA5C-FC427FAEA0AB}"/>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DFF4817-2C40-9709-0D4E-AB9B05D43278}"/>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1B3D8CDD-C0BA-99E3-052A-90E697A35628}"/>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F98DB37E-948B-72FC-7E0B-AB7B42D18C22}"/>
              </a:ext>
            </a:extLst>
          </p:cNvPr>
          <p:cNvSpPr>
            <a:spLocks noGrp="1"/>
          </p:cNvSpPr>
          <p:nvPr>
            <p:ph type="sldNum" sz="quarter" idx="10"/>
          </p:nvPr>
        </p:nvSpPr>
        <p:spPr/>
        <p:txBody>
          <a:bodyPr rtlCol="0"/>
          <a:lstStyle/>
          <a:p>
            <a:pPr rtl="0"/>
            <a:fld id="{CF2FD335-6D8E-486A-8F5F-DFC7325903FF}" type="slidenum">
              <a:rPr lang="tr-TR" smtClean="0"/>
              <a:t>25</a:t>
            </a:fld>
            <a:endParaRPr lang="tr-TR" dirty="0"/>
          </a:p>
        </p:txBody>
      </p:sp>
    </p:spTree>
    <p:extLst>
      <p:ext uri="{BB962C8B-B14F-4D97-AF65-F5344CB8AC3E}">
        <p14:creationId xmlns:p14="http://schemas.microsoft.com/office/powerpoint/2010/main" val="31957573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50A5-9F13-B3CE-3DB2-1B196422AB6C}"/>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9F3A72AF-AEBA-37EF-0D3B-170CD8513663}"/>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30ADBDE2-11D9-1BA2-5113-5C2E64BE65C1}"/>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A63F4AB9-1910-5411-DC1D-1D5720C83B45}"/>
              </a:ext>
            </a:extLst>
          </p:cNvPr>
          <p:cNvSpPr>
            <a:spLocks noGrp="1"/>
          </p:cNvSpPr>
          <p:nvPr>
            <p:ph type="sldNum" sz="quarter" idx="10"/>
          </p:nvPr>
        </p:nvSpPr>
        <p:spPr/>
        <p:txBody>
          <a:bodyPr rtlCol="0"/>
          <a:lstStyle/>
          <a:p>
            <a:pPr rtl="0"/>
            <a:fld id="{CF2FD335-6D8E-486A-8F5F-DFC7325903FF}" type="slidenum">
              <a:rPr lang="tr-TR" smtClean="0"/>
              <a:t>26</a:t>
            </a:fld>
            <a:endParaRPr lang="tr-TR" dirty="0"/>
          </a:p>
        </p:txBody>
      </p:sp>
    </p:spTree>
    <p:extLst>
      <p:ext uri="{BB962C8B-B14F-4D97-AF65-F5344CB8AC3E}">
        <p14:creationId xmlns:p14="http://schemas.microsoft.com/office/powerpoint/2010/main" val="940511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F36A-7B26-D23D-1050-A3787B9CC2FF}"/>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F7DDC6C7-C845-0F35-266C-C43CBD635937}"/>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435AD1A6-32C2-8F4F-7674-AF3B419259C8}"/>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44397310-00E7-99BE-C862-B432D8EF2732}"/>
              </a:ext>
            </a:extLst>
          </p:cNvPr>
          <p:cNvSpPr>
            <a:spLocks noGrp="1"/>
          </p:cNvSpPr>
          <p:nvPr>
            <p:ph type="sldNum" sz="quarter" idx="10"/>
          </p:nvPr>
        </p:nvSpPr>
        <p:spPr/>
        <p:txBody>
          <a:bodyPr rtlCol="0"/>
          <a:lstStyle/>
          <a:p>
            <a:pPr rtl="0"/>
            <a:fld id="{CF2FD335-6D8E-486A-8F5F-DFC7325903FF}" type="slidenum">
              <a:rPr lang="tr-TR" smtClean="0"/>
              <a:t>27</a:t>
            </a:fld>
            <a:endParaRPr lang="tr-TR" dirty="0"/>
          </a:p>
        </p:txBody>
      </p:sp>
    </p:spTree>
    <p:extLst>
      <p:ext uri="{BB962C8B-B14F-4D97-AF65-F5344CB8AC3E}">
        <p14:creationId xmlns:p14="http://schemas.microsoft.com/office/powerpoint/2010/main" val="4222974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C994-A0B7-C59D-ECAA-2D6A6336AED2}"/>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A8C62306-8324-E437-1A4F-B26A36D7C2C3}"/>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204EA450-7250-E92C-5D24-F41850AD4B8F}"/>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D150C43B-E816-0AAC-7311-5D74ACA0601A}"/>
              </a:ext>
            </a:extLst>
          </p:cNvPr>
          <p:cNvSpPr>
            <a:spLocks noGrp="1"/>
          </p:cNvSpPr>
          <p:nvPr>
            <p:ph type="sldNum" sz="quarter" idx="10"/>
          </p:nvPr>
        </p:nvSpPr>
        <p:spPr/>
        <p:txBody>
          <a:bodyPr rtlCol="0"/>
          <a:lstStyle/>
          <a:p>
            <a:pPr rtl="0"/>
            <a:fld id="{CF2FD335-6D8E-486A-8F5F-DFC7325903FF}" type="slidenum">
              <a:rPr lang="tr-TR" smtClean="0"/>
              <a:t>28</a:t>
            </a:fld>
            <a:endParaRPr lang="tr-TR" dirty="0"/>
          </a:p>
        </p:txBody>
      </p:sp>
    </p:spTree>
    <p:extLst>
      <p:ext uri="{BB962C8B-B14F-4D97-AF65-F5344CB8AC3E}">
        <p14:creationId xmlns:p14="http://schemas.microsoft.com/office/powerpoint/2010/main" val="861234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207FF-D0C2-F46C-A0AA-7880155810AB}"/>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9B5CA030-19DA-C173-21DD-431E2861BC75}"/>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221131B4-F09E-AF8C-73BE-9DF81B681E35}"/>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8E16325F-59DC-6A8D-EBE5-4C1C434C9891}"/>
              </a:ext>
            </a:extLst>
          </p:cNvPr>
          <p:cNvSpPr>
            <a:spLocks noGrp="1"/>
          </p:cNvSpPr>
          <p:nvPr>
            <p:ph type="sldNum" sz="quarter" idx="10"/>
          </p:nvPr>
        </p:nvSpPr>
        <p:spPr/>
        <p:txBody>
          <a:bodyPr rtlCol="0"/>
          <a:lstStyle/>
          <a:p>
            <a:pPr rtl="0"/>
            <a:fld id="{CF2FD335-6D8E-486A-8F5F-DFC7325903FF}" type="slidenum">
              <a:rPr lang="tr-TR" smtClean="0"/>
              <a:t>29</a:t>
            </a:fld>
            <a:endParaRPr lang="tr-TR" dirty="0"/>
          </a:p>
        </p:txBody>
      </p:sp>
    </p:spTree>
    <p:extLst>
      <p:ext uri="{BB962C8B-B14F-4D97-AF65-F5344CB8AC3E}">
        <p14:creationId xmlns:p14="http://schemas.microsoft.com/office/powerpoint/2010/main" val="2844947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86423-C26B-8694-80DF-86AFF5FFD479}"/>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C5A58AD9-AF43-40A7-5B37-C5E6941D33B2}"/>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74C2E2EF-5E34-5DBE-0EE0-7C07BDC7F7EC}"/>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475DFE36-F542-8A44-8B0D-3B48B0D367F2}"/>
              </a:ext>
            </a:extLst>
          </p:cNvPr>
          <p:cNvSpPr>
            <a:spLocks noGrp="1"/>
          </p:cNvSpPr>
          <p:nvPr>
            <p:ph type="sldNum" sz="quarter" idx="10"/>
          </p:nvPr>
        </p:nvSpPr>
        <p:spPr/>
        <p:txBody>
          <a:bodyPr rtlCol="0"/>
          <a:lstStyle/>
          <a:p>
            <a:pPr rtl="0"/>
            <a:fld id="{CF2FD335-6D8E-486A-8F5F-DFC7325903FF}" type="slidenum">
              <a:rPr lang="tr-TR" smtClean="0"/>
              <a:t>30</a:t>
            </a:fld>
            <a:endParaRPr lang="tr-TR" dirty="0"/>
          </a:p>
        </p:txBody>
      </p:sp>
    </p:spTree>
    <p:extLst>
      <p:ext uri="{BB962C8B-B14F-4D97-AF65-F5344CB8AC3E}">
        <p14:creationId xmlns:p14="http://schemas.microsoft.com/office/powerpoint/2010/main" val="611619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0BB47-C0EC-B527-2F14-621C4A1997E0}"/>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F08B3397-B387-43DD-076E-94B06D39AFEA}"/>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0E585F56-C87D-8402-0DFB-BDE9350F5392}"/>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1C49972B-3D9C-5475-BEE4-E59D13F21F99}"/>
              </a:ext>
            </a:extLst>
          </p:cNvPr>
          <p:cNvSpPr>
            <a:spLocks noGrp="1"/>
          </p:cNvSpPr>
          <p:nvPr>
            <p:ph type="sldNum" sz="quarter" idx="10"/>
          </p:nvPr>
        </p:nvSpPr>
        <p:spPr/>
        <p:txBody>
          <a:bodyPr rtlCol="0"/>
          <a:lstStyle/>
          <a:p>
            <a:pPr rtl="0"/>
            <a:fld id="{CF2FD335-6D8E-486A-8F5F-DFC7325903FF}" type="slidenum">
              <a:rPr lang="tr-TR" smtClean="0"/>
              <a:t>31</a:t>
            </a:fld>
            <a:endParaRPr lang="tr-TR" dirty="0"/>
          </a:p>
        </p:txBody>
      </p:sp>
    </p:spTree>
    <p:extLst>
      <p:ext uri="{BB962C8B-B14F-4D97-AF65-F5344CB8AC3E}">
        <p14:creationId xmlns:p14="http://schemas.microsoft.com/office/powerpoint/2010/main" val="3077237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7B00-1672-A0ED-0798-75882970324C}"/>
            </a:ext>
          </a:extLst>
        </p:cNvPr>
        <p:cNvGrpSpPr/>
        <p:nvPr/>
      </p:nvGrpSpPr>
      <p:grpSpPr>
        <a:xfrm>
          <a:off x="0" y="0"/>
          <a:ext cx="0" cy="0"/>
          <a:chOff x="0" y="0"/>
          <a:chExt cx="0" cy="0"/>
        </a:xfrm>
      </p:grpSpPr>
      <p:sp>
        <p:nvSpPr>
          <p:cNvPr id="2" name="Slayt Görüntüsü Yer Tutucusu 1">
            <a:extLst>
              <a:ext uri="{FF2B5EF4-FFF2-40B4-BE49-F238E27FC236}">
                <a16:creationId xmlns:a16="http://schemas.microsoft.com/office/drawing/2014/main" id="{8AFE1ED4-9012-8908-2C70-26A332972BA5}"/>
              </a:ext>
            </a:extLst>
          </p:cNvPr>
          <p:cNvSpPr>
            <a:spLocks noGrp="1" noRot="1" noChangeAspect="1"/>
          </p:cNvSpPr>
          <p:nvPr>
            <p:ph type="sldImg"/>
          </p:nvPr>
        </p:nvSpPr>
        <p:spPr/>
      </p:sp>
      <p:sp>
        <p:nvSpPr>
          <p:cNvPr id="3" name="Notlar Yer Tutucusu 2">
            <a:extLst>
              <a:ext uri="{FF2B5EF4-FFF2-40B4-BE49-F238E27FC236}">
                <a16:creationId xmlns:a16="http://schemas.microsoft.com/office/drawing/2014/main" id="{A85334C1-6B9F-E4D0-5C5E-681F82547045}"/>
              </a:ext>
            </a:extLst>
          </p:cNvPr>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a:extLst>
              <a:ext uri="{FF2B5EF4-FFF2-40B4-BE49-F238E27FC236}">
                <a16:creationId xmlns:a16="http://schemas.microsoft.com/office/drawing/2014/main" id="{55705540-E502-A3F2-715A-065BAE1512E7}"/>
              </a:ext>
            </a:extLst>
          </p:cNvPr>
          <p:cNvSpPr>
            <a:spLocks noGrp="1"/>
          </p:cNvSpPr>
          <p:nvPr>
            <p:ph type="sldNum" sz="quarter" idx="10"/>
          </p:nvPr>
        </p:nvSpPr>
        <p:spPr/>
        <p:txBody>
          <a:bodyPr rtlCol="0"/>
          <a:lstStyle/>
          <a:p>
            <a:pPr rtl="0"/>
            <a:fld id="{CF2FD335-6D8E-486A-8F5F-DFC7325903FF}" type="slidenum">
              <a:rPr lang="tr-TR" smtClean="0"/>
              <a:t>32</a:t>
            </a:fld>
            <a:endParaRPr lang="tr-TR" dirty="0"/>
          </a:p>
        </p:txBody>
      </p:sp>
    </p:spTree>
    <p:extLst>
      <p:ext uri="{BB962C8B-B14F-4D97-AF65-F5344CB8AC3E}">
        <p14:creationId xmlns:p14="http://schemas.microsoft.com/office/powerpoint/2010/main" val="1650286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stilini düzenlemek için tıklayın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27.09.2026</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27.09.2026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stilini düzenlemek için tıklayın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düzenlemek için tıklayın</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27.09.2026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27.09.2026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düzenlemek için tıklayın</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düzenlemek için tıklayın</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27.09.2026</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stilini düzenlemek için tıklayın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27.09.2026</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27.09.2026</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düzenlemek için tıklayın</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27.09.2026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stilini düzenlemek için tıklayın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simgeye tıklayın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düzenlemek için tıklayın</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27.09.2026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a:t>Asıl metin stillerini düzenlemek için tıklayın</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27.09.2026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27.09.2026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27.09.2026</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org&amp;utm_campaign=index&amp;utm_content=thumbnai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6.org&amp;utm_campaign=index&amp;utm_content=origi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org&amp;utm_campaign=index&amp;utm_content=thumbnai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org&amp;utm_campaign=index&amp;utm_content=thumbnai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9.org&amp;utm_campaign=index&amp;utm_content=origina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Mobil Uygulama Geliştirme</a:t>
            </a:r>
          </a:p>
        </p:txBody>
      </p:sp>
      <p:sp>
        <p:nvSpPr>
          <p:cNvPr id="3" name="Alt Başlık 2"/>
          <p:cNvSpPr>
            <a:spLocks noGrp="1"/>
          </p:cNvSpPr>
          <p:nvPr>
            <p:ph type="subTitle" idx="1"/>
          </p:nvPr>
        </p:nvSpPr>
        <p:spPr/>
        <p:txBody>
          <a:bodyPr rtlCol="0"/>
          <a:lstStyle/>
          <a:p>
            <a:pPr rtl="0"/>
            <a:r>
              <a:rPr lang="tr-TR" dirty="0"/>
              <a:t>Zafer SERİN</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Mobil Uygulama Nedir?</a:t>
            </a:r>
          </a:p>
        </p:txBody>
      </p:sp>
      <p:sp>
        <p:nvSpPr>
          <p:cNvPr id="3" name="İçerik Yer Tutucusu 2"/>
          <p:cNvSpPr>
            <a:spLocks noGrp="1"/>
          </p:cNvSpPr>
          <p:nvPr>
            <p:ph idx="1"/>
          </p:nvPr>
        </p:nvSpPr>
        <p:spPr/>
        <p:txBody>
          <a:bodyPr rtlCol="0"/>
          <a:lstStyle/>
          <a:p>
            <a:pPr rtl="0"/>
            <a:r>
              <a:rPr lang="tr-TR" dirty="0"/>
              <a:t>Mobil uygulama, akıllı telefon, tablet ve giyilebilir cihazlar gibi taşınabilir bilgi işlem donanımları üzerinde çalışmak üzere özel olarak tasarlanmış, derlenmiş ve bu cihazların kısıtlamalarına göre optimize edilmiş yazılım sistemleridir.</a:t>
            </a:r>
          </a:p>
        </p:txBody>
      </p:sp>
      <p:pic>
        <p:nvPicPr>
          <p:cNvPr id="4" name="Grafik 3" descr="WhatsApp - Vikipedi">
            <a:extLst>
              <a:ext uri="{FF2B5EF4-FFF2-40B4-BE49-F238E27FC236}">
                <a16:creationId xmlns:a16="http://schemas.microsoft.com/office/drawing/2014/main" id="{72FDD94A-3BBF-DBF9-76F1-A2311B2480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9268" y="4215865"/>
            <a:ext cx="2345640" cy="2358671"/>
          </a:xfrm>
          <a:prstGeom prst="rect">
            <a:avLst/>
          </a:prstGeom>
        </p:spPr>
      </p:pic>
      <p:pic>
        <p:nvPicPr>
          <p:cNvPr id="5" name="Grafik 4" descr="Instagram - Vikipedi">
            <a:extLst>
              <a:ext uri="{FF2B5EF4-FFF2-40B4-BE49-F238E27FC236}">
                <a16:creationId xmlns:a16="http://schemas.microsoft.com/office/drawing/2014/main" id="{72605F52-36CE-DA4F-2B7F-A24B11D8B1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72306" y="4215864"/>
            <a:ext cx="2358671" cy="2358671"/>
          </a:xfrm>
          <a:prstGeom prst="rect">
            <a:avLst/>
          </a:prstGeom>
        </p:spPr>
      </p:pic>
      <p:pic>
        <p:nvPicPr>
          <p:cNvPr id="6" name="Resim 5" descr="Dosya:Telegram logo.svg - Vikipedi">
            <a:extLst>
              <a:ext uri="{FF2B5EF4-FFF2-40B4-BE49-F238E27FC236}">
                <a16:creationId xmlns:a16="http://schemas.microsoft.com/office/drawing/2014/main" id="{3987EF37-2FE2-7C9C-430B-7729B3C8DADE}"/>
              </a:ext>
            </a:extLst>
          </p:cNvPr>
          <p:cNvPicPr>
            <a:picLocks noChangeAspect="1"/>
          </p:cNvPicPr>
          <p:nvPr/>
        </p:nvPicPr>
        <p:blipFill>
          <a:blip r:embed="rId5"/>
          <a:stretch>
            <a:fillRect/>
          </a:stretch>
        </p:blipFill>
        <p:spPr>
          <a:xfrm>
            <a:off x="7798375" y="4215863"/>
            <a:ext cx="2358672" cy="2358672"/>
          </a:xfrm>
          <a:prstGeom prst="rect">
            <a:avLst/>
          </a:prstGeom>
        </p:spPr>
      </p:pic>
    </p:spTree>
    <p:extLst>
      <p:ext uri="{BB962C8B-B14F-4D97-AF65-F5344CB8AC3E}">
        <p14:creationId xmlns:p14="http://schemas.microsoft.com/office/powerpoint/2010/main" val="185189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630CA-2C45-9C3C-309E-02BC5976B70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AB531CC-3785-1715-BBF6-6E711926434A}"/>
              </a:ext>
            </a:extLst>
          </p:cNvPr>
          <p:cNvSpPr>
            <a:spLocks noGrp="1"/>
          </p:cNvSpPr>
          <p:nvPr>
            <p:ph type="title"/>
          </p:nvPr>
        </p:nvSpPr>
        <p:spPr/>
        <p:txBody>
          <a:bodyPr rtlCol="0"/>
          <a:lstStyle/>
          <a:p>
            <a:pPr rtl="0"/>
            <a:r>
              <a:rPr lang="tr-TR" dirty="0"/>
              <a:t>Donanım ve Sensör Entegrasyonu</a:t>
            </a:r>
          </a:p>
        </p:txBody>
      </p:sp>
      <p:sp>
        <p:nvSpPr>
          <p:cNvPr id="3" name="İçerik Yer Tutucusu 2">
            <a:extLst>
              <a:ext uri="{FF2B5EF4-FFF2-40B4-BE49-F238E27FC236}">
                <a16:creationId xmlns:a16="http://schemas.microsoft.com/office/drawing/2014/main" id="{ECF0F4DA-4B26-6A3C-6888-C757C9DD3422}"/>
              </a:ext>
            </a:extLst>
          </p:cNvPr>
          <p:cNvSpPr>
            <a:spLocks noGrp="1"/>
          </p:cNvSpPr>
          <p:nvPr>
            <p:ph idx="1"/>
          </p:nvPr>
        </p:nvSpPr>
        <p:spPr/>
        <p:txBody>
          <a:bodyPr rtlCol="0"/>
          <a:lstStyle/>
          <a:p>
            <a:pPr rtl="0"/>
            <a:r>
              <a:rPr lang="tr-TR" dirty="0"/>
              <a:t>Mobil cihazları benzersiz kılan en önemli özelliklerden biri çevreleriyle sürekli etkileşim halinde olmalarıdır. Bir mobil uygulama cihazın gömülü donanımlarıyla (GPS, ivmeölçer, jiroskop, ortam ışığı sensörü, biyometrik okuyucular, kamera ve mikrofon gibi) doğrudan ve düşük gecikmeli iletişim kurar.</a:t>
            </a:r>
          </a:p>
        </p:txBody>
      </p:sp>
      <p:pic>
        <p:nvPicPr>
          <p:cNvPr id="7" name="Resim 6" descr="What is GPS tracking and how does it work? | Blog | GPS-Trace">
            <a:extLst>
              <a:ext uri="{FF2B5EF4-FFF2-40B4-BE49-F238E27FC236}">
                <a16:creationId xmlns:a16="http://schemas.microsoft.com/office/drawing/2014/main" id="{D1348DAB-4E28-06CC-4B06-0A1256EF9A98}"/>
              </a:ext>
            </a:extLst>
          </p:cNvPr>
          <p:cNvPicPr>
            <a:picLocks noChangeAspect="1"/>
          </p:cNvPicPr>
          <p:nvPr/>
        </p:nvPicPr>
        <p:blipFill>
          <a:blip r:embed="rId3"/>
          <a:stretch>
            <a:fillRect/>
          </a:stretch>
        </p:blipFill>
        <p:spPr>
          <a:xfrm>
            <a:off x="609600" y="4610501"/>
            <a:ext cx="1964035" cy="1964035"/>
          </a:xfrm>
          <a:prstGeom prst="rect">
            <a:avLst/>
          </a:prstGeom>
        </p:spPr>
      </p:pic>
      <p:pic>
        <p:nvPicPr>
          <p:cNvPr id="8" name="Resim 7" descr="Jiroskop - Vikipedi">
            <a:extLst>
              <a:ext uri="{FF2B5EF4-FFF2-40B4-BE49-F238E27FC236}">
                <a16:creationId xmlns:a16="http://schemas.microsoft.com/office/drawing/2014/main" id="{C7D4F3D7-4584-185A-A32C-9BA595E053C9}"/>
              </a:ext>
            </a:extLst>
          </p:cNvPr>
          <p:cNvPicPr>
            <a:picLocks noChangeAspect="1"/>
          </p:cNvPicPr>
          <p:nvPr/>
        </p:nvPicPr>
        <p:blipFill>
          <a:blip r:embed="rId4"/>
          <a:stretch>
            <a:fillRect/>
          </a:stretch>
        </p:blipFill>
        <p:spPr>
          <a:xfrm>
            <a:off x="5570961" y="4408368"/>
            <a:ext cx="1624624" cy="2166165"/>
          </a:xfrm>
          <a:prstGeom prst="rect">
            <a:avLst/>
          </a:prstGeom>
        </p:spPr>
      </p:pic>
      <p:pic>
        <p:nvPicPr>
          <p:cNvPr id="9" name="Resim 8" descr="ADXL345 3 Eksen İvme Ölçer - Triple Axis Accelerometer Breakout - ADXL345 -  GY-291">
            <a:extLst>
              <a:ext uri="{FF2B5EF4-FFF2-40B4-BE49-F238E27FC236}">
                <a16:creationId xmlns:a16="http://schemas.microsoft.com/office/drawing/2014/main" id="{D71968A6-6F98-A09E-D0D4-39B6A0C35A01}"/>
              </a:ext>
            </a:extLst>
          </p:cNvPr>
          <p:cNvPicPr>
            <a:picLocks noChangeAspect="1"/>
          </p:cNvPicPr>
          <p:nvPr/>
        </p:nvPicPr>
        <p:blipFill>
          <a:blip r:embed="rId5"/>
          <a:stretch>
            <a:fillRect/>
          </a:stretch>
        </p:blipFill>
        <p:spPr>
          <a:xfrm>
            <a:off x="2871536" y="4408368"/>
            <a:ext cx="2166165" cy="2166165"/>
          </a:xfrm>
          <a:prstGeom prst="rect">
            <a:avLst/>
          </a:prstGeom>
        </p:spPr>
      </p:pic>
      <p:pic>
        <p:nvPicPr>
          <p:cNvPr id="10" name="Resim 9" descr="Parmak İzi Okuyucu Nedir, Telefonlarda Nasıl Çalışır? - Atlas Kurumsal  Bilişim">
            <a:extLst>
              <a:ext uri="{FF2B5EF4-FFF2-40B4-BE49-F238E27FC236}">
                <a16:creationId xmlns:a16="http://schemas.microsoft.com/office/drawing/2014/main" id="{F70A091D-8BBF-8CD7-A2F4-D25E61A71AF0}"/>
              </a:ext>
            </a:extLst>
          </p:cNvPr>
          <p:cNvPicPr>
            <a:picLocks noChangeAspect="1"/>
          </p:cNvPicPr>
          <p:nvPr/>
        </p:nvPicPr>
        <p:blipFill>
          <a:blip r:embed="rId6"/>
          <a:stretch>
            <a:fillRect/>
          </a:stretch>
        </p:blipFill>
        <p:spPr>
          <a:xfrm>
            <a:off x="7728845" y="4408369"/>
            <a:ext cx="3853555" cy="2166165"/>
          </a:xfrm>
          <a:prstGeom prst="rect">
            <a:avLst/>
          </a:prstGeom>
        </p:spPr>
      </p:pic>
    </p:spTree>
    <p:extLst>
      <p:ext uri="{BB962C8B-B14F-4D97-AF65-F5344CB8AC3E}">
        <p14:creationId xmlns:p14="http://schemas.microsoft.com/office/powerpoint/2010/main" val="294336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17328-835A-A609-520C-EB5711F0E36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EAC7DB3-A0C8-0151-B33F-3AE51D342620}"/>
              </a:ext>
            </a:extLst>
          </p:cNvPr>
          <p:cNvSpPr>
            <a:spLocks noGrp="1"/>
          </p:cNvSpPr>
          <p:nvPr>
            <p:ph type="title"/>
          </p:nvPr>
        </p:nvSpPr>
        <p:spPr/>
        <p:txBody>
          <a:bodyPr rtlCol="0"/>
          <a:lstStyle/>
          <a:p>
            <a:pPr rtl="0"/>
            <a:r>
              <a:rPr lang="tr-TR" dirty="0"/>
              <a:t>Kaynak Kısıtlamaları ve Enerji Yönetimi</a:t>
            </a:r>
          </a:p>
        </p:txBody>
      </p:sp>
      <p:sp>
        <p:nvSpPr>
          <p:cNvPr id="3" name="İçerik Yer Tutucusu 2">
            <a:extLst>
              <a:ext uri="{FF2B5EF4-FFF2-40B4-BE49-F238E27FC236}">
                <a16:creationId xmlns:a16="http://schemas.microsoft.com/office/drawing/2014/main" id="{59850B75-6EA9-B160-BB83-7F1CC257A6DC}"/>
              </a:ext>
            </a:extLst>
          </p:cNvPr>
          <p:cNvSpPr>
            <a:spLocks noGrp="1"/>
          </p:cNvSpPr>
          <p:nvPr>
            <p:ph idx="1"/>
          </p:nvPr>
        </p:nvSpPr>
        <p:spPr/>
        <p:txBody>
          <a:bodyPr rtlCol="0"/>
          <a:lstStyle/>
          <a:p>
            <a:pPr rtl="0"/>
            <a:r>
              <a:rPr lang="tr-TR" dirty="0"/>
              <a:t>Pek çok cihazın aksine mobil cihazlar sabit bir güç ve soğutma kaynağına sahip değildir.</a:t>
            </a:r>
          </a:p>
          <a:p>
            <a:pPr rtl="0"/>
            <a:r>
              <a:rPr lang="tr-TR" dirty="0"/>
              <a:t>Bir mobil uygulamanın işlemciyi veya ağ modülünü yoğun ve verimsiz kullanması cihazın ısınmasına, performans düşüşüne ve bataryanın hızla tükenmesine sebep olur.</a:t>
            </a:r>
          </a:p>
          <a:p>
            <a:pPr rtl="0"/>
            <a:r>
              <a:rPr lang="tr-TR" dirty="0"/>
              <a:t>Mobil cihazlarda sanal bellek kullanımı masaüstü cihazlardaki kadar esnek değildir buna bağlı olarak OOM (</a:t>
            </a:r>
            <a:r>
              <a:rPr lang="tr-TR" dirty="0" err="1"/>
              <a:t>Out</a:t>
            </a:r>
            <a:r>
              <a:rPr lang="tr-TR" dirty="0"/>
              <a:t> of Memory) hataları ile çok daha sık karşılaşılır.</a:t>
            </a:r>
          </a:p>
        </p:txBody>
      </p:sp>
    </p:spTree>
    <p:extLst>
      <p:ext uri="{BB962C8B-B14F-4D97-AF65-F5344CB8AC3E}">
        <p14:creationId xmlns:p14="http://schemas.microsoft.com/office/powerpoint/2010/main" val="1413383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3BE9-FEC9-D1D1-7B02-A9921E4BF3C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EDA5EA4-BF54-F834-42A8-8E14F5563F23}"/>
              </a:ext>
            </a:extLst>
          </p:cNvPr>
          <p:cNvSpPr>
            <a:spLocks noGrp="1"/>
          </p:cNvSpPr>
          <p:nvPr>
            <p:ph type="title"/>
          </p:nvPr>
        </p:nvSpPr>
        <p:spPr/>
        <p:txBody>
          <a:bodyPr rtlCol="0"/>
          <a:lstStyle/>
          <a:p>
            <a:pPr rtl="0"/>
            <a:r>
              <a:rPr lang="tr-TR" dirty="0"/>
              <a:t>Uygulama Yaşam Döngüsü</a:t>
            </a:r>
          </a:p>
        </p:txBody>
      </p:sp>
      <p:sp>
        <p:nvSpPr>
          <p:cNvPr id="3" name="İçerik Yer Tutucusu 2">
            <a:extLst>
              <a:ext uri="{FF2B5EF4-FFF2-40B4-BE49-F238E27FC236}">
                <a16:creationId xmlns:a16="http://schemas.microsoft.com/office/drawing/2014/main" id="{2D96264C-F0CF-29F6-D8FA-D490E592525A}"/>
              </a:ext>
            </a:extLst>
          </p:cNvPr>
          <p:cNvSpPr>
            <a:spLocks noGrp="1"/>
          </p:cNvSpPr>
          <p:nvPr>
            <p:ph idx="1"/>
          </p:nvPr>
        </p:nvSpPr>
        <p:spPr/>
        <p:txBody>
          <a:bodyPr rtlCol="0"/>
          <a:lstStyle/>
          <a:p>
            <a:pPr rtl="0"/>
            <a:r>
              <a:rPr lang="tr-TR" dirty="0"/>
              <a:t>Bir masaüstü uygulama kullanıcı kapatana kadar çalışmaya devam eder. Ancak mobil işletim sistemleri anlık olarak ekranda görünen uygulamaya maksimum kaynağı ayırmak için arka plandaki uygulamaları dondurur ve hatta sistem belleği azalırsa arka plan uygulamalarını tamamen kapatır.</a:t>
            </a:r>
          </a:p>
        </p:txBody>
      </p:sp>
      <p:pic>
        <p:nvPicPr>
          <p:cNvPr id="4" name="Resim 3" descr="How to stop apps from running in the background: iPhone and Android">
            <a:extLst>
              <a:ext uri="{FF2B5EF4-FFF2-40B4-BE49-F238E27FC236}">
                <a16:creationId xmlns:a16="http://schemas.microsoft.com/office/drawing/2014/main" id="{80D9ACF4-022B-6684-5B94-BF3E132573F0}"/>
              </a:ext>
            </a:extLst>
          </p:cNvPr>
          <p:cNvPicPr>
            <a:picLocks noChangeAspect="1"/>
          </p:cNvPicPr>
          <p:nvPr/>
        </p:nvPicPr>
        <p:blipFill>
          <a:blip r:embed="rId3"/>
          <a:stretch>
            <a:fillRect/>
          </a:stretch>
        </p:blipFill>
        <p:spPr>
          <a:xfrm>
            <a:off x="2739985" y="4032985"/>
            <a:ext cx="1338853" cy="2541551"/>
          </a:xfrm>
          <a:prstGeom prst="rect">
            <a:avLst/>
          </a:prstGeom>
        </p:spPr>
      </p:pic>
      <p:pic>
        <p:nvPicPr>
          <p:cNvPr id="5" name="Resim 4" descr="How to Stop Apps from Running in the Background on Android">
            <a:extLst>
              <a:ext uri="{FF2B5EF4-FFF2-40B4-BE49-F238E27FC236}">
                <a16:creationId xmlns:a16="http://schemas.microsoft.com/office/drawing/2014/main" id="{3B414D02-454B-8FED-4D19-DDD65A06E1CD}"/>
              </a:ext>
            </a:extLst>
          </p:cNvPr>
          <p:cNvPicPr>
            <a:picLocks noChangeAspect="1"/>
          </p:cNvPicPr>
          <p:nvPr/>
        </p:nvPicPr>
        <p:blipFill>
          <a:blip r:embed="rId4"/>
          <a:stretch>
            <a:fillRect/>
          </a:stretch>
        </p:blipFill>
        <p:spPr>
          <a:xfrm>
            <a:off x="5533627" y="4032985"/>
            <a:ext cx="4368913" cy="2446592"/>
          </a:xfrm>
          <a:prstGeom prst="rect">
            <a:avLst/>
          </a:prstGeom>
        </p:spPr>
      </p:pic>
    </p:spTree>
    <p:extLst>
      <p:ext uri="{BB962C8B-B14F-4D97-AF65-F5344CB8AC3E}">
        <p14:creationId xmlns:p14="http://schemas.microsoft.com/office/powerpoint/2010/main" val="66509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730CD-7218-14A8-0DA7-F07EE3868D5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AB9FBBA-849E-5219-E135-D463D593278B}"/>
              </a:ext>
            </a:extLst>
          </p:cNvPr>
          <p:cNvSpPr>
            <a:spLocks noGrp="1"/>
          </p:cNvSpPr>
          <p:nvPr>
            <p:ph type="title"/>
          </p:nvPr>
        </p:nvSpPr>
        <p:spPr/>
        <p:txBody>
          <a:bodyPr rtlCol="0"/>
          <a:lstStyle/>
          <a:p>
            <a:pPr rtl="0"/>
            <a:r>
              <a:rPr lang="tr-TR" dirty="0"/>
              <a:t>Etkileşim ve Arayüz</a:t>
            </a:r>
          </a:p>
        </p:txBody>
      </p:sp>
      <p:sp>
        <p:nvSpPr>
          <p:cNvPr id="3" name="İçerik Yer Tutucusu 2">
            <a:extLst>
              <a:ext uri="{FF2B5EF4-FFF2-40B4-BE49-F238E27FC236}">
                <a16:creationId xmlns:a16="http://schemas.microsoft.com/office/drawing/2014/main" id="{BCD5C267-1B9A-6AC6-76D0-82BC597CCFE0}"/>
              </a:ext>
            </a:extLst>
          </p:cNvPr>
          <p:cNvSpPr>
            <a:spLocks noGrp="1"/>
          </p:cNvSpPr>
          <p:nvPr>
            <p:ph idx="1"/>
          </p:nvPr>
        </p:nvSpPr>
        <p:spPr/>
        <p:txBody>
          <a:bodyPr rtlCol="0"/>
          <a:lstStyle/>
          <a:p>
            <a:pPr rtl="0"/>
            <a:r>
              <a:rPr lang="tr-TR" dirty="0"/>
              <a:t>Mobil cihazlarda etkileşim fare işaretçisinin kesinliğinden yoksundur.</a:t>
            </a:r>
          </a:p>
          <a:p>
            <a:pPr rtl="0"/>
            <a:r>
              <a:rPr lang="tr-TR" dirty="0"/>
              <a:t>Klavye ve fare girişleri yerine dokunsal geri bildirimler kullanılır.</a:t>
            </a:r>
          </a:p>
          <a:p>
            <a:pPr rtl="0"/>
            <a:r>
              <a:rPr lang="tr-TR" dirty="0"/>
              <a:t>Sınırlı ekran alanı nedeniyle tasarım ve geliştirmenin buna uygun yapılması gerekir.</a:t>
            </a:r>
          </a:p>
        </p:txBody>
      </p:sp>
    </p:spTree>
    <p:extLst>
      <p:ext uri="{BB962C8B-B14F-4D97-AF65-F5344CB8AC3E}">
        <p14:creationId xmlns:p14="http://schemas.microsoft.com/office/powerpoint/2010/main" val="428373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9555-6598-728F-9209-47335BD268A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AF32C73-CB72-00C1-DA26-48AE6541F4E7}"/>
              </a:ext>
            </a:extLst>
          </p:cNvPr>
          <p:cNvSpPr>
            <a:spLocks noGrp="1"/>
          </p:cNvSpPr>
          <p:nvPr>
            <p:ph type="title"/>
          </p:nvPr>
        </p:nvSpPr>
        <p:spPr/>
        <p:txBody>
          <a:bodyPr rtlCol="0"/>
          <a:lstStyle/>
          <a:p>
            <a:pPr rtl="0"/>
            <a:r>
              <a:rPr lang="tr-TR" dirty="0"/>
              <a:t>Katmanlı İşletim Sistemi Mimarisi</a:t>
            </a:r>
          </a:p>
        </p:txBody>
      </p:sp>
      <p:sp>
        <p:nvSpPr>
          <p:cNvPr id="3" name="İçerik Yer Tutucusu 2">
            <a:extLst>
              <a:ext uri="{FF2B5EF4-FFF2-40B4-BE49-F238E27FC236}">
                <a16:creationId xmlns:a16="http://schemas.microsoft.com/office/drawing/2014/main" id="{585534BD-8ED1-A3FB-8F55-2EA0EA253158}"/>
              </a:ext>
            </a:extLst>
          </p:cNvPr>
          <p:cNvSpPr>
            <a:spLocks noGrp="1"/>
          </p:cNvSpPr>
          <p:nvPr>
            <p:ph idx="1"/>
          </p:nvPr>
        </p:nvSpPr>
        <p:spPr/>
        <p:txBody>
          <a:bodyPr rtlCol="0"/>
          <a:lstStyle/>
          <a:p>
            <a:pPr rtl="0"/>
            <a:r>
              <a:rPr lang="tr-TR" dirty="0"/>
              <a:t>Masaüstü işletim sistemleri gibi mobil işletim sistemleri de donanım ile yazılım arasında bir köprü kurar ancak çok daha katı kuralları vardır.</a:t>
            </a:r>
          </a:p>
          <a:p>
            <a:pPr marL="624078" indent="-514350" rtl="0">
              <a:buFont typeface="+mj-lt"/>
              <a:buAutoNum type="arabicPeriod"/>
            </a:pPr>
            <a:r>
              <a:rPr lang="tr-TR" b="1" dirty="0"/>
              <a:t>Çekirdek: </a:t>
            </a:r>
            <a:r>
              <a:rPr lang="tr-TR" dirty="0"/>
              <a:t>Donanım ile doğrudan iletişim kuran en alt katmandır. Android’in tabanında Linux, </a:t>
            </a:r>
            <a:r>
              <a:rPr lang="tr-TR" dirty="0" err="1"/>
              <a:t>iOS’in</a:t>
            </a:r>
            <a:r>
              <a:rPr lang="tr-TR" dirty="0"/>
              <a:t> tabanında ise Unix bulunur.</a:t>
            </a:r>
          </a:p>
          <a:p>
            <a:pPr marL="624078" indent="-514350" rtl="0">
              <a:buFont typeface="+mj-lt"/>
              <a:buAutoNum type="arabicPeriod"/>
            </a:pPr>
            <a:r>
              <a:rPr lang="tr-TR" b="1" dirty="0"/>
              <a:t>Donanım Soyutlama Katmanı: </a:t>
            </a:r>
            <a:r>
              <a:rPr lang="tr-TR" dirty="0"/>
              <a:t>Üst katmandaki yazılımların, alt katmandaki donanımların hangi markaya ait olduğunu bilmeden doğrudan çalışmasını sağlar.</a:t>
            </a:r>
            <a:endParaRPr lang="tr-TR" b="1" dirty="0"/>
          </a:p>
          <a:p>
            <a:pPr rtl="0"/>
            <a:endParaRPr lang="tr-TR" dirty="0"/>
          </a:p>
        </p:txBody>
      </p:sp>
    </p:spTree>
    <p:extLst>
      <p:ext uri="{BB962C8B-B14F-4D97-AF65-F5344CB8AC3E}">
        <p14:creationId xmlns:p14="http://schemas.microsoft.com/office/powerpoint/2010/main" val="3738814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D3A7-27A0-4529-E757-AAC48EE079B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9A5EE4D-F510-7609-F5AD-749486221A20}"/>
              </a:ext>
            </a:extLst>
          </p:cNvPr>
          <p:cNvSpPr>
            <a:spLocks noGrp="1"/>
          </p:cNvSpPr>
          <p:nvPr>
            <p:ph type="title"/>
          </p:nvPr>
        </p:nvSpPr>
        <p:spPr/>
        <p:txBody>
          <a:bodyPr rtlCol="0"/>
          <a:lstStyle/>
          <a:p>
            <a:pPr rtl="0"/>
            <a:r>
              <a:rPr lang="tr-TR" dirty="0"/>
              <a:t>Katmanlı İşletim Sistemi Mimarisi</a:t>
            </a:r>
          </a:p>
        </p:txBody>
      </p:sp>
      <p:sp>
        <p:nvSpPr>
          <p:cNvPr id="3" name="İçerik Yer Tutucusu 2">
            <a:extLst>
              <a:ext uri="{FF2B5EF4-FFF2-40B4-BE49-F238E27FC236}">
                <a16:creationId xmlns:a16="http://schemas.microsoft.com/office/drawing/2014/main" id="{82968101-6BF2-31CF-CF4D-F6250CF11610}"/>
              </a:ext>
            </a:extLst>
          </p:cNvPr>
          <p:cNvSpPr>
            <a:spLocks noGrp="1"/>
          </p:cNvSpPr>
          <p:nvPr>
            <p:ph idx="1"/>
          </p:nvPr>
        </p:nvSpPr>
        <p:spPr/>
        <p:txBody>
          <a:bodyPr rtlCol="0"/>
          <a:lstStyle/>
          <a:p>
            <a:pPr rtl="0"/>
            <a:r>
              <a:rPr lang="tr-TR" dirty="0"/>
              <a:t>Masaüstü işletim sistemleri gibi mobil işletim sistemleri de donanım ile yazılım arasında bir köprü kurar ancak çok daha katı kuralları vardır.</a:t>
            </a:r>
          </a:p>
          <a:p>
            <a:pPr marL="624078" indent="-514350" rtl="0">
              <a:buFont typeface="+mj-lt"/>
              <a:buAutoNum type="arabicPeriod" startAt="3"/>
            </a:pPr>
            <a:r>
              <a:rPr lang="tr-TR" b="1" dirty="0"/>
              <a:t>Uygulama Çatısı: </a:t>
            </a:r>
            <a:r>
              <a:rPr lang="tr-TR" dirty="0"/>
              <a:t>Geliştiricilerin kullandığı </a:t>
            </a:r>
            <a:r>
              <a:rPr lang="tr-TR" dirty="0" err="1"/>
              <a:t>API’ların</a:t>
            </a:r>
            <a:r>
              <a:rPr lang="tr-TR" dirty="0"/>
              <a:t> bulunduğu katmandır.</a:t>
            </a:r>
          </a:p>
          <a:p>
            <a:pPr marL="624078" indent="-514350" rtl="0">
              <a:buFont typeface="+mj-lt"/>
              <a:buAutoNum type="arabicPeriod" startAt="3"/>
            </a:pPr>
            <a:r>
              <a:rPr lang="tr-TR" b="1" dirty="0"/>
              <a:t>Uygulamalar: </a:t>
            </a:r>
            <a:r>
              <a:rPr lang="tr-TR" dirty="0"/>
              <a:t>En üst katmandır. Hem sistem uygulamaları hem de 3.parti uygulamalar burada çalışır.</a:t>
            </a:r>
            <a:endParaRPr lang="tr-TR" b="1" dirty="0"/>
          </a:p>
        </p:txBody>
      </p:sp>
    </p:spTree>
    <p:extLst>
      <p:ext uri="{BB962C8B-B14F-4D97-AF65-F5344CB8AC3E}">
        <p14:creationId xmlns:p14="http://schemas.microsoft.com/office/powerpoint/2010/main" val="5317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B9CE-F62B-5D2A-639B-76D00D716F9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E72AA06-2A77-6639-6E2C-11D73AA01741}"/>
              </a:ext>
            </a:extLst>
          </p:cNvPr>
          <p:cNvSpPr>
            <a:spLocks noGrp="1"/>
          </p:cNvSpPr>
          <p:nvPr>
            <p:ph type="title"/>
          </p:nvPr>
        </p:nvSpPr>
        <p:spPr/>
        <p:txBody>
          <a:bodyPr rtlCol="0"/>
          <a:lstStyle/>
          <a:p>
            <a:pPr rtl="0"/>
            <a:r>
              <a:rPr lang="tr-TR" dirty="0" err="1"/>
              <a:t>Sandbox</a:t>
            </a:r>
            <a:r>
              <a:rPr lang="tr-TR" dirty="0"/>
              <a:t> (Kum Havuzu)</a:t>
            </a:r>
          </a:p>
        </p:txBody>
      </p:sp>
      <p:sp>
        <p:nvSpPr>
          <p:cNvPr id="3" name="İçerik Yer Tutucusu 2">
            <a:extLst>
              <a:ext uri="{FF2B5EF4-FFF2-40B4-BE49-F238E27FC236}">
                <a16:creationId xmlns:a16="http://schemas.microsoft.com/office/drawing/2014/main" id="{1A2B67F1-6447-6E62-A7AB-2382FEE7DDA4}"/>
              </a:ext>
            </a:extLst>
          </p:cNvPr>
          <p:cNvSpPr>
            <a:spLocks noGrp="1"/>
          </p:cNvSpPr>
          <p:nvPr>
            <p:ph idx="1"/>
          </p:nvPr>
        </p:nvSpPr>
        <p:spPr/>
        <p:txBody>
          <a:bodyPr rtlCol="0"/>
          <a:lstStyle/>
          <a:p>
            <a:pPr rtl="0"/>
            <a:r>
              <a:rPr lang="tr-TR" dirty="0"/>
              <a:t>Her mobil uygulama işletim sistemi tarafından izole edilmiş, kendine ait sanal bir alan(</a:t>
            </a:r>
            <a:r>
              <a:rPr lang="tr-TR" dirty="0" err="1"/>
              <a:t>sandbox</a:t>
            </a:r>
            <a:r>
              <a:rPr lang="tr-TR" dirty="0"/>
              <a:t>) içinde çalıştırılır. A uygulaması, işletim sisteminden açıkça izin almadan B uygulamasının dosyalarına veya belleğine erişemez! Bu mobil güvenliğin bilimsel temelidir.</a:t>
            </a:r>
          </a:p>
        </p:txBody>
      </p:sp>
      <p:pic>
        <p:nvPicPr>
          <p:cNvPr id="4" name="Resim 3" descr="How to Debug and Solve an App Sandbox Related Issue Within the Xcode IDE">
            <a:extLst>
              <a:ext uri="{FF2B5EF4-FFF2-40B4-BE49-F238E27FC236}">
                <a16:creationId xmlns:a16="http://schemas.microsoft.com/office/drawing/2014/main" id="{3A476737-A796-8D6D-BD75-4CF7FA64F945}"/>
              </a:ext>
            </a:extLst>
          </p:cNvPr>
          <p:cNvPicPr>
            <a:picLocks noChangeAspect="1"/>
          </p:cNvPicPr>
          <p:nvPr/>
        </p:nvPicPr>
        <p:blipFill>
          <a:blip r:embed="rId3"/>
          <a:stretch>
            <a:fillRect/>
          </a:stretch>
        </p:blipFill>
        <p:spPr>
          <a:xfrm>
            <a:off x="1317936" y="4119715"/>
            <a:ext cx="2734299" cy="2471806"/>
          </a:xfrm>
          <a:prstGeom prst="rect">
            <a:avLst/>
          </a:prstGeom>
        </p:spPr>
      </p:pic>
      <p:pic>
        <p:nvPicPr>
          <p:cNvPr id="5" name="Resim 4" descr="Exploring iOS's Sandbox. Persisting data on an app is a… | by Rob Deans |  Medium">
            <a:extLst>
              <a:ext uri="{FF2B5EF4-FFF2-40B4-BE49-F238E27FC236}">
                <a16:creationId xmlns:a16="http://schemas.microsoft.com/office/drawing/2014/main" id="{6EA23381-1C11-413E-7FC4-19F33FB8339E}"/>
              </a:ext>
            </a:extLst>
          </p:cNvPr>
          <p:cNvPicPr>
            <a:picLocks noChangeAspect="1"/>
          </p:cNvPicPr>
          <p:nvPr/>
        </p:nvPicPr>
        <p:blipFill>
          <a:blip r:embed="rId4"/>
          <a:stretch>
            <a:fillRect/>
          </a:stretch>
        </p:blipFill>
        <p:spPr>
          <a:xfrm>
            <a:off x="5008011" y="4102730"/>
            <a:ext cx="6574389" cy="2471806"/>
          </a:xfrm>
          <a:prstGeom prst="rect">
            <a:avLst/>
          </a:prstGeom>
        </p:spPr>
      </p:pic>
    </p:spTree>
    <p:extLst>
      <p:ext uri="{BB962C8B-B14F-4D97-AF65-F5344CB8AC3E}">
        <p14:creationId xmlns:p14="http://schemas.microsoft.com/office/powerpoint/2010/main" val="250497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A7AE4-D661-3FBA-DB4B-97B01FDC8AD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4A7FCD1-332E-362D-676B-EA02492E707E}"/>
              </a:ext>
            </a:extLst>
          </p:cNvPr>
          <p:cNvSpPr>
            <a:spLocks noGrp="1"/>
          </p:cNvSpPr>
          <p:nvPr>
            <p:ph type="title"/>
          </p:nvPr>
        </p:nvSpPr>
        <p:spPr/>
        <p:txBody>
          <a:bodyPr rtlCol="0"/>
          <a:lstStyle/>
          <a:p>
            <a:pPr rtl="0"/>
            <a:r>
              <a:rPr lang="tr-TR" dirty="0"/>
              <a:t>İzin Modeli</a:t>
            </a:r>
          </a:p>
        </p:txBody>
      </p:sp>
      <p:sp>
        <p:nvSpPr>
          <p:cNvPr id="3" name="İçerik Yer Tutucusu 2">
            <a:extLst>
              <a:ext uri="{FF2B5EF4-FFF2-40B4-BE49-F238E27FC236}">
                <a16:creationId xmlns:a16="http://schemas.microsoft.com/office/drawing/2014/main" id="{4E1922C0-8EED-B03C-2299-AFC8E841720D}"/>
              </a:ext>
            </a:extLst>
          </p:cNvPr>
          <p:cNvSpPr>
            <a:spLocks noGrp="1"/>
          </p:cNvSpPr>
          <p:nvPr>
            <p:ph idx="1"/>
          </p:nvPr>
        </p:nvSpPr>
        <p:spPr/>
        <p:txBody>
          <a:bodyPr rtlCol="0"/>
          <a:lstStyle/>
          <a:p>
            <a:pPr rtl="0"/>
            <a:r>
              <a:rPr lang="tr-TR" dirty="0"/>
              <a:t>Mobil uygulamalar varsayılan olarak hiçbir donanım veya kullanıcı verisine(konum, rehber vs.) erişemez. Geliştiriciler bu izinleri Android işletim sisteminde </a:t>
            </a:r>
            <a:r>
              <a:rPr lang="tr-TR" dirty="0" err="1"/>
              <a:t>Manifest</a:t>
            </a:r>
            <a:r>
              <a:rPr lang="tr-TR" dirty="0"/>
              <a:t>, iOS işletim sisteminde ise </a:t>
            </a:r>
            <a:r>
              <a:rPr lang="tr-TR" dirty="0" err="1"/>
              <a:t>Info.plist</a:t>
            </a:r>
            <a:r>
              <a:rPr lang="tr-TR" dirty="0"/>
              <a:t> dosyalarında tanımlamalı ve çalışma zamanında kullanıcıdan onay almalıdır.</a:t>
            </a:r>
          </a:p>
          <a:p>
            <a:pPr rtl="0"/>
            <a:endParaRPr lang="tr-TR" dirty="0"/>
          </a:p>
        </p:txBody>
      </p:sp>
    </p:spTree>
    <p:extLst>
      <p:ext uri="{BB962C8B-B14F-4D97-AF65-F5344CB8AC3E}">
        <p14:creationId xmlns:p14="http://schemas.microsoft.com/office/powerpoint/2010/main" val="4208202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AFDD4-E475-5A4C-0BF3-2C61E238077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16D9972-1294-59B8-2C74-22F44E88C179}"/>
              </a:ext>
            </a:extLst>
          </p:cNvPr>
          <p:cNvSpPr>
            <a:spLocks noGrp="1"/>
          </p:cNvSpPr>
          <p:nvPr>
            <p:ph type="title"/>
          </p:nvPr>
        </p:nvSpPr>
        <p:spPr/>
        <p:txBody>
          <a:bodyPr rtlCol="0"/>
          <a:lstStyle/>
          <a:p>
            <a:pPr rtl="0"/>
            <a:r>
              <a:rPr lang="tr-TR" dirty="0"/>
              <a:t>İzin Modeli</a:t>
            </a:r>
          </a:p>
        </p:txBody>
      </p:sp>
      <p:pic>
        <p:nvPicPr>
          <p:cNvPr id="4" name="İçerik Yer Tutucusu 3" descr="Android Permissions: Add the following line to your app's AndroidManifest.xml  · Issue #2213 · react-native-maps/react-native-maps">
            <a:extLst>
              <a:ext uri="{FF2B5EF4-FFF2-40B4-BE49-F238E27FC236}">
                <a16:creationId xmlns:a16="http://schemas.microsoft.com/office/drawing/2014/main" id="{4A023182-13CB-4AC1-E546-698158884CC9}"/>
              </a:ext>
            </a:extLst>
          </p:cNvPr>
          <p:cNvPicPr>
            <a:picLocks noGrp="1" noChangeAspect="1"/>
          </p:cNvPicPr>
          <p:nvPr>
            <p:ph idx="1"/>
          </p:nvPr>
        </p:nvPicPr>
        <p:blipFill>
          <a:blip r:embed="rId3"/>
          <a:stretch>
            <a:fillRect/>
          </a:stretch>
        </p:blipFill>
        <p:spPr>
          <a:xfrm>
            <a:off x="609600" y="3132892"/>
            <a:ext cx="6147335" cy="2419591"/>
          </a:xfrm>
          <a:prstGeom prst="rect">
            <a:avLst/>
          </a:prstGeom>
        </p:spPr>
      </p:pic>
      <p:pic>
        <p:nvPicPr>
          <p:cNvPr id="5" name="Resim 4" descr="Request runtime permissions | Privacy | Android Developers">
            <a:extLst>
              <a:ext uri="{FF2B5EF4-FFF2-40B4-BE49-F238E27FC236}">
                <a16:creationId xmlns:a16="http://schemas.microsoft.com/office/drawing/2014/main" id="{0DD520B8-2D59-0A15-5875-B11A68684255}"/>
              </a:ext>
            </a:extLst>
          </p:cNvPr>
          <p:cNvPicPr>
            <a:picLocks noChangeAspect="1"/>
          </p:cNvPicPr>
          <p:nvPr/>
        </p:nvPicPr>
        <p:blipFill>
          <a:blip r:embed="rId4"/>
          <a:stretch>
            <a:fillRect/>
          </a:stretch>
        </p:blipFill>
        <p:spPr>
          <a:xfrm>
            <a:off x="7350310" y="2724431"/>
            <a:ext cx="3627653" cy="3236511"/>
          </a:xfrm>
          <a:prstGeom prst="rect">
            <a:avLst/>
          </a:prstGeom>
        </p:spPr>
      </p:pic>
    </p:spTree>
    <p:extLst>
      <p:ext uri="{BB962C8B-B14F-4D97-AF65-F5344CB8AC3E}">
        <p14:creationId xmlns:p14="http://schemas.microsoft.com/office/powerpoint/2010/main" val="355079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373F4-6389-984C-9C7D-8FFB876E9A5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9809A60-6BFE-BE6D-40B2-64870E694BB0}"/>
              </a:ext>
            </a:extLst>
          </p:cNvPr>
          <p:cNvSpPr>
            <a:spLocks noGrp="1"/>
          </p:cNvSpPr>
          <p:nvPr>
            <p:ph type="title"/>
          </p:nvPr>
        </p:nvSpPr>
        <p:spPr/>
        <p:txBody>
          <a:bodyPr rtlCol="0"/>
          <a:lstStyle/>
          <a:p>
            <a:pPr rtl="0"/>
            <a:r>
              <a:rPr lang="tr-TR" dirty="0"/>
              <a:t>Mobil İşletim Sistemleri</a:t>
            </a:r>
          </a:p>
        </p:txBody>
      </p:sp>
      <p:sp>
        <p:nvSpPr>
          <p:cNvPr id="3" name="İçerik Yer Tutucusu 2">
            <a:extLst>
              <a:ext uri="{FF2B5EF4-FFF2-40B4-BE49-F238E27FC236}">
                <a16:creationId xmlns:a16="http://schemas.microsoft.com/office/drawing/2014/main" id="{92C5F050-5938-BC05-1235-A722500E2BC2}"/>
              </a:ext>
            </a:extLst>
          </p:cNvPr>
          <p:cNvSpPr>
            <a:spLocks noGrp="1"/>
          </p:cNvSpPr>
          <p:nvPr>
            <p:ph idx="1"/>
          </p:nvPr>
        </p:nvSpPr>
        <p:spPr/>
        <p:txBody>
          <a:bodyPr rtlCol="0"/>
          <a:lstStyle/>
          <a:p>
            <a:pPr rtl="0"/>
            <a:r>
              <a:rPr lang="tr-TR" dirty="0"/>
              <a:t>Masaüstü işletim sistemlerinden farklı olarak mobil işletim sistemlerinin öncelikli görevi kaynak kıtlığını yönetmektir.</a:t>
            </a:r>
          </a:p>
          <a:p>
            <a:pPr rtl="0"/>
            <a:r>
              <a:rPr lang="tr-TR" dirty="0"/>
              <a:t>Günümüzde mobil pazarın çok büyük bir bölümü iki büyük şirketin kontrolündedir. Bunlar Google tarafından geliştirilen Android ve Apple tarafından geliştirilen iOS’tur.</a:t>
            </a:r>
          </a:p>
          <a:p>
            <a:pPr rtl="0"/>
            <a:endParaRPr lang="tr-TR" dirty="0"/>
          </a:p>
        </p:txBody>
      </p:sp>
      <p:pic>
        <p:nvPicPr>
          <p:cNvPr id="4" name="Resim 3" descr="Dosya:Android robot.svg - Vikipedi">
            <a:extLst>
              <a:ext uri="{FF2B5EF4-FFF2-40B4-BE49-F238E27FC236}">
                <a16:creationId xmlns:a16="http://schemas.microsoft.com/office/drawing/2014/main" id="{7F54FB9E-447E-1810-C10C-30A55F7F9F7B}"/>
              </a:ext>
            </a:extLst>
          </p:cNvPr>
          <p:cNvPicPr>
            <a:picLocks noChangeAspect="1"/>
          </p:cNvPicPr>
          <p:nvPr/>
        </p:nvPicPr>
        <p:blipFill>
          <a:blip r:embed="rId3"/>
          <a:stretch>
            <a:fillRect/>
          </a:stretch>
        </p:blipFill>
        <p:spPr>
          <a:xfrm>
            <a:off x="3220642" y="4606958"/>
            <a:ext cx="1676020" cy="1967578"/>
          </a:xfrm>
          <a:prstGeom prst="rect">
            <a:avLst/>
          </a:prstGeom>
        </p:spPr>
      </p:pic>
      <p:pic>
        <p:nvPicPr>
          <p:cNvPr id="5" name="Resim 4" descr="iOS nedir? iOS ne işe yarar? iOS hangi telefonlarda var? iOS nasıl çalışır?  iOS anlamı ne demek? - Teknolojinin Gündemi">
            <a:extLst>
              <a:ext uri="{FF2B5EF4-FFF2-40B4-BE49-F238E27FC236}">
                <a16:creationId xmlns:a16="http://schemas.microsoft.com/office/drawing/2014/main" id="{CA8A2D74-E415-5E1D-4955-3549FA8EA885}"/>
              </a:ext>
            </a:extLst>
          </p:cNvPr>
          <p:cNvPicPr>
            <a:picLocks noChangeAspect="1"/>
          </p:cNvPicPr>
          <p:nvPr/>
        </p:nvPicPr>
        <p:blipFill>
          <a:blip r:embed="rId4"/>
          <a:stretch>
            <a:fillRect/>
          </a:stretch>
        </p:blipFill>
        <p:spPr>
          <a:xfrm>
            <a:off x="6096000" y="4674068"/>
            <a:ext cx="3449052" cy="1940092"/>
          </a:xfrm>
          <a:prstGeom prst="rect">
            <a:avLst/>
          </a:prstGeom>
        </p:spPr>
      </p:pic>
    </p:spTree>
    <p:extLst>
      <p:ext uri="{BB962C8B-B14F-4D97-AF65-F5344CB8AC3E}">
        <p14:creationId xmlns:p14="http://schemas.microsoft.com/office/powerpoint/2010/main" val="282160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25ADC-5D85-4400-DB54-27E6B6E29D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825F16C-1CCC-10F0-A50F-8E4BAAFA057B}"/>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EB63EB8A-25E6-61E0-EE90-6C11C6DDD996}"/>
              </a:ext>
            </a:extLst>
          </p:cNvPr>
          <p:cNvSpPr>
            <a:spLocks noGrp="1"/>
          </p:cNvSpPr>
          <p:nvPr>
            <p:ph idx="1"/>
          </p:nvPr>
        </p:nvSpPr>
        <p:spPr/>
        <p:txBody>
          <a:bodyPr rtlCol="0"/>
          <a:lstStyle/>
          <a:p>
            <a:pPr rtl="0"/>
            <a:r>
              <a:rPr lang="tr-TR" dirty="0"/>
              <a:t>Android işletim sistemi temelde Linux çekirdeği üzerine kurulmuştur.</a:t>
            </a:r>
          </a:p>
          <a:p>
            <a:pPr rtl="0"/>
            <a:r>
              <a:rPr lang="tr-TR" dirty="0"/>
              <a:t>Açık kaynak kodlu bir işletim sistemidir. İsteyen her üretici kullanabilir.</a:t>
            </a:r>
          </a:p>
          <a:p>
            <a:pPr rtl="0"/>
            <a:r>
              <a:rPr lang="tr-TR" dirty="0"/>
              <a:t>İşletim sistemi açık kaynak kodlu olmasına karşın Google Play </a:t>
            </a:r>
            <a:r>
              <a:rPr lang="tr-TR" dirty="0" err="1"/>
              <a:t>Store</a:t>
            </a:r>
            <a:r>
              <a:rPr lang="tr-TR" dirty="0"/>
              <a:t>, Google Haritalar, </a:t>
            </a:r>
            <a:r>
              <a:rPr lang="tr-TR" dirty="0" err="1"/>
              <a:t>Firebase</a:t>
            </a:r>
            <a:r>
              <a:rPr lang="tr-TR" dirty="0"/>
              <a:t> gibi hizmetleri kapalı kaynaklıdır ve ücrete tabidir. Dolayısıyla modern bir mobil uygulamanın bildirim alabilmesi veya konum gösterebilmesi için cihazda bu hizmetlerin yer alması gerekir.</a:t>
            </a:r>
          </a:p>
          <a:p>
            <a:pPr rtl="0"/>
            <a:endParaRPr lang="tr-TR" dirty="0"/>
          </a:p>
        </p:txBody>
      </p:sp>
      <p:pic>
        <p:nvPicPr>
          <p:cNvPr id="6" name="Resim 5" descr="Google Play Store'a beklenen özellik: Yorumlarda arama geliyor |  DonanımHaber">
            <a:extLst>
              <a:ext uri="{FF2B5EF4-FFF2-40B4-BE49-F238E27FC236}">
                <a16:creationId xmlns:a16="http://schemas.microsoft.com/office/drawing/2014/main" id="{1D91C228-BE56-01E6-3287-EB51B183AF21}"/>
              </a:ext>
            </a:extLst>
          </p:cNvPr>
          <p:cNvPicPr>
            <a:picLocks noChangeAspect="1"/>
          </p:cNvPicPr>
          <p:nvPr/>
        </p:nvPicPr>
        <p:blipFill>
          <a:blip r:embed="rId3"/>
          <a:stretch>
            <a:fillRect/>
          </a:stretch>
        </p:blipFill>
        <p:spPr>
          <a:xfrm>
            <a:off x="3428628" y="5294634"/>
            <a:ext cx="2367815" cy="1279900"/>
          </a:xfrm>
          <a:prstGeom prst="rect">
            <a:avLst/>
          </a:prstGeom>
        </p:spPr>
      </p:pic>
      <p:pic>
        <p:nvPicPr>
          <p:cNvPr id="7" name="Resim 6" descr="Google Haritalar - Vikipedi">
            <a:extLst>
              <a:ext uri="{FF2B5EF4-FFF2-40B4-BE49-F238E27FC236}">
                <a16:creationId xmlns:a16="http://schemas.microsoft.com/office/drawing/2014/main" id="{035CC6E2-4FFF-D9F8-6A0B-B64959B713D8}"/>
              </a:ext>
            </a:extLst>
          </p:cNvPr>
          <p:cNvPicPr>
            <a:picLocks noChangeAspect="1"/>
          </p:cNvPicPr>
          <p:nvPr/>
        </p:nvPicPr>
        <p:blipFill>
          <a:blip r:embed="rId4"/>
          <a:stretch>
            <a:fillRect/>
          </a:stretch>
        </p:blipFill>
        <p:spPr>
          <a:xfrm flipH="1">
            <a:off x="6395558" y="5294634"/>
            <a:ext cx="1279901" cy="1279901"/>
          </a:xfrm>
          <a:prstGeom prst="rect">
            <a:avLst/>
          </a:prstGeom>
        </p:spPr>
      </p:pic>
    </p:spTree>
    <p:extLst>
      <p:ext uri="{BB962C8B-B14F-4D97-AF65-F5344CB8AC3E}">
        <p14:creationId xmlns:p14="http://schemas.microsoft.com/office/powerpoint/2010/main" val="1365287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1E5C-4CE4-5A13-7E04-A3911CDD420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F8B9175-E381-D713-DECA-CB986724310E}"/>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DC567641-AAE9-3C6C-5675-46CA6649B62C}"/>
              </a:ext>
            </a:extLst>
          </p:cNvPr>
          <p:cNvSpPr>
            <a:spLocks noGrp="1"/>
          </p:cNvSpPr>
          <p:nvPr>
            <p:ph idx="1"/>
          </p:nvPr>
        </p:nvSpPr>
        <p:spPr/>
        <p:txBody>
          <a:bodyPr rtlCol="0"/>
          <a:lstStyle/>
          <a:p>
            <a:pPr rtl="0"/>
            <a:r>
              <a:rPr lang="tr-TR" dirty="0"/>
              <a:t>İlk Android sürümü 1.0 olarak 2008 yılında piyasaya sürülmüştür.</a:t>
            </a:r>
          </a:p>
          <a:p>
            <a:pPr rtl="0"/>
            <a:r>
              <a:rPr lang="tr-TR" dirty="0"/>
              <a:t>Günümüzde son olarak Android 17 çıkmıştır.</a:t>
            </a:r>
          </a:p>
          <a:p>
            <a:pPr rtl="0"/>
            <a:r>
              <a:rPr lang="tr-TR" dirty="0"/>
              <a:t>Android işletim sistemi için yazılan kodlar doğrudan makine diline çevrilmez! Önce DEX(</a:t>
            </a:r>
            <a:r>
              <a:rPr lang="tr-TR" dirty="0" err="1"/>
              <a:t>Dalvik</a:t>
            </a:r>
            <a:r>
              <a:rPr lang="tr-TR" dirty="0"/>
              <a:t> </a:t>
            </a:r>
            <a:r>
              <a:rPr lang="tr-TR" dirty="0" err="1"/>
              <a:t>Executable</a:t>
            </a:r>
            <a:r>
              <a:rPr lang="tr-TR" dirty="0"/>
              <a:t>) adı verilen bir ara koda derlenir. Cihaz üzerinde bu DEX kodunu ART(Android Runtime) çalıştırır. ART performansı artırmak için AOT ve JIT yöntemlerini hibrit olarak kullanarak makine diline çevirme işlemini tamamlar. Bellek yönetimi için </a:t>
            </a:r>
            <a:r>
              <a:rPr lang="tr-TR" dirty="0" err="1"/>
              <a:t>Garbage</a:t>
            </a:r>
            <a:r>
              <a:rPr lang="tr-TR" dirty="0"/>
              <a:t> </a:t>
            </a:r>
            <a:r>
              <a:rPr lang="tr-TR" dirty="0" err="1"/>
              <a:t>Collector</a:t>
            </a:r>
            <a:r>
              <a:rPr lang="tr-TR" dirty="0"/>
              <a:t>(Çöp Toplayıcı) mekanizması kullanılır.</a:t>
            </a:r>
          </a:p>
          <a:p>
            <a:pPr rtl="0"/>
            <a:endParaRPr lang="tr-TR" dirty="0"/>
          </a:p>
        </p:txBody>
      </p:sp>
    </p:spTree>
    <p:extLst>
      <p:ext uri="{BB962C8B-B14F-4D97-AF65-F5344CB8AC3E}">
        <p14:creationId xmlns:p14="http://schemas.microsoft.com/office/powerpoint/2010/main" val="188304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81C21-13D4-1CD5-A7DC-CE8A91C9506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F2A6732-0307-A1C7-5B1F-71DB5417F044}"/>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E3BD4FDA-1481-59A9-A554-B3361C105CB0}"/>
              </a:ext>
            </a:extLst>
          </p:cNvPr>
          <p:cNvSpPr>
            <a:spLocks noGrp="1"/>
          </p:cNvSpPr>
          <p:nvPr>
            <p:ph idx="1"/>
          </p:nvPr>
        </p:nvSpPr>
        <p:spPr/>
        <p:txBody>
          <a:bodyPr rtlCol="0"/>
          <a:lstStyle/>
          <a:p>
            <a:pPr rtl="0"/>
            <a:r>
              <a:rPr lang="tr-TR" dirty="0"/>
              <a:t>Android işletim sisteminin alt katmanları C/C++ dillerini kullanır ancak Android’e uygulama geliştirmek için kullanılan resmi ve modern diller </a:t>
            </a:r>
            <a:r>
              <a:rPr lang="tr-TR" dirty="0" err="1"/>
              <a:t>Kotlin</a:t>
            </a:r>
            <a:r>
              <a:rPr lang="tr-TR" dirty="0"/>
              <a:t> ve Java’dır.</a:t>
            </a:r>
          </a:p>
          <a:p>
            <a:pPr rtl="0"/>
            <a:r>
              <a:rPr lang="tr-TR" dirty="0"/>
              <a:t>Google, 2019 yılında </a:t>
            </a:r>
            <a:r>
              <a:rPr lang="tr-TR" dirty="0" err="1"/>
              <a:t>Kotlin’i</a:t>
            </a:r>
            <a:r>
              <a:rPr lang="tr-TR" dirty="0"/>
              <a:t> Android için birincil ve önerilen geliştirme dili olarak ilan etmiştir.</a:t>
            </a:r>
          </a:p>
          <a:p>
            <a:pPr rtl="0"/>
            <a:endParaRPr lang="tr-TR" dirty="0"/>
          </a:p>
        </p:txBody>
      </p:sp>
      <p:pic>
        <p:nvPicPr>
          <p:cNvPr id="4" name="Resim 3" descr="Kotlin Programming language (@KotlinPL) • Facebook">
            <a:extLst>
              <a:ext uri="{FF2B5EF4-FFF2-40B4-BE49-F238E27FC236}">
                <a16:creationId xmlns:a16="http://schemas.microsoft.com/office/drawing/2014/main" id="{4D4E3F44-EBD4-3BBA-AF03-F32AE43CABD7}"/>
              </a:ext>
            </a:extLst>
          </p:cNvPr>
          <p:cNvPicPr>
            <a:picLocks noChangeAspect="1"/>
          </p:cNvPicPr>
          <p:nvPr/>
        </p:nvPicPr>
        <p:blipFill>
          <a:blip r:embed="rId3"/>
          <a:stretch>
            <a:fillRect/>
          </a:stretch>
        </p:blipFill>
        <p:spPr>
          <a:xfrm>
            <a:off x="3259455" y="4645974"/>
            <a:ext cx="1928562" cy="1928562"/>
          </a:xfrm>
          <a:prstGeom prst="rect">
            <a:avLst/>
          </a:prstGeom>
        </p:spPr>
      </p:pic>
      <p:pic>
        <p:nvPicPr>
          <p:cNvPr id="5" name="Resim 4" descr="Kurumsal Java Eğitimleri">
            <a:extLst>
              <a:ext uri="{FF2B5EF4-FFF2-40B4-BE49-F238E27FC236}">
                <a16:creationId xmlns:a16="http://schemas.microsoft.com/office/drawing/2014/main" id="{5FC465EE-D48E-B52D-2DAB-1DFFD70444FD}"/>
              </a:ext>
            </a:extLst>
          </p:cNvPr>
          <p:cNvPicPr>
            <a:picLocks noChangeAspect="1"/>
          </p:cNvPicPr>
          <p:nvPr/>
        </p:nvPicPr>
        <p:blipFill>
          <a:blip r:embed="rId4"/>
          <a:stretch>
            <a:fillRect/>
          </a:stretch>
        </p:blipFill>
        <p:spPr>
          <a:xfrm>
            <a:off x="6221932" y="4645974"/>
            <a:ext cx="3085698" cy="1928562"/>
          </a:xfrm>
          <a:prstGeom prst="rect">
            <a:avLst/>
          </a:prstGeom>
        </p:spPr>
      </p:pic>
    </p:spTree>
    <p:extLst>
      <p:ext uri="{BB962C8B-B14F-4D97-AF65-F5344CB8AC3E}">
        <p14:creationId xmlns:p14="http://schemas.microsoft.com/office/powerpoint/2010/main" val="141783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7A56-5A86-1BCE-46FB-00DBBBF9B23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DFB797A-4D1A-6830-C70E-C11292891B6F}"/>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F2A2DBC2-B481-18E6-657F-7CA9B88211FD}"/>
              </a:ext>
            </a:extLst>
          </p:cNvPr>
          <p:cNvSpPr>
            <a:spLocks noGrp="1"/>
          </p:cNvSpPr>
          <p:nvPr>
            <p:ph idx="1"/>
          </p:nvPr>
        </p:nvSpPr>
        <p:spPr/>
        <p:txBody>
          <a:bodyPr rtlCol="0"/>
          <a:lstStyle/>
          <a:p>
            <a:pPr rtl="0"/>
            <a:r>
              <a:rPr lang="tr-TR" dirty="0"/>
              <a:t>Geleneksel olarak Android uygulamaları .</a:t>
            </a:r>
            <a:r>
              <a:rPr lang="tr-TR" dirty="0" err="1"/>
              <a:t>apk</a:t>
            </a:r>
            <a:r>
              <a:rPr lang="tr-TR" dirty="0"/>
              <a:t> (Android </a:t>
            </a:r>
            <a:r>
              <a:rPr lang="tr-TR" dirty="0" err="1"/>
              <a:t>Package</a:t>
            </a:r>
            <a:r>
              <a:rPr lang="tr-TR" dirty="0"/>
              <a:t> Kit) formatındadır ve cihazda bu formatta çalışırlar. Ancak günümüzde Google Play </a:t>
            </a:r>
            <a:r>
              <a:rPr lang="tr-TR" dirty="0" err="1"/>
              <a:t>Store'a</a:t>
            </a:r>
            <a:r>
              <a:rPr lang="tr-TR" dirty="0"/>
              <a:t> uygulama yüklerken, uygulamanın boyutunu cihaz bazlı optimize eden .</a:t>
            </a:r>
            <a:r>
              <a:rPr lang="tr-TR" dirty="0" err="1"/>
              <a:t>aab</a:t>
            </a:r>
            <a:r>
              <a:rPr lang="tr-TR" dirty="0"/>
              <a:t> (Android </a:t>
            </a:r>
            <a:r>
              <a:rPr lang="tr-TR" dirty="0" err="1"/>
              <a:t>App</a:t>
            </a:r>
            <a:r>
              <a:rPr lang="tr-TR" dirty="0"/>
              <a:t> Bundle) formatını kullanmak zorunludur.</a:t>
            </a:r>
          </a:p>
        </p:txBody>
      </p:sp>
      <p:pic>
        <p:nvPicPr>
          <p:cNvPr id="4" name="Resim 3" descr="Kotlin Programming language (@KotlinPL) • Facebook">
            <a:extLst>
              <a:ext uri="{FF2B5EF4-FFF2-40B4-BE49-F238E27FC236}">
                <a16:creationId xmlns:a16="http://schemas.microsoft.com/office/drawing/2014/main" id="{27724E3B-9DDC-AB33-F3C1-5F5C41DCA1C3}"/>
              </a:ext>
            </a:extLst>
          </p:cNvPr>
          <p:cNvPicPr>
            <a:picLocks noChangeAspect="1"/>
          </p:cNvPicPr>
          <p:nvPr/>
        </p:nvPicPr>
        <p:blipFill>
          <a:blip r:embed="rId3"/>
          <a:stretch>
            <a:fillRect/>
          </a:stretch>
        </p:blipFill>
        <p:spPr>
          <a:xfrm>
            <a:off x="3259455" y="4645974"/>
            <a:ext cx="1928562" cy="1928562"/>
          </a:xfrm>
          <a:prstGeom prst="rect">
            <a:avLst/>
          </a:prstGeom>
        </p:spPr>
      </p:pic>
      <p:pic>
        <p:nvPicPr>
          <p:cNvPr id="5" name="Resim 4" descr="Kurumsal Java Eğitimleri">
            <a:extLst>
              <a:ext uri="{FF2B5EF4-FFF2-40B4-BE49-F238E27FC236}">
                <a16:creationId xmlns:a16="http://schemas.microsoft.com/office/drawing/2014/main" id="{BC37B9CC-E775-D87F-6378-4DC708D12CE6}"/>
              </a:ext>
            </a:extLst>
          </p:cNvPr>
          <p:cNvPicPr>
            <a:picLocks noChangeAspect="1"/>
          </p:cNvPicPr>
          <p:nvPr/>
        </p:nvPicPr>
        <p:blipFill>
          <a:blip r:embed="rId4"/>
          <a:stretch>
            <a:fillRect/>
          </a:stretch>
        </p:blipFill>
        <p:spPr>
          <a:xfrm>
            <a:off x="6221932" y="4645974"/>
            <a:ext cx="3085698" cy="1928562"/>
          </a:xfrm>
          <a:prstGeom prst="rect">
            <a:avLst/>
          </a:prstGeom>
        </p:spPr>
      </p:pic>
    </p:spTree>
    <p:extLst>
      <p:ext uri="{BB962C8B-B14F-4D97-AF65-F5344CB8AC3E}">
        <p14:creationId xmlns:p14="http://schemas.microsoft.com/office/powerpoint/2010/main" val="217742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B27B5-1FEC-D692-17B4-36F6BF1414B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6A87C52-BE27-ECFB-712B-ECF2C164E513}"/>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A1D531AC-2AA3-CD19-ED6A-6C2419A46BEA}"/>
              </a:ext>
            </a:extLst>
          </p:cNvPr>
          <p:cNvSpPr>
            <a:spLocks noGrp="1"/>
          </p:cNvSpPr>
          <p:nvPr>
            <p:ph idx="1"/>
          </p:nvPr>
        </p:nvSpPr>
        <p:spPr/>
        <p:txBody>
          <a:bodyPr rtlCol="0"/>
          <a:lstStyle/>
          <a:p>
            <a:pPr rtl="0"/>
            <a:r>
              <a:rPr lang="tr-TR" dirty="0"/>
              <a:t>Her Android uygulaması 4 temel bileşenden oluşur.</a:t>
            </a:r>
          </a:p>
          <a:p>
            <a:pPr marL="624078" indent="-514350" rtl="0">
              <a:buFont typeface="+mj-lt"/>
              <a:buAutoNum type="arabicPeriod"/>
            </a:pPr>
            <a:r>
              <a:rPr lang="tr-TR" b="1" dirty="0"/>
              <a:t>Activity(Aktivite): </a:t>
            </a:r>
            <a:r>
              <a:rPr lang="tr-TR" dirty="0"/>
              <a:t>Kullanıcının gördüğü ve etkileşime girdiği tekil ekranlardır(</a:t>
            </a:r>
            <a:r>
              <a:rPr lang="tr-TR" dirty="0" err="1"/>
              <a:t>Örn</a:t>
            </a:r>
            <a:r>
              <a:rPr lang="tr-TR" dirty="0"/>
              <a:t>: Giriş ekranı). </a:t>
            </a:r>
          </a:p>
          <a:p>
            <a:pPr marL="624078" indent="-514350" rtl="0">
              <a:buFont typeface="+mj-lt"/>
              <a:buAutoNum type="arabicPeriod"/>
            </a:pPr>
            <a:r>
              <a:rPr lang="tr-TR" b="1" dirty="0"/>
              <a:t>Service(Servis): </a:t>
            </a:r>
            <a:r>
              <a:rPr lang="tr-TR" dirty="0"/>
              <a:t>Arayüzü olmayan, arka planda uzun süren işlemleri yürüten yapılardır(</a:t>
            </a:r>
            <a:r>
              <a:rPr lang="tr-TR" dirty="0" err="1"/>
              <a:t>Örn</a:t>
            </a:r>
            <a:r>
              <a:rPr lang="tr-TR" dirty="0"/>
              <a:t>: Arka planda müzik çalma veya dosya indirme).</a:t>
            </a:r>
          </a:p>
          <a:p>
            <a:pPr marL="624078" indent="-514350" rtl="0">
              <a:buFont typeface="+mj-lt"/>
              <a:buAutoNum type="arabicPeriod"/>
            </a:pPr>
            <a:r>
              <a:rPr lang="tr-TR" b="1" dirty="0"/>
              <a:t>Broadcast </a:t>
            </a:r>
            <a:r>
              <a:rPr lang="tr-TR" b="1" dirty="0" err="1"/>
              <a:t>Receiver</a:t>
            </a:r>
            <a:r>
              <a:rPr lang="tr-TR" b="1" dirty="0"/>
              <a:t>(Yayın Alıcı): </a:t>
            </a:r>
            <a:r>
              <a:rPr lang="tr-TR" dirty="0"/>
              <a:t>Sistemden veya diğer uygulamalardan gelen global olayları dinler(</a:t>
            </a:r>
            <a:r>
              <a:rPr lang="tr-TR" dirty="0" err="1"/>
              <a:t>Örn</a:t>
            </a:r>
            <a:r>
              <a:rPr lang="tr-TR" dirty="0"/>
              <a:t>: Şarj azaldı veya </a:t>
            </a:r>
            <a:r>
              <a:rPr lang="tr-TR" dirty="0" err="1"/>
              <a:t>Wi</a:t>
            </a:r>
            <a:r>
              <a:rPr lang="tr-TR" dirty="0"/>
              <a:t>-Fi koptu).</a:t>
            </a:r>
          </a:p>
          <a:p>
            <a:pPr marL="624078" indent="-514350" rtl="0">
              <a:buFont typeface="+mj-lt"/>
              <a:buAutoNum type="arabicPeriod"/>
            </a:pPr>
            <a:r>
              <a:rPr lang="tr-TR" b="1" dirty="0"/>
              <a:t>Content Provider(İçerik Sağlayıcı): </a:t>
            </a:r>
            <a:r>
              <a:rPr lang="tr-TR" dirty="0"/>
              <a:t>Uygulamalar arası güvenli veri paylaşımını sağlar(</a:t>
            </a:r>
            <a:r>
              <a:rPr lang="tr-TR" dirty="0" err="1"/>
              <a:t>Örn</a:t>
            </a:r>
            <a:r>
              <a:rPr lang="tr-TR" dirty="0"/>
              <a:t>: WhatsApp’ın telefon rehberine erişmesi).</a:t>
            </a:r>
            <a:r>
              <a:rPr lang="tr-TR" b="1" dirty="0"/>
              <a:t> </a:t>
            </a:r>
          </a:p>
        </p:txBody>
      </p:sp>
    </p:spTree>
    <p:extLst>
      <p:ext uri="{BB962C8B-B14F-4D97-AF65-F5344CB8AC3E}">
        <p14:creationId xmlns:p14="http://schemas.microsoft.com/office/powerpoint/2010/main" val="395760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087B-EFEA-A2C5-11A7-616EC6A5EE1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283EDBE-3DD0-E7ED-CF92-F71C656589E5}"/>
              </a:ext>
            </a:extLst>
          </p:cNvPr>
          <p:cNvSpPr>
            <a:spLocks noGrp="1"/>
          </p:cNvSpPr>
          <p:nvPr>
            <p:ph type="title"/>
          </p:nvPr>
        </p:nvSpPr>
        <p:spPr/>
        <p:txBody>
          <a:bodyPr rtlCol="0"/>
          <a:lstStyle/>
          <a:p>
            <a:pPr rtl="0"/>
            <a:r>
              <a:rPr lang="tr-TR" dirty="0"/>
              <a:t>Android İşletim Sistemi</a:t>
            </a:r>
          </a:p>
        </p:txBody>
      </p:sp>
      <p:sp>
        <p:nvSpPr>
          <p:cNvPr id="3" name="İçerik Yer Tutucusu 2">
            <a:extLst>
              <a:ext uri="{FF2B5EF4-FFF2-40B4-BE49-F238E27FC236}">
                <a16:creationId xmlns:a16="http://schemas.microsoft.com/office/drawing/2014/main" id="{3E4EA5DF-88C4-354B-2030-AE6793BDFE3F}"/>
              </a:ext>
            </a:extLst>
          </p:cNvPr>
          <p:cNvSpPr>
            <a:spLocks noGrp="1"/>
          </p:cNvSpPr>
          <p:nvPr>
            <p:ph idx="1"/>
          </p:nvPr>
        </p:nvSpPr>
        <p:spPr/>
        <p:txBody>
          <a:bodyPr rtlCol="0"/>
          <a:lstStyle/>
          <a:p>
            <a:pPr rtl="0"/>
            <a:r>
              <a:rPr lang="tr-TR" dirty="0"/>
              <a:t>Android ekosisteminin geliştiriciler için en büyük teknik zorluklarından biri Cihaz Parçalanması(</a:t>
            </a:r>
            <a:r>
              <a:rPr lang="tr-TR" dirty="0" err="1"/>
              <a:t>Fragmentation</a:t>
            </a:r>
            <a:r>
              <a:rPr lang="tr-TR" dirty="0"/>
              <a:t>) durumudur.</a:t>
            </a:r>
          </a:p>
          <a:p>
            <a:pPr rtl="0"/>
            <a:r>
              <a:rPr lang="tr-TR" dirty="0"/>
              <a:t>Piyasada binlerce farklı donanım(işlemci, RAM) ve ekran çözünürlüğü bulunur.</a:t>
            </a:r>
          </a:p>
          <a:p>
            <a:pPr rtl="0"/>
            <a:r>
              <a:rPr lang="tr-TR" dirty="0"/>
              <a:t>Buna bağlı olarak </a:t>
            </a:r>
            <a:r>
              <a:rPr lang="tr-TR" dirty="0" err="1"/>
              <a:t>px</a:t>
            </a:r>
            <a:r>
              <a:rPr lang="tr-TR" dirty="0"/>
              <a:t> yerine </a:t>
            </a:r>
            <a:r>
              <a:rPr lang="tr-TR" dirty="0" err="1"/>
              <a:t>dp</a:t>
            </a:r>
            <a:r>
              <a:rPr lang="tr-TR" dirty="0"/>
              <a:t> kullanılması gibi pek çok çeşitli zorluk ortaya çıkar.</a:t>
            </a:r>
          </a:p>
        </p:txBody>
      </p:sp>
    </p:spTree>
    <p:extLst>
      <p:ext uri="{BB962C8B-B14F-4D97-AF65-F5344CB8AC3E}">
        <p14:creationId xmlns:p14="http://schemas.microsoft.com/office/powerpoint/2010/main" val="172618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1FE4-3A57-310F-759A-9A103FEC40F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251F8C2-C5F5-4E2A-CC9E-BA9F7A724D26}"/>
              </a:ext>
            </a:extLst>
          </p:cNvPr>
          <p:cNvSpPr>
            <a:spLocks noGrp="1"/>
          </p:cNvSpPr>
          <p:nvPr>
            <p:ph type="title"/>
          </p:nvPr>
        </p:nvSpPr>
        <p:spPr/>
        <p:txBody>
          <a:bodyPr rtlCol="0"/>
          <a:lstStyle/>
          <a:p>
            <a:pPr rtl="0"/>
            <a:r>
              <a:rPr lang="tr-TR" dirty="0"/>
              <a:t>iOS İşletim Sistemi</a:t>
            </a:r>
          </a:p>
        </p:txBody>
      </p:sp>
      <p:sp>
        <p:nvSpPr>
          <p:cNvPr id="3" name="İçerik Yer Tutucusu 2">
            <a:extLst>
              <a:ext uri="{FF2B5EF4-FFF2-40B4-BE49-F238E27FC236}">
                <a16:creationId xmlns:a16="http://schemas.microsoft.com/office/drawing/2014/main" id="{A5F488B3-DE43-B4AD-9709-7CD53D981911}"/>
              </a:ext>
            </a:extLst>
          </p:cNvPr>
          <p:cNvSpPr>
            <a:spLocks noGrp="1"/>
          </p:cNvSpPr>
          <p:nvPr>
            <p:ph idx="1"/>
          </p:nvPr>
        </p:nvSpPr>
        <p:spPr/>
        <p:txBody>
          <a:bodyPr rtlCol="0"/>
          <a:lstStyle/>
          <a:p>
            <a:pPr rtl="0"/>
            <a:r>
              <a:rPr lang="tr-TR" dirty="0"/>
              <a:t>iOS işletim sistemi temelde UNIX çekirdeği üzerine kurulmuştur.</a:t>
            </a:r>
          </a:p>
          <a:p>
            <a:pPr rtl="0"/>
            <a:r>
              <a:rPr lang="tr-TR" dirty="0"/>
              <a:t>Kapalı kaynak kodlu bir işletim sistemidir.</a:t>
            </a:r>
          </a:p>
          <a:p>
            <a:r>
              <a:rPr lang="tr-TR" dirty="0"/>
              <a:t>İlk iOS sürümü 1.0 olarak 2007 yılında piyasaya sürülmüştür.</a:t>
            </a:r>
          </a:p>
          <a:p>
            <a:r>
              <a:rPr lang="tr-TR" dirty="0"/>
              <a:t>Günümüzde son olarak iOS 27 çıkmıştır.</a:t>
            </a:r>
          </a:p>
          <a:p>
            <a:r>
              <a:rPr lang="tr-TR" dirty="0"/>
              <a:t>Android için kullanılan DEX ve ART kavramları iOS’ta bulunmaz. Yazılan kodlar LLVM ile doğrudan makine diline çevrilir. İki işletim sistemi arasındaki performans farkının en büyük sebeplerinden biri budur.</a:t>
            </a:r>
          </a:p>
          <a:p>
            <a:r>
              <a:rPr lang="tr-TR" dirty="0"/>
              <a:t>Bellek yönetimi için ARC(</a:t>
            </a:r>
            <a:r>
              <a:rPr lang="tr-TR" dirty="0" err="1"/>
              <a:t>Automatic</a:t>
            </a:r>
            <a:r>
              <a:rPr lang="tr-TR" dirty="0"/>
              <a:t> Reference </a:t>
            </a:r>
            <a:r>
              <a:rPr lang="tr-TR" dirty="0" err="1"/>
              <a:t>Counting</a:t>
            </a:r>
            <a:r>
              <a:rPr lang="tr-TR" dirty="0"/>
              <a:t>) kullanılır.</a:t>
            </a:r>
          </a:p>
          <a:p>
            <a:endParaRPr lang="tr-TR" dirty="0"/>
          </a:p>
          <a:p>
            <a:pPr rtl="0"/>
            <a:endParaRPr lang="tr-TR" dirty="0"/>
          </a:p>
        </p:txBody>
      </p:sp>
    </p:spTree>
    <p:extLst>
      <p:ext uri="{BB962C8B-B14F-4D97-AF65-F5344CB8AC3E}">
        <p14:creationId xmlns:p14="http://schemas.microsoft.com/office/powerpoint/2010/main" val="220836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72E60-B048-AACE-FEFF-A8FDD8623DD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E7EDF23-DB65-68D8-8A46-A2A7D13A4F63}"/>
              </a:ext>
            </a:extLst>
          </p:cNvPr>
          <p:cNvSpPr>
            <a:spLocks noGrp="1"/>
          </p:cNvSpPr>
          <p:nvPr>
            <p:ph type="title"/>
          </p:nvPr>
        </p:nvSpPr>
        <p:spPr/>
        <p:txBody>
          <a:bodyPr rtlCol="0"/>
          <a:lstStyle/>
          <a:p>
            <a:r>
              <a:rPr lang="tr-TR" dirty="0"/>
              <a:t>iOS İşletim Sistemi</a:t>
            </a:r>
          </a:p>
        </p:txBody>
      </p:sp>
      <p:sp>
        <p:nvSpPr>
          <p:cNvPr id="3" name="İçerik Yer Tutucusu 2">
            <a:extLst>
              <a:ext uri="{FF2B5EF4-FFF2-40B4-BE49-F238E27FC236}">
                <a16:creationId xmlns:a16="http://schemas.microsoft.com/office/drawing/2014/main" id="{6CF55FEB-4A3C-610B-7127-FB2C4D5F3A91}"/>
              </a:ext>
            </a:extLst>
          </p:cNvPr>
          <p:cNvSpPr>
            <a:spLocks noGrp="1"/>
          </p:cNvSpPr>
          <p:nvPr>
            <p:ph idx="1"/>
          </p:nvPr>
        </p:nvSpPr>
        <p:spPr/>
        <p:txBody>
          <a:bodyPr rtlCol="0"/>
          <a:lstStyle/>
          <a:p>
            <a:pPr rtl="0"/>
            <a:r>
              <a:rPr lang="tr-TR" dirty="0"/>
              <a:t>iOS işletim sisteminin alt katmanları C/C++ dillerini kullanır ancak iOS’a uygulama geliştirmek için kullanılan resmi ve modern diller Swift ve </a:t>
            </a:r>
            <a:r>
              <a:rPr lang="tr-TR" dirty="0" err="1"/>
              <a:t>Objective</a:t>
            </a:r>
            <a:r>
              <a:rPr lang="tr-TR" dirty="0"/>
              <a:t>-C’dir.</a:t>
            </a:r>
          </a:p>
          <a:p>
            <a:r>
              <a:rPr lang="tr-TR" dirty="0"/>
              <a:t>Geleneksel olarak iOS uygulamaları .</a:t>
            </a:r>
            <a:r>
              <a:rPr lang="tr-TR" dirty="0" err="1"/>
              <a:t>ipa</a:t>
            </a:r>
            <a:r>
              <a:rPr lang="tr-TR" dirty="0"/>
              <a:t> (iOS </a:t>
            </a:r>
            <a:r>
              <a:rPr lang="tr-TR" dirty="0" err="1"/>
              <a:t>App</a:t>
            </a:r>
            <a:r>
              <a:rPr lang="tr-TR" dirty="0"/>
              <a:t> </a:t>
            </a:r>
            <a:r>
              <a:rPr lang="tr-TR" dirty="0" err="1"/>
              <a:t>Store</a:t>
            </a:r>
            <a:r>
              <a:rPr lang="tr-TR" dirty="0"/>
              <a:t> </a:t>
            </a:r>
            <a:r>
              <a:rPr lang="tr-TR" dirty="0" err="1"/>
              <a:t>Package</a:t>
            </a:r>
            <a:r>
              <a:rPr lang="tr-TR" dirty="0"/>
              <a:t>) formatındadır. Uygulama mağazası </a:t>
            </a:r>
            <a:r>
              <a:rPr lang="tr-TR" dirty="0" err="1"/>
              <a:t>App</a:t>
            </a:r>
            <a:r>
              <a:rPr lang="tr-TR" dirty="0"/>
              <a:t> </a:t>
            </a:r>
            <a:r>
              <a:rPr lang="tr-TR" dirty="0" err="1"/>
              <a:t>Store’dur</a:t>
            </a:r>
            <a:r>
              <a:rPr lang="tr-TR" dirty="0"/>
              <a:t>.</a:t>
            </a:r>
          </a:p>
        </p:txBody>
      </p:sp>
      <p:pic>
        <p:nvPicPr>
          <p:cNvPr id="6" name="Resim 5" descr="Swift | KÜRE Ansiklopedi">
            <a:extLst>
              <a:ext uri="{FF2B5EF4-FFF2-40B4-BE49-F238E27FC236}">
                <a16:creationId xmlns:a16="http://schemas.microsoft.com/office/drawing/2014/main" id="{78A520C0-AE66-2A6C-6015-19CC210E8059}"/>
              </a:ext>
            </a:extLst>
          </p:cNvPr>
          <p:cNvPicPr>
            <a:picLocks noChangeAspect="1"/>
          </p:cNvPicPr>
          <p:nvPr/>
        </p:nvPicPr>
        <p:blipFill>
          <a:blip r:embed="rId3"/>
          <a:stretch>
            <a:fillRect/>
          </a:stretch>
        </p:blipFill>
        <p:spPr>
          <a:xfrm>
            <a:off x="2982880" y="4645973"/>
            <a:ext cx="1928563" cy="1928563"/>
          </a:xfrm>
          <a:prstGeom prst="rect">
            <a:avLst/>
          </a:prstGeom>
        </p:spPr>
      </p:pic>
      <p:pic>
        <p:nvPicPr>
          <p:cNvPr id="7" name="Resim 6" descr="Objective-C: learn what it is and how to program - beecrowd">
            <a:extLst>
              <a:ext uri="{FF2B5EF4-FFF2-40B4-BE49-F238E27FC236}">
                <a16:creationId xmlns:a16="http://schemas.microsoft.com/office/drawing/2014/main" id="{89A39373-64C8-8264-D6C2-35A6844220D6}"/>
              </a:ext>
            </a:extLst>
          </p:cNvPr>
          <p:cNvPicPr>
            <a:picLocks noChangeAspect="1"/>
          </p:cNvPicPr>
          <p:nvPr/>
        </p:nvPicPr>
        <p:blipFill>
          <a:blip r:embed="rId4"/>
          <a:stretch>
            <a:fillRect/>
          </a:stretch>
        </p:blipFill>
        <p:spPr>
          <a:xfrm>
            <a:off x="6181974" y="4645972"/>
            <a:ext cx="2571418" cy="1928564"/>
          </a:xfrm>
          <a:prstGeom prst="rect">
            <a:avLst/>
          </a:prstGeom>
        </p:spPr>
      </p:pic>
    </p:spTree>
    <p:extLst>
      <p:ext uri="{BB962C8B-B14F-4D97-AF65-F5344CB8AC3E}">
        <p14:creationId xmlns:p14="http://schemas.microsoft.com/office/powerpoint/2010/main" val="85744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04D0B-02EF-973F-7649-25B9541EE7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7EE571B-1AC9-9B0B-92EC-E4CD9749187C}"/>
              </a:ext>
            </a:extLst>
          </p:cNvPr>
          <p:cNvSpPr>
            <a:spLocks noGrp="1"/>
          </p:cNvSpPr>
          <p:nvPr>
            <p:ph type="title"/>
          </p:nvPr>
        </p:nvSpPr>
        <p:spPr/>
        <p:txBody>
          <a:bodyPr rtlCol="0"/>
          <a:lstStyle/>
          <a:p>
            <a:r>
              <a:rPr lang="tr-TR" dirty="0"/>
              <a:t>iOS İşletim Sistemi</a:t>
            </a:r>
          </a:p>
        </p:txBody>
      </p:sp>
      <p:sp>
        <p:nvSpPr>
          <p:cNvPr id="3" name="İçerik Yer Tutucusu 2">
            <a:extLst>
              <a:ext uri="{FF2B5EF4-FFF2-40B4-BE49-F238E27FC236}">
                <a16:creationId xmlns:a16="http://schemas.microsoft.com/office/drawing/2014/main" id="{C32E5215-8591-8768-BFA9-0C8AF865F520}"/>
              </a:ext>
            </a:extLst>
          </p:cNvPr>
          <p:cNvSpPr>
            <a:spLocks noGrp="1"/>
          </p:cNvSpPr>
          <p:nvPr>
            <p:ph idx="1"/>
          </p:nvPr>
        </p:nvSpPr>
        <p:spPr/>
        <p:txBody>
          <a:bodyPr rtlCol="0"/>
          <a:lstStyle/>
          <a:p>
            <a:pPr rtl="0"/>
            <a:r>
              <a:rPr lang="tr-TR" dirty="0"/>
              <a:t>Android’in en büyük sorunu olan </a:t>
            </a:r>
            <a:r>
              <a:rPr lang="tr-TR" dirty="0" err="1"/>
              <a:t>Fragmentation</a:t>
            </a:r>
            <a:r>
              <a:rPr lang="tr-TR" dirty="0"/>
              <a:t> Apple’ın kapalı ekosistemi sayesinde iOS’ta minimumdur.</a:t>
            </a:r>
          </a:p>
          <a:p>
            <a:pPr rtl="0"/>
            <a:r>
              <a:rPr lang="tr-TR" dirty="0"/>
              <a:t>İşletim sistemi(iOS), donanım(işlemci, GPU) ve geliştirme dili(swift) aynı şirketin(Apple) kontrolündedir.</a:t>
            </a:r>
          </a:p>
          <a:p>
            <a:pPr rtl="0"/>
            <a:r>
              <a:rPr lang="tr-TR" dirty="0"/>
              <a:t>Geliştiriciler, uygulamanın sınırlı sayıdaki ekran çözünürlüğünde ve belirli işlemcilerde nasıl çalışacağını kesin olarak bilir.</a:t>
            </a:r>
          </a:p>
        </p:txBody>
      </p:sp>
    </p:spTree>
    <p:extLst>
      <p:ext uri="{BB962C8B-B14F-4D97-AF65-F5344CB8AC3E}">
        <p14:creationId xmlns:p14="http://schemas.microsoft.com/office/powerpoint/2010/main" val="413308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CAB2-B6E7-710E-F7CA-D03FF34C3C4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8B14B66-9266-BBA1-6254-D4072772DE2E}"/>
              </a:ext>
            </a:extLst>
          </p:cNvPr>
          <p:cNvSpPr>
            <a:spLocks noGrp="1"/>
          </p:cNvSpPr>
          <p:nvPr>
            <p:ph type="title"/>
          </p:nvPr>
        </p:nvSpPr>
        <p:spPr/>
        <p:txBody>
          <a:bodyPr rtlCol="0"/>
          <a:lstStyle/>
          <a:p>
            <a:r>
              <a:rPr lang="tr-TR" dirty="0"/>
              <a:t>Mobil Uygulama Geliştirme Yaklaşımları</a:t>
            </a:r>
          </a:p>
        </p:txBody>
      </p:sp>
      <p:sp>
        <p:nvSpPr>
          <p:cNvPr id="3" name="İçerik Yer Tutucusu 2">
            <a:extLst>
              <a:ext uri="{FF2B5EF4-FFF2-40B4-BE49-F238E27FC236}">
                <a16:creationId xmlns:a16="http://schemas.microsoft.com/office/drawing/2014/main" id="{5C5E946C-B09C-0145-D04C-BC371B61F103}"/>
              </a:ext>
            </a:extLst>
          </p:cNvPr>
          <p:cNvSpPr>
            <a:spLocks noGrp="1"/>
          </p:cNvSpPr>
          <p:nvPr>
            <p:ph idx="1"/>
          </p:nvPr>
        </p:nvSpPr>
        <p:spPr/>
        <p:txBody>
          <a:bodyPr rtlCol="0"/>
          <a:lstStyle/>
          <a:p>
            <a:pPr rtl="0"/>
            <a:r>
              <a:rPr lang="tr-TR" dirty="0"/>
              <a:t>Bir mobil uygulama geliştirmek için sektörde çok çeşitli yaklaşımlar kullanılabilmektedir. Bunlar: </a:t>
            </a:r>
            <a:r>
              <a:rPr lang="tr-TR" dirty="0" err="1"/>
              <a:t>Native</a:t>
            </a:r>
            <a:r>
              <a:rPr lang="tr-TR" dirty="0"/>
              <a:t>(Yerel), Cross-Platform(Çapraz Platform) ve </a:t>
            </a:r>
            <a:r>
              <a:rPr lang="tr-TR" dirty="0" err="1"/>
              <a:t>Hybrid</a:t>
            </a:r>
            <a:r>
              <a:rPr lang="tr-TR" dirty="0"/>
              <a:t>(Hibrit) geliştirme olarak 3 ana başlıkta incelenir.</a:t>
            </a:r>
          </a:p>
          <a:p>
            <a:pPr rtl="0"/>
            <a:r>
              <a:rPr lang="tr-TR" dirty="0"/>
              <a:t>Bunların her birinin avantajı ve dezavantajı bulunmaktadır.</a:t>
            </a:r>
          </a:p>
        </p:txBody>
      </p:sp>
    </p:spTree>
    <p:extLst>
      <p:ext uri="{BB962C8B-B14F-4D97-AF65-F5344CB8AC3E}">
        <p14:creationId xmlns:p14="http://schemas.microsoft.com/office/powerpoint/2010/main" val="354279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3E24-166E-8AC3-9A25-3A0F5DA15F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AD0E54D-CC15-3EA9-1652-DC73E9E19E76}"/>
              </a:ext>
            </a:extLst>
          </p:cNvPr>
          <p:cNvSpPr>
            <a:spLocks noGrp="1"/>
          </p:cNvSpPr>
          <p:nvPr>
            <p:ph type="title"/>
          </p:nvPr>
        </p:nvSpPr>
        <p:spPr/>
        <p:txBody>
          <a:bodyPr rtlCol="0"/>
          <a:lstStyle/>
          <a:p>
            <a:r>
              <a:rPr lang="tr-TR" dirty="0" err="1"/>
              <a:t>Native</a:t>
            </a:r>
            <a:r>
              <a:rPr lang="tr-TR" dirty="0"/>
              <a:t>(Yerel) Geliştirme</a:t>
            </a:r>
          </a:p>
        </p:txBody>
      </p:sp>
      <p:sp>
        <p:nvSpPr>
          <p:cNvPr id="3" name="İçerik Yer Tutucusu 2">
            <a:extLst>
              <a:ext uri="{FF2B5EF4-FFF2-40B4-BE49-F238E27FC236}">
                <a16:creationId xmlns:a16="http://schemas.microsoft.com/office/drawing/2014/main" id="{CFA01793-DB49-3032-669F-56E2FCA0EFA6}"/>
              </a:ext>
            </a:extLst>
          </p:cNvPr>
          <p:cNvSpPr>
            <a:spLocks noGrp="1"/>
          </p:cNvSpPr>
          <p:nvPr>
            <p:ph idx="1"/>
          </p:nvPr>
        </p:nvSpPr>
        <p:spPr/>
        <p:txBody>
          <a:bodyPr rtlCol="0"/>
          <a:lstStyle/>
          <a:p>
            <a:pPr rtl="0"/>
            <a:r>
              <a:rPr lang="tr-TR" dirty="0"/>
              <a:t>Sadece hedef işletim sisteminin(Android veya iOS) ana uygulama dilini ve resmi araçlarını kullanarak uygulama geliştirmektir.</a:t>
            </a:r>
          </a:p>
          <a:p>
            <a:pPr rtl="0"/>
            <a:r>
              <a:rPr lang="tr-TR" dirty="0"/>
              <a:t>Bu diller Android için </a:t>
            </a:r>
            <a:r>
              <a:rPr lang="tr-TR" dirty="0" err="1"/>
              <a:t>Kotlin</a:t>
            </a:r>
            <a:r>
              <a:rPr lang="tr-TR" dirty="0"/>
              <a:t>/Java iOS için ise Swift/</a:t>
            </a:r>
            <a:r>
              <a:rPr lang="tr-TR" dirty="0" err="1"/>
              <a:t>Objective</a:t>
            </a:r>
            <a:r>
              <a:rPr lang="tr-TR" dirty="0"/>
              <a:t>-C’dir.</a:t>
            </a:r>
          </a:p>
          <a:p>
            <a:pPr rtl="0"/>
            <a:r>
              <a:rPr lang="tr-TR" dirty="0"/>
              <a:t>Bu yaklaşımda kod arada hiçbir dönüştürücü olmadan doğrudan işletim sistemi </a:t>
            </a:r>
            <a:r>
              <a:rPr lang="tr-TR" dirty="0" err="1"/>
              <a:t>API’leri</a:t>
            </a:r>
            <a:r>
              <a:rPr lang="tr-TR" dirty="0"/>
              <a:t> ile iletişim kurar. Bir uygulamanın ulaşabileceği maksimum performansı sunar.</a:t>
            </a:r>
          </a:p>
          <a:p>
            <a:pPr rtl="0"/>
            <a:r>
              <a:rPr lang="tr-TR" dirty="0"/>
              <a:t>Aynı uygulama için birden çok yazılım ekibine ihtiyaç duyulabilir ve maliyetlidir.</a:t>
            </a:r>
          </a:p>
        </p:txBody>
      </p:sp>
    </p:spTree>
    <p:extLst>
      <p:ext uri="{BB962C8B-B14F-4D97-AF65-F5344CB8AC3E}">
        <p14:creationId xmlns:p14="http://schemas.microsoft.com/office/powerpoint/2010/main" val="3616864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5FD36-3734-6F28-42AB-280C2CF3C6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906AAFE-28FA-1DFA-070A-C8496AE6D77A}"/>
              </a:ext>
            </a:extLst>
          </p:cNvPr>
          <p:cNvSpPr>
            <a:spLocks noGrp="1"/>
          </p:cNvSpPr>
          <p:nvPr>
            <p:ph type="title"/>
          </p:nvPr>
        </p:nvSpPr>
        <p:spPr/>
        <p:txBody>
          <a:bodyPr rtlCol="0"/>
          <a:lstStyle/>
          <a:p>
            <a:r>
              <a:rPr lang="tr-TR" dirty="0"/>
              <a:t>Cross-Platform(Çapraz Platform) Geliştirme</a:t>
            </a:r>
          </a:p>
        </p:txBody>
      </p:sp>
      <p:sp>
        <p:nvSpPr>
          <p:cNvPr id="3" name="İçerik Yer Tutucusu 2">
            <a:extLst>
              <a:ext uri="{FF2B5EF4-FFF2-40B4-BE49-F238E27FC236}">
                <a16:creationId xmlns:a16="http://schemas.microsoft.com/office/drawing/2014/main" id="{4DCE80C4-6D76-B806-87C5-A8BFFE3A877F}"/>
              </a:ext>
            </a:extLst>
          </p:cNvPr>
          <p:cNvSpPr>
            <a:spLocks noGrp="1"/>
          </p:cNvSpPr>
          <p:nvPr>
            <p:ph idx="1"/>
          </p:nvPr>
        </p:nvSpPr>
        <p:spPr/>
        <p:txBody>
          <a:bodyPr rtlCol="0"/>
          <a:lstStyle/>
          <a:p>
            <a:pPr rtl="0"/>
            <a:r>
              <a:rPr lang="tr-TR" dirty="0"/>
              <a:t>Tek programlama dili ile kod yazıp bunun hem Android hem de iOS üzerinde çalıştırıldığı uygulama geliştirme yöntemidir.</a:t>
            </a:r>
          </a:p>
          <a:p>
            <a:pPr rtl="0"/>
            <a:r>
              <a:rPr lang="tr-TR" dirty="0"/>
              <a:t>Performansı </a:t>
            </a:r>
            <a:r>
              <a:rPr lang="tr-TR" dirty="0" err="1"/>
              <a:t>Native’e</a:t>
            </a:r>
            <a:r>
              <a:rPr lang="tr-TR" dirty="0"/>
              <a:t> yakın olmakla birlikte aynı seviyede değildir çünkü araya bir dönüştürücünün girmesi gerekir.</a:t>
            </a:r>
          </a:p>
          <a:p>
            <a:pPr rtl="0"/>
            <a:r>
              <a:rPr lang="tr-TR" dirty="0"/>
              <a:t>Google’ın geliştirdiği </a:t>
            </a:r>
            <a:r>
              <a:rPr lang="tr-TR" dirty="0" err="1"/>
              <a:t>Flutter</a:t>
            </a:r>
            <a:r>
              <a:rPr lang="tr-TR" dirty="0"/>
              <a:t> ve Meta’nın geliştirdiği </a:t>
            </a:r>
            <a:r>
              <a:rPr lang="tr-TR" dirty="0" err="1"/>
              <a:t>React</a:t>
            </a:r>
            <a:r>
              <a:rPr lang="tr-TR" dirty="0"/>
              <a:t> </a:t>
            </a:r>
            <a:r>
              <a:rPr lang="tr-TR" dirty="0" err="1"/>
              <a:t>Native</a:t>
            </a:r>
            <a:r>
              <a:rPr lang="tr-TR" dirty="0"/>
              <a:t> örnek olarak verilebilir.</a:t>
            </a:r>
          </a:p>
        </p:txBody>
      </p:sp>
      <p:pic>
        <p:nvPicPr>
          <p:cNvPr id="4" name="Resim 3" descr="Flutter - YouTube">
            <a:extLst>
              <a:ext uri="{FF2B5EF4-FFF2-40B4-BE49-F238E27FC236}">
                <a16:creationId xmlns:a16="http://schemas.microsoft.com/office/drawing/2014/main" id="{06FC84DA-3D6F-42C8-6E84-0F7C18C1D53D}"/>
              </a:ext>
            </a:extLst>
          </p:cNvPr>
          <p:cNvPicPr>
            <a:picLocks noChangeAspect="1"/>
          </p:cNvPicPr>
          <p:nvPr/>
        </p:nvPicPr>
        <p:blipFill>
          <a:blip r:embed="rId3"/>
          <a:stretch>
            <a:fillRect/>
          </a:stretch>
        </p:blipFill>
        <p:spPr>
          <a:xfrm>
            <a:off x="3533274" y="4995512"/>
            <a:ext cx="1579024" cy="1579024"/>
          </a:xfrm>
          <a:prstGeom prst="rect">
            <a:avLst/>
          </a:prstGeom>
        </p:spPr>
      </p:pic>
      <p:pic>
        <p:nvPicPr>
          <p:cNvPr id="5" name="Resim 4" descr="React Native | Okoone">
            <a:extLst>
              <a:ext uri="{FF2B5EF4-FFF2-40B4-BE49-F238E27FC236}">
                <a16:creationId xmlns:a16="http://schemas.microsoft.com/office/drawing/2014/main" id="{68BD2D2A-AAF0-469D-56A9-470F50FAAC72}"/>
              </a:ext>
            </a:extLst>
          </p:cNvPr>
          <p:cNvPicPr>
            <a:picLocks noChangeAspect="1"/>
          </p:cNvPicPr>
          <p:nvPr/>
        </p:nvPicPr>
        <p:blipFill>
          <a:blip r:embed="rId4"/>
          <a:stretch>
            <a:fillRect/>
          </a:stretch>
        </p:blipFill>
        <p:spPr>
          <a:xfrm>
            <a:off x="6095999" y="4995512"/>
            <a:ext cx="2577999" cy="1579024"/>
          </a:xfrm>
          <a:prstGeom prst="rect">
            <a:avLst/>
          </a:prstGeom>
        </p:spPr>
      </p:pic>
    </p:spTree>
    <p:extLst>
      <p:ext uri="{BB962C8B-B14F-4D97-AF65-F5344CB8AC3E}">
        <p14:creationId xmlns:p14="http://schemas.microsoft.com/office/powerpoint/2010/main" val="170838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E6D23-F629-D81F-90D4-3E28E50CD41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0C1ED69-3A66-1C96-0F8A-2394421B04B5}"/>
              </a:ext>
            </a:extLst>
          </p:cNvPr>
          <p:cNvSpPr>
            <a:spLocks noGrp="1"/>
          </p:cNvSpPr>
          <p:nvPr>
            <p:ph type="title"/>
          </p:nvPr>
        </p:nvSpPr>
        <p:spPr/>
        <p:txBody>
          <a:bodyPr rtlCol="0"/>
          <a:lstStyle/>
          <a:p>
            <a:r>
              <a:rPr lang="tr-TR" dirty="0" err="1"/>
              <a:t>Hybrid</a:t>
            </a:r>
            <a:r>
              <a:rPr lang="tr-TR" dirty="0"/>
              <a:t>(Hibrit) Geliştirme</a:t>
            </a:r>
          </a:p>
        </p:txBody>
      </p:sp>
      <p:sp>
        <p:nvSpPr>
          <p:cNvPr id="3" name="İçerik Yer Tutucusu 2">
            <a:extLst>
              <a:ext uri="{FF2B5EF4-FFF2-40B4-BE49-F238E27FC236}">
                <a16:creationId xmlns:a16="http://schemas.microsoft.com/office/drawing/2014/main" id="{20726772-8326-5E74-0070-6BE8A471BCDD}"/>
              </a:ext>
            </a:extLst>
          </p:cNvPr>
          <p:cNvSpPr>
            <a:spLocks noGrp="1"/>
          </p:cNvSpPr>
          <p:nvPr>
            <p:ph idx="1"/>
          </p:nvPr>
        </p:nvSpPr>
        <p:spPr/>
        <p:txBody>
          <a:bodyPr rtlCol="0"/>
          <a:lstStyle/>
          <a:p>
            <a:pPr rtl="0"/>
            <a:r>
              <a:rPr lang="tr-TR" dirty="0"/>
              <a:t>Uygulamanın aslında web teknolojileri(HTML, CSS, </a:t>
            </a:r>
            <a:r>
              <a:rPr lang="tr-TR" dirty="0" err="1"/>
              <a:t>Js</a:t>
            </a:r>
            <a:r>
              <a:rPr lang="tr-TR" dirty="0"/>
              <a:t>) kullanılarak bir web sitesi olarak geliştirilmesidir.</a:t>
            </a:r>
          </a:p>
          <a:p>
            <a:pPr rtl="0"/>
            <a:r>
              <a:rPr lang="tr-TR" dirty="0" err="1"/>
              <a:t>Ionic</a:t>
            </a:r>
            <a:r>
              <a:rPr lang="tr-TR" dirty="0"/>
              <a:t> ve Apache </a:t>
            </a:r>
            <a:r>
              <a:rPr lang="tr-TR" dirty="0" err="1"/>
              <a:t>Cordova</a:t>
            </a:r>
            <a:r>
              <a:rPr lang="tr-TR" dirty="0"/>
              <a:t> gibi popüler örnekleri bulunur.</a:t>
            </a:r>
          </a:p>
          <a:p>
            <a:pPr rtl="0"/>
            <a:r>
              <a:rPr lang="tr-TR" dirty="0"/>
              <a:t>Tarayıcı açabilen her cihazda çalışmakla birlikte performans olarak oldukça sorunludur. Donanıma erişmekte sıkıntı oluşturur.</a:t>
            </a:r>
          </a:p>
        </p:txBody>
      </p:sp>
      <p:pic>
        <p:nvPicPr>
          <p:cNvPr id="6" name="Resim 5" descr="Ionic - Vikipedi">
            <a:extLst>
              <a:ext uri="{FF2B5EF4-FFF2-40B4-BE49-F238E27FC236}">
                <a16:creationId xmlns:a16="http://schemas.microsoft.com/office/drawing/2014/main" id="{658318A3-E4EB-1BA2-3E31-72BA4AC6DC48}"/>
              </a:ext>
            </a:extLst>
          </p:cNvPr>
          <p:cNvPicPr>
            <a:picLocks noChangeAspect="1"/>
          </p:cNvPicPr>
          <p:nvPr/>
        </p:nvPicPr>
        <p:blipFill>
          <a:blip r:embed="rId3"/>
          <a:stretch>
            <a:fillRect/>
          </a:stretch>
        </p:blipFill>
        <p:spPr>
          <a:xfrm>
            <a:off x="1609123" y="4764505"/>
            <a:ext cx="5364670" cy="1810031"/>
          </a:xfrm>
          <a:prstGeom prst="rect">
            <a:avLst/>
          </a:prstGeom>
        </p:spPr>
      </p:pic>
      <p:pic>
        <p:nvPicPr>
          <p:cNvPr id="7" name="Resim 6" descr="Apache Cordova">
            <a:extLst>
              <a:ext uri="{FF2B5EF4-FFF2-40B4-BE49-F238E27FC236}">
                <a16:creationId xmlns:a16="http://schemas.microsoft.com/office/drawing/2014/main" id="{F3790F9E-BD47-E9A3-E1ED-66060610AAE9}"/>
              </a:ext>
            </a:extLst>
          </p:cNvPr>
          <p:cNvPicPr>
            <a:picLocks noChangeAspect="1"/>
          </p:cNvPicPr>
          <p:nvPr/>
        </p:nvPicPr>
        <p:blipFill>
          <a:blip r:embed="rId4"/>
          <a:stretch>
            <a:fillRect/>
          </a:stretch>
        </p:blipFill>
        <p:spPr>
          <a:xfrm>
            <a:off x="7861709" y="4764505"/>
            <a:ext cx="1608916" cy="1810031"/>
          </a:xfrm>
          <a:prstGeom prst="rect">
            <a:avLst/>
          </a:prstGeom>
        </p:spPr>
      </p:pic>
    </p:spTree>
    <p:extLst>
      <p:ext uri="{BB962C8B-B14F-4D97-AF65-F5344CB8AC3E}">
        <p14:creationId xmlns:p14="http://schemas.microsoft.com/office/powerpoint/2010/main" val="25520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9ECB-5597-51B7-4592-68142094AFA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ADD086F-0B6A-F60C-60CB-5D0E677ED625}"/>
              </a:ext>
            </a:extLst>
          </p:cNvPr>
          <p:cNvSpPr>
            <a:spLocks noGrp="1"/>
          </p:cNvSpPr>
          <p:nvPr>
            <p:ph type="title"/>
          </p:nvPr>
        </p:nvSpPr>
        <p:spPr/>
        <p:txBody>
          <a:bodyPr rtlCol="0"/>
          <a:lstStyle/>
          <a:p>
            <a:r>
              <a:rPr lang="tr-TR" dirty="0"/>
              <a:t>Mobil Uygulama ile Mobil Oyun</a:t>
            </a:r>
          </a:p>
        </p:txBody>
      </p:sp>
      <p:sp>
        <p:nvSpPr>
          <p:cNvPr id="3" name="İçerik Yer Tutucusu 2">
            <a:extLst>
              <a:ext uri="{FF2B5EF4-FFF2-40B4-BE49-F238E27FC236}">
                <a16:creationId xmlns:a16="http://schemas.microsoft.com/office/drawing/2014/main" id="{5DE335FE-EF07-7017-8153-3D8D2910B85A}"/>
              </a:ext>
            </a:extLst>
          </p:cNvPr>
          <p:cNvSpPr>
            <a:spLocks noGrp="1"/>
          </p:cNvSpPr>
          <p:nvPr>
            <p:ph idx="1"/>
          </p:nvPr>
        </p:nvSpPr>
        <p:spPr/>
        <p:txBody>
          <a:bodyPr rtlCol="0"/>
          <a:lstStyle/>
          <a:p>
            <a:pPr rtl="0"/>
            <a:r>
              <a:rPr lang="tr-TR" dirty="0"/>
              <a:t>Bir mobil uygulama ile mobil oyun birbirlerinden tamamen farklı şeyleri ifade ederler.</a:t>
            </a:r>
          </a:p>
          <a:p>
            <a:pPr rtl="0"/>
            <a:r>
              <a:rPr lang="tr-TR" dirty="0"/>
              <a:t>Bir bankacılık veya sosyal medya uygulaması olay güdümlüdür.</a:t>
            </a:r>
          </a:p>
          <a:p>
            <a:pPr rtl="0"/>
            <a:r>
              <a:rPr lang="tr-TR" dirty="0"/>
              <a:t>Bir oyun ise olay döngüsüne sahiptir.</a:t>
            </a:r>
          </a:p>
          <a:p>
            <a:pPr rtl="0"/>
            <a:r>
              <a:rPr lang="tr-TR" dirty="0"/>
              <a:t>Oyun geliştirilmesi için oyun motorları tercih edilmektedir.</a:t>
            </a:r>
          </a:p>
        </p:txBody>
      </p:sp>
      <p:pic>
        <p:nvPicPr>
          <p:cNvPr id="4" name="Resim 3" descr="Unity 3D Tutorial | MakerWeb">
            <a:extLst>
              <a:ext uri="{FF2B5EF4-FFF2-40B4-BE49-F238E27FC236}">
                <a16:creationId xmlns:a16="http://schemas.microsoft.com/office/drawing/2014/main" id="{918A170B-662D-345D-B7A8-300D84A4B040}"/>
              </a:ext>
            </a:extLst>
          </p:cNvPr>
          <p:cNvPicPr>
            <a:picLocks noChangeAspect="1"/>
          </p:cNvPicPr>
          <p:nvPr/>
        </p:nvPicPr>
        <p:blipFill>
          <a:blip r:embed="rId3"/>
          <a:stretch>
            <a:fillRect/>
          </a:stretch>
        </p:blipFill>
        <p:spPr>
          <a:xfrm>
            <a:off x="609600" y="4908954"/>
            <a:ext cx="3173329" cy="1665582"/>
          </a:xfrm>
          <a:prstGeom prst="rect">
            <a:avLst/>
          </a:prstGeom>
        </p:spPr>
      </p:pic>
      <p:pic>
        <p:nvPicPr>
          <p:cNvPr id="5" name="Resim 4" descr="Unreal Engine - Wikipedia">
            <a:extLst>
              <a:ext uri="{FF2B5EF4-FFF2-40B4-BE49-F238E27FC236}">
                <a16:creationId xmlns:a16="http://schemas.microsoft.com/office/drawing/2014/main" id="{E7170DA1-DA89-CFFA-20AE-DD5E42898F78}"/>
              </a:ext>
            </a:extLst>
          </p:cNvPr>
          <p:cNvPicPr>
            <a:picLocks noChangeAspect="1"/>
          </p:cNvPicPr>
          <p:nvPr/>
        </p:nvPicPr>
        <p:blipFill>
          <a:blip r:embed="rId4"/>
          <a:stretch>
            <a:fillRect/>
          </a:stretch>
        </p:blipFill>
        <p:spPr>
          <a:xfrm>
            <a:off x="4859548" y="4908954"/>
            <a:ext cx="1375623" cy="1665582"/>
          </a:xfrm>
          <a:prstGeom prst="rect">
            <a:avLst/>
          </a:prstGeom>
        </p:spPr>
      </p:pic>
      <p:pic>
        <p:nvPicPr>
          <p:cNvPr id="8" name="Resim 7" descr="CryEngine - Vikipedi">
            <a:extLst>
              <a:ext uri="{FF2B5EF4-FFF2-40B4-BE49-F238E27FC236}">
                <a16:creationId xmlns:a16="http://schemas.microsoft.com/office/drawing/2014/main" id="{8D15A6BB-F17B-6F71-9566-A3E17F3558AD}"/>
              </a:ext>
            </a:extLst>
          </p:cNvPr>
          <p:cNvPicPr>
            <a:picLocks noChangeAspect="1"/>
          </p:cNvPicPr>
          <p:nvPr/>
        </p:nvPicPr>
        <p:blipFill>
          <a:blip r:embed="rId5"/>
          <a:stretch>
            <a:fillRect/>
          </a:stretch>
        </p:blipFill>
        <p:spPr>
          <a:xfrm>
            <a:off x="8045742" y="4908954"/>
            <a:ext cx="3536658" cy="1665582"/>
          </a:xfrm>
          <a:prstGeom prst="rect">
            <a:avLst/>
          </a:prstGeom>
        </p:spPr>
      </p:pic>
    </p:spTree>
    <p:extLst>
      <p:ext uri="{BB962C8B-B14F-4D97-AF65-F5344CB8AC3E}">
        <p14:creationId xmlns:p14="http://schemas.microsoft.com/office/powerpoint/2010/main" val="219284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C249C-A4C1-3C48-ABE5-8266AC3AFD0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9DCBB63-B5C4-B7B6-C50A-3E25292E9C56}"/>
              </a:ext>
            </a:extLst>
          </p:cNvPr>
          <p:cNvSpPr>
            <a:spLocks noGrp="1"/>
          </p:cNvSpPr>
          <p:nvPr>
            <p:ph type="title"/>
          </p:nvPr>
        </p:nvSpPr>
        <p:spPr/>
        <p:txBody>
          <a:bodyPr rtlCol="0"/>
          <a:lstStyle/>
          <a:p>
            <a:r>
              <a:rPr lang="tr-TR" dirty="0"/>
              <a:t>SDK(Software Development Kit)</a:t>
            </a:r>
          </a:p>
        </p:txBody>
      </p:sp>
      <p:sp>
        <p:nvSpPr>
          <p:cNvPr id="3" name="İçerik Yer Tutucusu 2">
            <a:extLst>
              <a:ext uri="{FF2B5EF4-FFF2-40B4-BE49-F238E27FC236}">
                <a16:creationId xmlns:a16="http://schemas.microsoft.com/office/drawing/2014/main" id="{2745FA7A-8FC2-4A58-E212-4B6386D8B8AD}"/>
              </a:ext>
            </a:extLst>
          </p:cNvPr>
          <p:cNvSpPr>
            <a:spLocks noGrp="1"/>
          </p:cNvSpPr>
          <p:nvPr>
            <p:ph idx="1"/>
          </p:nvPr>
        </p:nvSpPr>
        <p:spPr/>
        <p:txBody>
          <a:bodyPr rtlCol="0"/>
          <a:lstStyle/>
          <a:p>
            <a:pPr rtl="0"/>
            <a:r>
              <a:rPr lang="tr-TR" dirty="0"/>
              <a:t>Bir yazılım çerçevesi, işletim sistemi veya donanım platformu için uygulama oluşturulmasını sağlayan derleyiciler, hata ayıklayıcılar, kütüphaneler ve dokümantasyonları barındıran yapıya SDK adı verilir.</a:t>
            </a:r>
          </a:p>
          <a:p>
            <a:pPr rtl="0"/>
            <a:r>
              <a:rPr lang="tr-TR" dirty="0"/>
              <a:t>Android SDK Android </a:t>
            </a:r>
            <a:r>
              <a:rPr lang="tr-TR" dirty="0" err="1"/>
              <a:t>Studio</a:t>
            </a:r>
            <a:r>
              <a:rPr lang="tr-TR" dirty="0"/>
              <a:t> </a:t>
            </a:r>
            <a:r>
              <a:rPr lang="tr-TR" dirty="0" err="1"/>
              <a:t>IDE’si</a:t>
            </a:r>
            <a:r>
              <a:rPr lang="tr-TR" dirty="0"/>
              <a:t> ile iOS SDK ise </a:t>
            </a:r>
            <a:r>
              <a:rPr lang="tr-TR" dirty="0" err="1"/>
              <a:t>Xcode</a:t>
            </a:r>
            <a:r>
              <a:rPr lang="tr-TR" dirty="0"/>
              <a:t> </a:t>
            </a:r>
            <a:r>
              <a:rPr lang="tr-TR" dirty="0" err="1"/>
              <a:t>IDE’si</a:t>
            </a:r>
            <a:r>
              <a:rPr lang="tr-TR" dirty="0"/>
              <a:t> ile çalışır.</a:t>
            </a:r>
          </a:p>
          <a:p>
            <a:pPr rtl="0"/>
            <a:r>
              <a:rPr lang="tr-TR" dirty="0"/>
              <a:t>iOS SDK yalnızca </a:t>
            </a:r>
            <a:r>
              <a:rPr lang="tr-TR" dirty="0" err="1"/>
              <a:t>macOS</a:t>
            </a:r>
            <a:r>
              <a:rPr lang="tr-TR" dirty="0"/>
              <a:t> üzerinde çalışır. Dolayısıyla Windows bir cihaz üzerinde kodunuzu iPhone’da test edemezsiniz ve </a:t>
            </a:r>
            <a:r>
              <a:rPr lang="tr-TR" dirty="0" err="1"/>
              <a:t>App</a:t>
            </a:r>
            <a:r>
              <a:rPr lang="tr-TR" dirty="0"/>
              <a:t> </a:t>
            </a:r>
            <a:r>
              <a:rPr lang="tr-TR" dirty="0" err="1"/>
              <a:t>Store’a</a:t>
            </a:r>
            <a:r>
              <a:rPr lang="tr-TR" dirty="0"/>
              <a:t> yükleyemezsiniz!</a:t>
            </a:r>
          </a:p>
        </p:txBody>
      </p:sp>
    </p:spTree>
    <p:extLst>
      <p:ext uri="{BB962C8B-B14F-4D97-AF65-F5344CB8AC3E}">
        <p14:creationId xmlns:p14="http://schemas.microsoft.com/office/powerpoint/2010/main" val="60522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4D6EF-596C-8520-9402-0CB3077D972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B3EA59B-97BD-5421-7B28-E8E10A0A7034}"/>
              </a:ext>
            </a:extLst>
          </p:cNvPr>
          <p:cNvSpPr>
            <a:spLocks noGrp="1"/>
          </p:cNvSpPr>
          <p:nvPr>
            <p:ph type="title"/>
          </p:nvPr>
        </p:nvSpPr>
        <p:spPr/>
        <p:txBody>
          <a:bodyPr rtlCol="0"/>
          <a:lstStyle/>
          <a:p>
            <a:r>
              <a:rPr lang="tr-TR" dirty="0"/>
              <a:t>SDK(Software Development Kit)</a:t>
            </a:r>
          </a:p>
        </p:txBody>
      </p:sp>
      <p:pic>
        <p:nvPicPr>
          <p:cNvPr id="4" name="İçerik Yer Tutucusu 3" descr="Android Studio ve Uygulama Araçları'nı İndirin - Android Geliştiricileri |  Android Developers">
            <a:extLst>
              <a:ext uri="{FF2B5EF4-FFF2-40B4-BE49-F238E27FC236}">
                <a16:creationId xmlns:a16="http://schemas.microsoft.com/office/drawing/2014/main" id="{66595233-CD0A-131E-82BD-845E23A8FA82}"/>
              </a:ext>
            </a:extLst>
          </p:cNvPr>
          <p:cNvPicPr>
            <a:picLocks noGrp="1" noChangeAspect="1"/>
          </p:cNvPicPr>
          <p:nvPr>
            <p:ph idx="1"/>
          </p:nvPr>
        </p:nvPicPr>
        <p:blipFill>
          <a:blip r:embed="rId3"/>
          <a:stretch>
            <a:fillRect/>
          </a:stretch>
        </p:blipFill>
        <p:spPr>
          <a:xfrm>
            <a:off x="2622527" y="2249488"/>
            <a:ext cx="6946946" cy="4324350"/>
          </a:xfrm>
          <a:prstGeom prst="rect">
            <a:avLst/>
          </a:prstGeom>
        </p:spPr>
      </p:pic>
    </p:spTree>
    <p:extLst>
      <p:ext uri="{BB962C8B-B14F-4D97-AF65-F5344CB8AC3E}">
        <p14:creationId xmlns:p14="http://schemas.microsoft.com/office/powerpoint/2010/main" val="122079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A73D-9B8E-5D97-9E8A-75422ECD57B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807E325-CFE8-983E-FEB9-E24662C18F12}"/>
              </a:ext>
            </a:extLst>
          </p:cNvPr>
          <p:cNvSpPr>
            <a:spLocks noGrp="1"/>
          </p:cNvSpPr>
          <p:nvPr>
            <p:ph type="title"/>
          </p:nvPr>
        </p:nvSpPr>
        <p:spPr/>
        <p:txBody>
          <a:bodyPr rtlCol="0"/>
          <a:lstStyle/>
          <a:p>
            <a:r>
              <a:rPr lang="tr-TR" dirty="0"/>
              <a:t>Android Sürümü ve API Seviyesi</a:t>
            </a:r>
          </a:p>
        </p:txBody>
      </p:sp>
      <p:sp>
        <p:nvSpPr>
          <p:cNvPr id="3" name="İçerik Yer Tutucusu 2">
            <a:extLst>
              <a:ext uri="{FF2B5EF4-FFF2-40B4-BE49-F238E27FC236}">
                <a16:creationId xmlns:a16="http://schemas.microsoft.com/office/drawing/2014/main" id="{90CA946C-B3B8-DA62-F180-036BB61A070B}"/>
              </a:ext>
            </a:extLst>
          </p:cNvPr>
          <p:cNvSpPr>
            <a:spLocks noGrp="1"/>
          </p:cNvSpPr>
          <p:nvPr>
            <p:ph idx="1"/>
          </p:nvPr>
        </p:nvSpPr>
        <p:spPr/>
        <p:txBody>
          <a:bodyPr rtlCol="0"/>
          <a:lstStyle/>
          <a:p>
            <a:pPr rtl="0"/>
            <a:r>
              <a:rPr lang="tr-TR" dirty="0"/>
              <a:t>Google, son kullanıcılar için işletim sistemini Android 15,16,17 şeklinde adlandırır ancak biz geliştiriciler için bundan ziyade API Seviyesi daha önemlidir.</a:t>
            </a:r>
          </a:p>
          <a:p>
            <a:pPr rtl="0"/>
            <a:r>
              <a:rPr lang="tr-TR" dirty="0"/>
              <a:t>Google Android’e kod tarafında yeni bir özellik eklediğinde(örneğin karanlık mod </a:t>
            </a:r>
            <a:r>
              <a:rPr lang="tr-TR" dirty="0" err="1"/>
              <a:t>API’si</a:t>
            </a:r>
            <a:r>
              <a:rPr lang="tr-TR" dirty="0"/>
              <a:t> veya yeni bir Bluetooth izni) API seviyesini 1 artırır. Dolayısıyla günümüzde Android 16 aslında API seviyesi olarak 36 ile ifade edilmektedir ve artmaya da devam eder.</a:t>
            </a:r>
          </a:p>
        </p:txBody>
      </p:sp>
    </p:spTree>
    <p:extLst>
      <p:ext uri="{BB962C8B-B14F-4D97-AF65-F5344CB8AC3E}">
        <p14:creationId xmlns:p14="http://schemas.microsoft.com/office/powerpoint/2010/main" val="56924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394D9-4C99-94C1-1176-23F25CA5CCE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67C3764-7C22-46F6-9D23-221E624741E4}"/>
              </a:ext>
            </a:extLst>
          </p:cNvPr>
          <p:cNvSpPr>
            <a:spLocks noGrp="1"/>
          </p:cNvSpPr>
          <p:nvPr>
            <p:ph type="title"/>
          </p:nvPr>
        </p:nvSpPr>
        <p:spPr/>
        <p:txBody>
          <a:bodyPr rtlCol="0"/>
          <a:lstStyle/>
          <a:p>
            <a:r>
              <a:rPr lang="tr-TR" dirty="0"/>
              <a:t>Android Sürümü ve API Seviyesi</a:t>
            </a:r>
          </a:p>
        </p:txBody>
      </p:sp>
      <p:pic>
        <p:nvPicPr>
          <p:cNvPr id="4" name="İçerik Yer Tutucusu 3" descr="SDK Platformu sürüm notları | Android Studio | Android Developers">
            <a:extLst>
              <a:ext uri="{FF2B5EF4-FFF2-40B4-BE49-F238E27FC236}">
                <a16:creationId xmlns:a16="http://schemas.microsoft.com/office/drawing/2014/main" id="{7E89CEAF-E3A7-BE3D-1986-B76E4491BFB9}"/>
              </a:ext>
            </a:extLst>
          </p:cNvPr>
          <p:cNvPicPr>
            <a:picLocks noGrp="1" noChangeAspect="1"/>
          </p:cNvPicPr>
          <p:nvPr>
            <p:ph idx="1"/>
          </p:nvPr>
        </p:nvPicPr>
        <p:blipFill>
          <a:blip r:embed="rId3"/>
          <a:stretch>
            <a:fillRect/>
          </a:stretch>
        </p:blipFill>
        <p:spPr>
          <a:xfrm>
            <a:off x="2867153" y="2134466"/>
            <a:ext cx="6457693" cy="4783692"/>
          </a:xfrm>
          <a:prstGeom prst="rect">
            <a:avLst/>
          </a:prstGeom>
        </p:spPr>
      </p:pic>
    </p:spTree>
    <p:extLst>
      <p:ext uri="{BB962C8B-B14F-4D97-AF65-F5344CB8AC3E}">
        <p14:creationId xmlns:p14="http://schemas.microsoft.com/office/powerpoint/2010/main" val="440924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CF7B-139F-3AB3-8EB5-36BC704F3F9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57906F1-4777-FCE3-1326-A9F7A9C3B78D}"/>
              </a:ext>
            </a:extLst>
          </p:cNvPr>
          <p:cNvSpPr>
            <a:spLocks noGrp="1"/>
          </p:cNvSpPr>
          <p:nvPr>
            <p:ph type="title"/>
          </p:nvPr>
        </p:nvSpPr>
        <p:spPr/>
        <p:txBody>
          <a:bodyPr rtlCol="0"/>
          <a:lstStyle/>
          <a:p>
            <a:r>
              <a:rPr lang="tr-TR" dirty="0"/>
              <a:t>Android Sürümü ve API Seviyesi</a:t>
            </a:r>
          </a:p>
        </p:txBody>
      </p:sp>
      <p:sp>
        <p:nvSpPr>
          <p:cNvPr id="3" name="İçerik Yer Tutucusu 2">
            <a:extLst>
              <a:ext uri="{FF2B5EF4-FFF2-40B4-BE49-F238E27FC236}">
                <a16:creationId xmlns:a16="http://schemas.microsoft.com/office/drawing/2014/main" id="{1FC9F0A2-E149-68E4-BBF9-C452E2D451FA}"/>
              </a:ext>
            </a:extLst>
          </p:cNvPr>
          <p:cNvSpPr>
            <a:spLocks noGrp="1"/>
          </p:cNvSpPr>
          <p:nvPr>
            <p:ph idx="1"/>
          </p:nvPr>
        </p:nvSpPr>
        <p:spPr/>
        <p:txBody>
          <a:bodyPr rtlCol="0"/>
          <a:lstStyle/>
          <a:p>
            <a:pPr rtl="0"/>
            <a:r>
              <a:rPr lang="tr-TR" dirty="0"/>
              <a:t>Bir Android projesi açıldığında </a:t>
            </a:r>
            <a:r>
              <a:rPr lang="tr-TR" dirty="0" err="1"/>
              <a:t>build.gradle</a:t>
            </a:r>
            <a:r>
              <a:rPr lang="tr-TR" dirty="0"/>
              <a:t> dosyasında 3 farklı SDK değeri bulunur. Bunlar:</a:t>
            </a:r>
          </a:p>
          <a:p>
            <a:pPr marL="624078" indent="-514350" rtl="0">
              <a:buFont typeface="+mj-lt"/>
              <a:buAutoNum type="arabicPeriod"/>
            </a:pPr>
            <a:r>
              <a:rPr lang="tr-TR" b="1" dirty="0" err="1"/>
              <a:t>minSdkVersion</a:t>
            </a:r>
            <a:r>
              <a:rPr lang="tr-TR" b="1" dirty="0"/>
              <a:t>: </a:t>
            </a:r>
            <a:r>
              <a:rPr lang="tr-TR" dirty="0"/>
              <a:t>Uygulamanızın çalışacağı en düşük telefon modelini ve </a:t>
            </a:r>
            <a:r>
              <a:rPr lang="tr-TR"/>
              <a:t>Android sürümünü </a:t>
            </a:r>
            <a:r>
              <a:rPr lang="tr-TR" dirty="0"/>
              <a:t>belirler.</a:t>
            </a:r>
          </a:p>
          <a:p>
            <a:pPr marL="624078" indent="-514350" rtl="0">
              <a:buFont typeface="+mj-lt"/>
              <a:buAutoNum type="arabicPeriod"/>
            </a:pPr>
            <a:r>
              <a:rPr lang="tr-TR" b="1" dirty="0" err="1"/>
              <a:t>targetSdkVersion</a:t>
            </a:r>
            <a:r>
              <a:rPr lang="tr-TR" b="1" dirty="0"/>
              <a:t>: </a:t>
            </a:r>
            <a:r>
              <a:rPr lang="tr-TR" dirty="0"/>
              <a:t>Uygulamanızı hangi güncel kural setine göre test ettiğinizi Google’a bildirdiğiniz sayıdır. Uygulama </a:t>
            </a:r>
            <a:r>
              <a:rPr lang="tr-TR" dirty="0" err="1"/>
              <a:t>minSdkVersion</a:t>
            </a:r>
            <a:r>
              <a:rPr lang="tr-TR" dirty="0"/>
              <a:t> olarak API 24’te çalışsa dahi Google’a ben bunu API 36’nın(en son) güvenlik ve izin kurallarına göre optimize ettim demek zorundasınız!</a:t>
            </a:r>
            <a:endParaRPr lang="tr-TR" b="1" dirty="0"/>
          </a:p>
        </p:txBody>
      </p:sp>
    </p:spTree>
    <p:extLst>
      <p:ext uri="{BB962C8B-B14F-4D97-AF65-F5344CB8AC3E}">
        <p14:creationId xmlns:p14="http://schemas.microsoft.com/office/powerpoint/2010/main" val="3045239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1C64-345B-78BF-32CA-F12F3FA00D6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F5CD18F-CE48-707B-80C5-ED2A8E1834DC}"/>
              </a:ext>
            </a:extLst>
          </p:cNvPr>
          <p:cNvSpPr>
            <a:spLocks noGrp="1"/>
          </p:cNvSpPr>
          <p:nvPr>
            <p:ph type="title"/>
          </p:nvPr>
        </p:nvSpPr>
        <p:spPr/>
        <p:txBody>
          <a:bodyPr rtlCol="0"/>
          <a:lstStyle/>
          <a:p>
            <a:r>
              <a:rPr lang="tr-TR" dirty="0"/>
              <a:t>Android Sürümü ve API Seviyesi</a:t>
            </a:r>
          </a:p>
        </p:txBody>
      </p:sp>
      <p:sp>
        <p:nvSpPr>
          <p:cNvPr id="3" name="İçerik Yer Tutucusu 2">
            <a:extLst>
              <a:ext uri="{FF2B5EF4-FFF2-40B4-BE49-F238E27FC236}">
                <a16:creationId xmlns:a16="http://schemas.microsoft.com/office/drawing/2014/main" id="{6088A9B6-3EA9-1B09-C8AB-ECF13C799415}"/>
              </a:ext>
            </a:extLst>
          </p:cNvPr>
          <p:cNvSpPr>
            <a:spLocks noGrp="1"/>
          </p:cNvSpPr>
          <p:nvPr>
            <p:ph idx="1"/>
          </p:nvPr>
        </p:nvSpPr>
        <p:spPr/>
        <p:txBody>
          <a:bodyPr rtlCol="0"/>
          <a:lstStyle/>
          <a:p>
            <a:pPr marL="624078" indent="-514350" rtl="0">
              <a:buFont typeface="+mj-lt"/>
              <a:buAutoNum type="arabicPeriod" startAt="3"/>
            </a:pPr>
            <a:r>
              <a:rPr lang="tr-TR" b="1" dirty="0" err="1"/>
              <a:t>compileSdkVersion</a:t>
            </a:r>
            <a:r>
              <a:rPr lang="tr-TR" b="1" dirty="0"/>
              <a:t>: </a:t>
            </a:r>
            <a:r>
              <a:rPr lang="tr-TR" dirty="0"/>
              <a:t>Kodu bilgisayarda derlerken </a:t>
            </a:r>
            <a:r>
              <a:rPr lang="tr-TR" dirty="0" err="1"/>
              <a:t>SDK’in</a:t>
            </a:r>
            <a:r>
              <a:rPr lang="tr-TR" dirty="0"/>
              <a:t> hangi sürümünü kullandığınızı ifade eder. Her zaman en son çıkan sürüm olmalıdır!</a:t>
            </a:r>
            <a:endParaRPr lang="tr-TR" b="1" dirty="0"/>
          </a:p>
        </p:txBody>
      </p:sp>
    </p:spTree>
    <p:extLst>
      <p:ext uri="{BB962C8B-B14F-4D97-AF65-F5344CB8AC3E}">
        <p14:creationId xmlns:p14="http://schemas.microsoft.com/office/powerpoint/2010/main" val="175354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478</TotalTime>
  <Words>2860</Words>
  <Application>Microsoft Office PowerPoint</Application>
  <PresentationFormat>Geniş ekran</PresentationFormat>
  <Paragraphs>199</Paragraphs>
  <Slides>32</Slides>
  <Notes>32</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32</vt:i4>
      </vt:variant>
    </vt:vector>
  </HeadingPairs>
  <TitlesOfParts>
    <vt:vector size="37" baseType="lpstr">
      <vt:lpstr>Arial</vt:lpstr>
      <vt:lpstr>Calibri</vt:lpstr>
      <vt:lpstr>Georgia</vt:lpstr>
      <vt:lpstr>Wingdings 2</vt:lpstr>
      <vt:lpstr>Eğitim sunusu</vt:lpstr>
      <vt:lpstr>Mobil Uygulama Geliştirme</vt:lpstr>
      <vt:lpstr>Mobil Uygulama Nedir?</vt:lpstr>
      <vt:lpstr>Donanım ve Sensör Entegrasyonu</vt:lpstr>
      <vt:lpstr>Kaynak Kısıtlamaları ve Enerji Yönetimi</vt:lpstr>
      <vt:lpstr>Uygulama Yaşam Döngüsü</vt:lpstr>
      <vt:lpstr>Etkileşim ve Arayüz</vt:lpstr>
      <vt:lpstr>Katmanlı İşletim Sistemi Mimarisi</vt:lpstr>
      <vt:lpstr>Katmanlı İşletim Sistemi Mimarisi</vt:lpstr>
      <vt:lpstr>Sandbox (Kum Havuzu)</vt:lpstr>
      <vt:lpstr>İzin Modeli</vt:lpstr>
      <vt:lpstr>İzin Modeli</vt:lpstr>
      <vt:lpstr>Mobil İşletim Sistemleri</vt:lpstr>
      <vt:lpstr>Android İşletim Sistemi</vt:lpstr>
      <vt:lpstr>Android İşletim Sistemi</vt:lpstr>
      <vt:lpstr>Android İşletim Sistemi</vt:lpstr>
      <vt:lpstr>Android İşletim Sistemi</vt:lpstr>
      <vt:lpstr>Android İşletim Sistemi</vt:lpstr>
      <vt:lpstr>Android İşletim Sistemi</vt:lpstr>
      <vt:lpstr>iOS İşletim Sistemi</vt:lpstr>
      <vt:lpstr>iOS İşletim Sistemi</vt:lpstr>
      <vt:lpstr>iOS İşletim Sistemi</vt:lpstr>
      <vt:lpstr>Mobil Uygulama Geliştirme Yaklaşımları</vt:lpstr>
      <vt:lpstr>Native(Yerel) Geliştirme</vt:lpstr>
      <vt:lpstr>Cross-Platform(Çapraz Platform) Geliştirme</vt:lpstr>
      <vt:lpstr>Hybrid(Hibrit) Geliştirme</vt:lpstr>
      <vt:lpstr>Mobil Uygulama ile Mobil Oyun</vt:lpstr>
      <vt:lpstr>SDK(Software Development Kit)</vt:lpstr>
      <vt:lpstr>SDK(Software Development Kit)</vt:lpstr>
      <vt:lpstr>Android Sürümü ve API Seviyesi</vt:lpstr>
      <vt:lpstr>Android Sürümü ve API Seviyesi</vt:lpstr>
      <vt:lpstr>Android Sürümü ve API Seviyesi</vt:lpstr>
      <vt:lpstr>Android Sürümü ve API Seviyesi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ZaferS</dc:creator>
  <cp:lastModifiedBy>ZaferS</cp:lastModifiedBy>
  <cp:revision>137</cp:revision>
  <dcterms:created xsi:type="dcterms:W3CDTF">2026-09-07T11:01:41Z</dcterms:created>
  <dcterms:modified xsi:type="dcterms:W3CDTF">2026-09-27T18:44:56Z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