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6"/>
  </p:notesMasterIdLst>
  <p:handoutMasterIdLst>
    <p:handoutMasterId r:id="rId37"/>
  </p:handoutMasterIdLst>
  <p:sldIdLst>
    <p:sldId id="257" r:id="rId2"/>
    <p:sldId id="267" r:id="rId3"/>
    <p:sldId id="268" r:id="rId4"/>
    <p:sldId id="269" r:id="rId5"/>
    <p:sldId id="272" r:id="rId6"/>
    <p:sldId id="270" r:id="rId7"/>
    <p:sldId id="273" r:id="rId8"/>
    <p:sldId id="271" r:id="rId9"/>
    <p:sldId id="274" r:id="rId10"/>
    <p:sldId id="275" r:id="rId11"/>
    <p:sldId id="259" r:id="rId12"/>
    <p:sldId id="261" r:id="rId13"/>
    <p:sldId id="260" r:id="rId14"/>
    <p:sldId id="262" r:id="rId15"/>
    <p:sldId id="263" r:id="rId16"/>
    <p:sldId id="264" r:id="rId17"/>
    <p:sldId id="265" r:id="rId18"/>
    <p:sldId id="266" r:id="rId19"/>
    <p:sldId id="276" r:id="rId20"/>
    <p:sldId id="277" r:id="rId21"/>
    <p:sldId id="278" r:id="rId22"/>
    <p:sldId id="279" r:id="rId23"/>
    <p:sldId id="280" r:id="rId24"/>
    <p:sldId id="294" r:id="rId25"/>
    <p:sldId id="281" r:id="rId26"/>
    <p:sldId id="295" r:id="rId27"/>
    <p:sldId id="296" r:id="rId28"/>
    <p:sldId id="297" r:id="rId29"/>
    <p:sldId id="298" r:id="rId30"/>
    <p:sldId id="299" r:id="rId31"/>
    <p:sldId id="300" r:id="rId32"/>
    <p:sldId id="301" r:id="rId33"/>
    <p:sldId id="302" r:id="rId34"/>
    <p:sldId id="303" r:id="rId35"/>
  </p:sldIdLst>
  <p:sldSz cx="12192000" cy="6858000"/>
  <p:notesSz cx="6858000" cy="9144000"/>
  <p:defaultTextStyle>
    <a:defPPr rtl="0">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7296" userDrawn="1">
          <p15:clr>
            <a:srgbClr val="A4A3A4"/>
          </p15:clr>
        </p15:guide>
        <p15:guide id="4" orient="horz" pos="412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89911" autoAdjust="0"/>
  </p:normalViewPr>
  <p:slideViewPr>
    <p:cSldViewPr snapToGrid="0">
      <p:cViewPr varScale="1">
        <p:scale>
          <a:sx n="87" d="100"/>
          <a:sy n="87" d="100"/>
        </p:scale>
        <p:origin x="480" y="58"/>
      </p:cViewPr>
      <p:guideLst>
        <p:guide orient="horz" pos="2160"/>
        <p:guide pos="3840"/>
        <p:guide pos="7296"/>
        <p:guide orient="horz" pos="4128"/>
      </p:guideLst>
    </p:cSldViewPr>
  </p:slideViewPr>
  <p:notesTextViewPr>
    <p:cViewPr>
      <p:scale>
        <a:sx n="3" d="2"/>
        <a:sy n="3" d="2"/>
      </p:scale>
      <p:origin x="0" y="0"/>
    </p:cViewPr>
  </p:notesTextViewPr>
  <p:notesViewPr>
    <p:cSldViewPr snapToGrid="0" showGuides="1">
      <p:cViewPr varScale="1">
        <p:scale>
          <a:sx n="93" d="100"/>
          <a:sy n="93" d="100"/>
        </p:scale>
        <p:origin x="2874"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tr-TR" dirty="0"/>
          </a:p>
        </p:txBody>
      </p:sp>
      <p:sp>
        <p:nvSpPr>
          <p:cNvPr id="3" name="Tarih Yer Tutucusu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1FC8FC1-A1A8-42CB-96AC-83684F0DF578}" type="datetime1">
              <a:rPr lang="tr-TR" smtClean="0"/>
              <a:t>4.10.2024</a:t>
            </a:fld>
            <a:endParaRPr lang="tr-TR" dirty="0"/>
          </a:p>
        </p:txBody>
      </p:sp>
      <p:sp>
        <p:nvSpPr>
          <p:cNvPr id="4" name="Alt Bilgi Yer Tutucusu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tr-TR" dirty="0"/>
          </a:p>
        </p:txBody>
      </p:sp>
      <p:sp>
        <p:nvSpPr>
          <p:cNvPr id="5" name="Slayt Numarası Yer Tutucusu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4E50CC-F33A-4EF4-9F12-93EC4A21A0CF}" type="slidenum">
              <a:rPr lang="tr-TR" smtClean="0"/>
              <a:t>‹#›</a:t>
            </a:fld>
            <a:endParaRPr lang="tr-TR" dirty="0"/>
          </a:p>
        </p:txBody>
      </p:sp>
    </p:spTree>
    <p:extLst>
      <p:ext uri="{BB962C8B-B14F-4D97-AF65-F5344CB8AC3E}">
        <p14:creationId xmlns:p14="http://schemas.microsoft.com/office/powerpoint/2010/main" val="132329507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tr-TR" noProof="0" dirty="0"/>
          </a:p>
        </p:txBody>
      </p:sp>
      <p:sp>
        <p:nvSpPr>
          <p:cNvPr id="3" name="Tarih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E0653A-FB33-4975-A611-5D53C5C337D6}" type="datetime1">
              <a:rPr lang="tr-TR" smtClean="0"/>
              <a:pPr/>
              <a:t>4.10.2024</a:t>
            </a:fld>
            <a:endParaRPr lang="tr-TR" dirty="0"/>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tr-TR" noProof="0" dirty="0"/>
          </a:p>
        </p:txBody>
      </p:sp>
      <p:sp>
        <p:nvSpPr>
          <p:cNvPr id="5" name="Notlar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tr-TR" noProof="0" dirty="0"/>
              <a:t>Asıl metin stillerini düzenlemek için tıklayın</a:t>
            </a:r>
          </a:p>
          <a:p>
            <a:pPr lvl="1" rtl="0"/>
            <a:r>
              <a:rPr lang="tr-TR" noProof="0" dirty="0"/>
              <a:t>İkinci düzey</a:t>
            </a:r>
          </a:p>
          <a:p>
            <a:pPr lvl="2" rtl="0"/>
            <a:r>
              <a:rPr lang="tr-TR" noProof="0" dirty="0"/>
              <a:t>Üçüncü düzey</a:t>
            </a:r>
          </a:p>
          <a:p>
            <a:pPr lvl="3" rtl="0"/>
            <a:r>
              <a:rPr lang="tr-TR" noProof="0" dirty="0"/>
              <a:t>Dördüncü düzey</a:t>
            </a:r>
          </a:p>
          <a:p>
            <a:pPr lvl="4" rtl="0"/>
            <a:r>
              <a:rPr lang="tr-TR" noProof="0" dirty="0"/>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tr-TR" noProof="0" dirty="0"/>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2674CE4-FBD8-4481-AEFB-CA53E599A745}" type="slidenum">
              <a:rPr lang="tr-TR" noProof="0" smtClean="0"/>
              <a:t>‹#›</a:t>
            </a:fld>
            <a:endParaRPr lang="tr-TR" noProof="0" dirty="0"/>
          </a:p>
        </p:txBody>
      </p:sp>
    </p:spTree>
    <p:extLst>
      <p:ext uri="{BB962C8B-B14F-4D97-AF65-F5344CB8AC3E}">
        <p14:creationId xmlns:p14="http://schemas.microsoft.com/office/powerpoint/2010/main" val="12732681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rtl="0"/>
            <a:endParaRPr lang="tr-TR" dirty="0"/>
          </a:p>
        </p:txBody>
      </p:sp>
      <p:sp>
        <p:nvSpPr>
          <p:cNvPr id="4" name="Slayt Numarası Yer Tutucusu 3"/>
          <p:cNvSpPr>
            <a:spLocks noGrp="1"/>
          </p:cNvSpPr>
          <p:nvPr>
            <p:ph type="sldNum" sz="quarter" idx="10"/>
          </p:nvPr>
        </p:nvSpPr>
        <p:spPr/>
        <p:txBody>
          <a:bodyPr rtlCol="0"/>
          <a:lstStyle/>
          <a:p>
            <a:pPr rtl="0"/>
            <a:fld id="{32674CE4-FBD8-4481-AEFB-CA53E599A745}" type="slidenum">
              <a:rPr lang="tr-TR" smtClean="0"/>
              <a:t>1</a:t>
            </a:fld>
            <a:endParaRPr lang="tr-TR" dirty="0"/>
          </a:p>
        </p:txBody>
      </p:sp>
    </p:spTree>
    <p:extLst>
      <p:ext uri="{BB962C8B-B14F-4D97-AF65-F5344CB8AC3E}">
        <p14:creationId xmlns:p14="http://schemas.microsoft.com/office/powerpoint/2010/main" val="2147974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a:t>
            </a:fld>
            <a:endParaRPr lang="tr-TR" dirty="0"/>
          </a:p>
        </p:txBody>
      </p:sp>
    </p:spTree>
    <p:extLst>
      <p:ext uri="{BB962C8B-B14F-4D97-AF65-F5344CB8AC3E}">
        <p14:creationId xmlns:p14="http://schemas.microsoft.com/office/powerpoint/2010/main" val="347313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a:t>
            </a:fld>
            <a:endParaRPr lang="tr-TR" dirty="0"/>
          </a:p>
        </p:txBody>
      </p:sp>
    </p:spTree>
    <p:extLst>
      <p:ext uri="{BB962C8B-B14F-4D97-AF65-F5344CB8AC3E}">
        <p14:creationId xmlns:p14="http://schemas.microsoft.com/office/powerpoint/2010/main" val="5417541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4</a:t>
            </a:fld>
            <a:endParaRPr lang="tr-TR" dirty="0"/>
          </a:p>
        </p:txBody>
      </p:sp>
    </p:spTree>
    <p:extLst>
      <p:ext uri="{BB962C8B-B14F-4D97-AF65-F5344CB8AC3E}">
        <p14:creationId xmlns:p14="http://schemas.microsoft.com/office/powerpoint/2010/main" val="4293818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5</a:t>
            </a:fld>
            <a:endParaRPr lang="tr-TR" dirty="0"/>
          </a:p>
        </p:txBody>
      </p:sp>
    </p:spTree>
    <p:extLst>
      <p:ext uri="{BB962C8B-B14F-4D97-AF65-F5344CB8AC3E}">
        <p14:creationId xmlns:p14="http://schemas.microsoft.com/office/powerpoint/2010/main" val="3554401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6</a:t>
            </a:fld>
            <a:endParaRPr lang="tr-TR" dirty="0"/>
          </a:p>
        </p:txBody>
      </p:sp>
    </p:spTree>
    <p:extLst>
      <p:ext uri="{BB962C8B-B14F-4D97-AF65-F5344CB8AC3E}">
        <p14:creationId xmlns:p14="http://schemas.microsoft.com/office/powerpoint/2010/main" val="33298036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7</a:t>
            </a:fld>
            <a:endParaRPr lang="tr-TR" dirty="0"/>
          </a:p>
        </p:txBody>
      </p:sp>
    </p:spTree>
    <p:extLst>
      <p:ext uri="{BB962C8B-B14F-4D97-AF65-F5344CB8AC3E}">
        <p14:creationId xmlns:p14="http://schemas.microsoft.com/office/powerpoint/2010/main" val="3124428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8</a:t>
            </a:fld>
            <a:endParaRPr lang="tr-TR" dirty="0"/>
          </a:p>
        </p:txBody>
      </p:sp>
    </p:spTree>
    <p:extLst>
      <p:ext uri="{BB962C8B-B14F-4D97-AF65-F5344CB8AC3E}">
        <p14:creationId xmlns:p14="http://schemas.microsoft.com/office/powerpoint/2010/main" val="28881830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9</a:t>
            </a:fld>
            <a:endParaRPr lang="tr-TR" dirty="0"/>
          </a:p>
        </p:txBody>
      </p:sp>
    </p:spTree>
    <p:extLst>
      <p:ext uri="{BB962C8B-B14F-4D97-AF65-F5344CB8AC3E}">
        <p14:creationId xmlns:p14="http://schemas.microsoft.com/office/powerpoint/2010/main" val="1303056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10</a:t>
            </a:fld>
            <a:endParaRPr lang="tr-TR" dirty="0"/>
          </a:p>
        </p:txBody>
      </p:sp>
    </p:spTree>
    <p:extLst>
      <p:ext uri="{BB962C8B-B14F-4D97-AF65-F5344CB8AC3E}">
        <p14:creationId xmlns:p14="http://schemas.microsoft.com/office/powerpoint/2010/main" val="17824015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11</a:t>
            </a:fld>
            <a:endParaRPr lang="tr-TR" dirty="0"/>
          </a:p>
        </p:txBody>
      </p:sp>
    </p:spTree>
    <p:extLst>
      <p:ext uri="{BB962C8B-B14F-4D97-AF65-F5344CB8AC3E}">
        <p14:creationId xmlns:p14="http://schemas.microsoft.com/office/powerpoint/2010/main" val="586658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12</a:t>
            </a:fld>
            <a:endParaRPr lang="tr-TR" dirty="0"/>
          </a:p>
        </p:txBody>
      </p:sp>
    </p:spTree>
    <p:extLst>
      <p:ext uri="{BB962C8B-B14F-4D97-AF65-F5344CB8AC3E}">
        <p14:creationId xmlns:p14="http://schemas.microsoft.com/office/powerpoint/2010/main" val="42464102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13</a:t>
            </a:fld>
            <a:endParaRPr lang="tr-TR" dirty="0"/>
          </a:p>
        </p:txBody>
      </p:sp>
    </p:spTree>
    <p:extLst>
      <p:ext uri="{BB962C8B-B14F-4D97-AF65-F5344CB8AC3E}">
        <p14:creationId xmlns:p14="http://schemas.microsoft.com/office/powerpoint/2010/main" val="24874993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14</a:t>
            </a:fld>
            <a:endParaRPr lang="tr-TR" dirty="0"/>
          </a:p>
        </p:txBody>
      </p:sp>
    </p:spTree>
    <p:extLst>
      <p:ext uri="{BB962C8B-B14F-4D97-AF65-F5344CB8AC3E}">
        <p14:creationId xmlns:p14="http://schemas.microsoft.com/office/powerpoint/2010/main" val="4283668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15</a:t>
            </a:fld>
            <a:endParaRPr lang="tr-TR" dirty="0"/>
          </a:p>
        </p:txBody>
      </p:sp>
    </p:spTree>
    <p:extLst>
      <p:ext uri="{BB962C8B-B14F-4D97-AF65-F5344CB8AC3E}">
        <p14:creationId xmlns:p14="http://schemas.microsoft.com/office/powerpoint/2010/main" val="27961408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16</a:t>
            </a:fld>
            <a:endParaRPr lang="tr-TR" dirty="0"/>
          </a:p>
        </p:txBody>
      </p:sp>
    </p:spTree>
    <p:extLst>
      <p:ext uri="{BB962C8B-B14F-4D97-AF65-F5344CB8AC3E}">
        <p14:creationId xmlns:p14="http://schemas.microsoft.com/office/powerpoint/2010/main" val="10564767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17</a:t>
            </a:fld>
            <a:endParaRPr lang="tr-TR" dirty="0"/>
          </a:p>
        </p:txBody>
      </p:sp>
    </p:spTree>
    <p:extLst>
      <p:ext uri="{BB962C8B-B14F-4D97-AF65-F5344CB8AC3E}">
        <p14:creationId xmlns:p14="http://schemas.microsoft.com/office/powerpoint/2010/main" val="711341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18</a:t>
            </a:fld>
            <a:endParaRPr lang="tr-TR" dirty="0"/>
          </a:p>
        </p:txBody>
      </p:sp>
    </p:spTree>
    <p:extLst>
      <p:ext uri="{BB962C8B-B14F-4D97-AF65-F5344CB8AC3E}">
        <p14:creationId xmlns:p14="http://schemas.microsoft.com/office/powerpoint/2010/main" val="10902039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19</a:t>
            </a:fld>
            <a:endParaRPr lang="tr-TR" dirty="0"/>
          </a:p>
        </p:txBody>
      </p:sp>
    </p:spTree>
    <p:extLst>
      <p:ext uri="{BB962C8B-B14F-4D97-AF65-F5344CB8AC3E}">
        <p14:creationId xmlns:p14="http://schemas.microsoft.com/office/powerpoint/2010/main" val="29603244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20</a:t>
            </a:fld>
            <a:endParaRPr lang="tr-TR" dirty="0"/>
          </a:p>
        </p:txBody>
      </p:sp>
    </p:spTree>
    <p:extLst>
      <p:ext uri="{BB962C8B-B14F-4D97-AF65-F5344CB8AC3E}">
        <p14:creationId xmlns:p14="http://schemas.microsoft.com/office/powerpoint/2010/main" val="29349746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21</a:t>
            </a:fld>
            <a:endParaRPr lang="tr-TR" dirty="0"/>
          </a:p>
        </p:txBody>
      </p:sp>
    </p:spTree>
    <p:extLst>
      <p:ext uri="{BB962C8B-B14F-4D97-AF65-F5344CB8AC3E}">
        <p14:creationId xmlns:p14="http://schemas.microsoft.com/office/powerpoint/2010/main" val="23982802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22</a:t>
            </a:fld>
            <a:endParaRPr lang="tr-TR" dirty="0"/>
          </a:p>
        </p:txBody>
      </p:sp>
    </p:spTree>
    <p:extLst>
      <p:ext uri="{BB962C8B-B14F-4D97-AF65-F5344CB8AC3E}">
        <p14:creationId xmlns:p14="http://schemas.microsoft.com/office/powerpoint/2010/main" val="40554708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23</a:t>
            </a:fld>
            <a:endParaRPr lang="tr-TR" dirty="0"/>
          </a:p>
        </p:txBody>
      </p:sp>
    </p:spTree>
    <p:extLst>
      <p:ext uri="{BB962C8B-B14F-4D97-AF65-F5344CB8AC3E}">
        <p14:creationId xmlns:p14="http://schemas.microsoft.com/office/powerpoint/2010/main" val="41770281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24</a:t>
            </a:fld>
            <a:endParaRPr lang="tr-TR" dirty="0"/>
          </a:p>
        </p:txBody>
      </p:sp>
    </p:spTree>
    <p:extLst>
      <p:ext uri="{BB962C8B-B14F-4D97-AF65-F5344CB8AC3E}">
        <p14:creationId xmlns:p14="http://schemas.microsoft.com/office/powerpoint/2010/main" val="1759154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25</a:t>
            </a:fld>
            <a:endParaRPr lang="tr-TR" dirty="0"/>
          </a:p>
        </p:txBody>
      </p:sp>
    </p:spTree>
    <p:extLst>
      <p:ext uri="{BB962C8B-B14F-4D97-AF65-F5344CB8AC3E}">
        <p14:creationId xmlns:p14="http://schemas.microsoft.com/office/powerpoint/2010/main" val="13880660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26</a:t>
            </a:fld>
            <a:endParaRPr lang="tr-TR" dirty="0"/>
          </a:p>
        </p:txBody>
      </p:sp>
    </p:spTree>
    <p:extLst>
      <p:ext uri="{BB962C8B-B14F-4D97-AF65-F5344CB8AC3E}">
        <p14:creationId xmlns:p14="http://schemas.microsoft.com/office/powerpoint/2010/main" val="34468812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27</a:t>
            </a:fld>
            <a:endParaRPr lang="tr-TR" dirty="0"/>
          </a:p>
        </p:txBody>
      </p:sp>
    </p:spTree>
    <p:extLst>
      <p:ext uri="{BB962C8B-B14F-4D97-AF65-F5344CB8AC3E}">
        <p14:creationId xmlns:p14="http://schemas.microsoft.com/office/powerpoint/2010/main" val="30620684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28</a:t>
            </a:fld>
            <a:endParaRPr lang="tr-TR" dirty="0"/>
          </a:p>
        </p:txBody>
      </p:sp>
    </p:spTree>
    <p:extLst>
      <p:ext uri="{BB962C8B-B14F-4D97-AF65-F5344CB8AC3E}">
        <p14:creationId xmlns:p14="http://schemas.microsoft.com/office/powerpoint/2010/main" val="20115846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29</a:t>
            </a:fld>
            <a:endParaRPr lang="tr-TR" dirty="0"/>
          </a:p>
        </p:txBody>
      </p:sp>
    </p:spTree>
    <p:extLst>
      <p:ext uri="{BB962C8B-B14F-4D97-AF65-F5344CB8AC3E}">
        <p14:creationId xmlns:p14="http://schemas.microsoft.com/office/powerpoint/2010/main" val="5027504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30</a:t>
            </a:fld>
            <a:endParaRPr lang="tr-TR" dirty="0"/>
          </a:p>
        </p:txBody>
      </p:sp>
    </p:spTree>
    <p:extLst>
      <p:ext uri="{BB962C8B-B14F-4D97-AF65-F5344CB8AC3E}">
        <p14:creationId xmlns:p14="http://schemas.microsoft.com/office/powerpoint/2010/main" val="9345115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31</a:t>
            </a:fld>
            <a:endParaRPr lang="tr-TR" dirty="0"/>
          </a:p>
        </p:txBody>
      </p:sp>
    </p:spTree>
    <p:extLst>
      <p:ext uri="{BB962C8B-B14F-4D97-AF65-F5344CB8AC3E}">
        <p14:creationId xmlns:p14="http://schemas.microsoft.com/office/powerpoint/2010/main" val="35130529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32</a:t>
            </a:fld>
            <a:endParaRPr lang="tr-TR" dirty="0"/>
          </a:p>
        </p:txBody>
      </p:sp>
    </p:spTree>
    <p:extLst>
      <p:ext uri="{BB962C8B-B14F-4D97-AF65-F5344CB8AC3E}">
        <p14:creationId xmlns:p14="http://schemas.microsoft.com/office/powerpoint/2010/main" val="4206103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33</a:t>
            </a:fld>
            <a:endParaRPr lang="tr-TR" dirty="0"/>
          </a:p>
        </p:txBody>
      </p:sp>
    </p:spTree>
    <p:extLst>
      <p:ext uri="{BB962C8B-B14F-4D97-AF65-F5344CB8AC3E}">
        <p14:creationId xmlns:p14="http://schemas.microsoft.com/office/powerpoint/2010/main" val="21785975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34</a:t>
            </a:fld>
            <a:endParaRPr lang="tr-TR" dirty="0"/>
          </a:p>
        </p:txBody>
      </p:sp>
    </p:spTree>
    <p:extLst>
      <p:ext uri="{BB962C8B-B14F-4D97-AF65-F5344CB8AC3E}">
        <p14:creationId xmlns:p14="http://schemas.microsoft.com/office/powerpoint/2010/main" val="581405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Başlık Slaydı">
    <p:spTree>
      <p:nvGrpSpPr>
        <p:cNvPr id="1" name=""/>
        <p:cNvGrpSpPr/>
        <p:nvPr/>
      </p:nvGrpSpPr>
      <p:grpSpPr>
        <a:xfrm>
          <a:off x="0" y="0"/>
          <a:ext cx="0" cy="0"/>
          <a:chOff x="0" y="0"/>
          <a:chExt cx="0" cy="0"/>
        </a:xfrm>
      </p:grpSpPr>
      <p:sp>
        <p:nvSpPr>
          <p:cNvPr id="19" name="Dikdörtgen 18"/>
          <p:cNvSpPr/>
          <p:nvPr/>
        </p:nvSpPr>
        <p:spPr>
          <a:xfrm>
            <a:off x="0" y="0"/>
            <a:ext cx="12192000" cy="3701700"/>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3" name="Dikdörtgen 22"/>
          <p:cNvSpPr/>
          <p:nvPr/>
        </p:nvSpPr>
        <p:spPr>
          <a:xfrm flipV="1">
            <a:off x="7213577" y="3810001"/>
            <a:ext cx="4978425"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4" name="Dikdörtgen 23"/>
          <p:cNvSpPr/>
          <p:nvPr/>
        </p:nvSpPr>
        <p:spPr>
          <a:xfrm flipV="1">
            <a:off x="7213601" y="3897010"/>
            <a:ext cx="4978401" cy="192024"/>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5" name="Dikdörtgen 24"/>
          <p:cNvSpPr/>
          <p:nvPr/>
        </p:nvSpPr>
        <p:spPr>
          <a:xfrm flipV="1">
            <a:off x="7213601" y="4115167"/>
            <a:ext cx="4978401"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6" name="Dikdörtgen 25"/>
          <p:cNvSpPr/>
          <p:nvPr/>
        </p:nvSpPr>
        <p:spPr>
          <a:xfrm flipV="1">
            <a:off x="7213600" y="4164403"/>
            <a:ext cx="2621280" cy="1828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7" name="Dikdörtgen 26"/>
          <p:cNvSpPr/>
          <p:nvPr/>
        </p:nvSpPr>
        <p:spPr>
          <a:xfrm flipV="1">
            <a:off x="7213600" y="4199572"/>
            <a:ext cx="2621280"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0" name="Yuvarlatılmış Dikdörtgen 29"/>
          <p:cNvSpPr/>
          <p:nvPr/>
        </p:nvSpPr>
        <p:spPr bwMode="white">
          <a:xfrm>
            <a:off x="7213600" y="3962400"/>
            <a:ext cx="408432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1" name="Yuvarlatılmış Dikdörtgen 30"/>
          <p:cNvSpPr/>
          <p:nvPr/>
        </p:nvSpPr>
        <p:spPr bwMode="white">
          <a:xfrm>
            <a:off x="9835343" y="4060983"/>
            <a:ext cx="21336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7" name="Dikdörtgen 6"/>
          <p:cNvSpPr/>
          <p:nvPr/>
        </p:nvSpPr>
        <p:spPr>
          <a:xfrm>
            <a:off x="1" y="3649662"/>
            <a:ext cx="12192000" cy="244170"/>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10" name="Dikdörtgen 9"/>
          <p:cNvSpPr/>
          <p:nvPr/>
        </p:nvSpPr>
        <p:spPr>
          <a:xfrm>
            <a:off x="1" y="3675528"/>
            <a:ext cx="12192001" cy="14067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11" name="Dikdörtgen 10"/>
          <p:cNvSpPr/>
          <p:nvPr/>
        </p:nvSpPr>
        <p:spPr>
          <a:xfrm flipV="1">
            <a:off x="8552068" y="3643090"/>
            <a:ext cx="3639933" cy="248432"/>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8" name="Başlık 7"/>
          <p:cNvSpPr>
            <a:spLocks noGrp="1"/>
          </p:cNvSpPr>
          <p:nvPr>
            <p:ph type="ctrTitle"/>
          </p:nvPr>
        </p:nvSpPr>
        <p:spPr>
          <a:xfrm>
            <a:off x="609600" y="2389009"/>
            <a:ext cx="11277600" cy="1470025"/>
          </a:xfrm>
        </p:spPr>
        <p:txBody>
          <a:bodyPr rtlCol="0" anchor="b"/>
          <a:lstStyle>
            <a:lvl1pPr>
              <a:defRPr sz="4400">
                <a:solidFill>
                  <a:schemeClr val="bg1"/>
                </a:solidFill>
              </a:defRPr>
            </a:lvl1pPr>
          </a:lstStyle>
          <a:p>
            <a:pPr rtl="0"/>
            <a:r>
              <a:rPr lang="tr-TR" noProof="0" smtClean="0"/>
              <a:t>Asıl başlık stili için tıklatın</a:t>
            </a:r>
            <a:endParaRPr lang="tr-TR" noProof="0" dirty="0"/>
          </a:p>
        </p:txBody>
      </p:sp>
      <p:sp>
        <p:nvSpPr>
          <p:cNvPr id="9" name="Alt Başlık 8"/>
          <p:cNvSpPr>
            <a:spLocks noGrp="1"/>
          </p:cNvSpPr>
          <p:nvPr>
            <p:ph type="subTitle" idx="1"/>
          </p:nvPr>
        </p:nvSpPr>
        <p:spPr>
          <a:xfrm>
            <a:off x="609600" y="3899938"/>
            <a:ext cx="6604000" cy="1752600"/>
          </a:xfrm>
        </p:spPr>
        <p:txBody>
          <a:bodyPr rtlCol="0"/>
          <a:lstStyle>
            <a:lvl1pPr marL="64008" indent="0" algn="l">
              <a:buNone/>
              <a:defRPr sz="24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pPr rtl="0"/>
            <a:r>
              <a:rPr lang="tr-TR" noProof="0" smtClean="0"/>
              <a:t>Asıl alt başlık stilini düzenlemek için tıklayın</a:t>
            </a:r>
            <a:endParaRPr lang="tr-TR" noProof="0" dirty="0"/>
          </a:p>
        </p:txBody>
      </p:sp>
      <p:sp>
        <p:nvSpPr>
          <p:cNvPr id="17" name="Alt Bilgi Yer Tutucusu 16"/>
          <p:cNvSpPr>
            <a:spLocks noGrp="1"/>
          </p:cNvSpPr>
          <p:nvPr>
            <p:ph type="ftr" sz="quarter" idx="11"/>
          </p:nvPr>
        </p:nvSpPr>
        <p:spPr>
          <a:xfrm>
            <a:off x="7265116" y="4205288"/>
            <a:ext cx="1727200" cy="457200"/>
          </a:xfrm>
        </p:spPr>
        <p:txBody>
          <a:bodyPr rtlCol="0"/>
          <a:lstStyle>
            <a:lvl1pPr>
              <a:defRPr>
                <a:solidFill>
                  <a:schemeClr val="accent2">
                    <a:lumMod val="75000"/>
                  </a:schemeClr>
                </a:solidFill>
              </a:defRPr>
            </a:lvl1pPr>
          </a:lstStyle>
          <a:p>
            <a:pPr rtl="0"/>
            <a:r>
              <a:rPr lang="tr-TR" noProof="0" dirty="0"/>
              <a:t>Alt bilgi ekleme</a:t>
            </a:r>
          </a:p>
        </p:txBody>
      </p:sp>
      <p:sp>
        <p:nvSpPr>
          <p:cNvPr id="28" name="Tarih Yer Tutucusu 27"/>
          <p:cNvSpPr>
            <a:spLocks noGrp="1"/>
          </p:cNvSpPr>
          <p:nvPr>
            <p:ph type="dt" sz="half" idx="10"/>
          </p:nvPr>
        </p:nvSpPr>
        <p:spPr>
          <a:xfrm>
            <a:off x="9043832" y="4206240"/>
            <a:ext cx="1280160" cy="457200"/>
          </a:xfrm>
        </p:spPr>
        <p:txBody>
          <a:bodyPr rtlCol="0"/>
          <a:lstStyle>
            <a:lvl1pPr>
              <a:defRPr>
                <a:solidFill>
                  <a:schemeClr val="accent2">
                    <a:lumMod val="75000"/>
                  </a:schemeClr>
                </a:solidFill>
              </a:defRPr>
            </a:lvl1pPr>
          </a:lstStyle>
          <a:p>
            <a:fld id="{E8609038-EC1C-40A6-91EB-4A3D73CE9547}" type="datetime1">
              <a:rPr lang="tr-TR" smtClean="0"/>
              <a:pPr/>
              <a:t>4.10.2024</a:t>
            </a:fld>
            <a:endParaRPr lang="tr-TR" dirty="0"/>
          </a:p>
        </p:txBody>
      </p:sp>
      <p:sp>
        <p:nvSpPr>
          <p:cNvPr id="29" name="Slayt Numarası Yer Tutucusu 28"/>
          <p:cNvSpPr>
            <a:spLocks noGrp="1"/>
          </p:cNvSpPr>
          <p:nvPr>
            <p:ph type="sldNum" sz="quarter" idx="12"/>
          </p:nvPr>
        </p:nvSpPr>
        <p:spPr>
          <a:xfrm>
            <a:off x="11093451" y="1136"/>
            <a:ext cx="996949" cy="365760"/>
          </a:xfrm>
        </p:spPr>
        <p:txBody>
          <a:bodyPr rtlCol="0"/>
          <a:lstStyle>
            <a:lvl1pPr algn="r">
              <a:defRPr sz="1800">
                <a:solidFill>
                  <a:schemeClr val="bg1"/>
                </a:solidFill>
              </a:defRPr>
            </a:lvl1pPr>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60115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İçerik Yer Tutucusu 2"/>
          <p:cNvSpPr>
            <a:spLocks noGrp="1"/>
          </p:cNvSpPr>
          <p:nvPr>
            <p:ph idx="1"/>
          </p:nvPr>
        </p:nvSpPr>
        <p:spPr/>
        <p:txBody>
          <a:bodyPr rtlCol="0"/>
          <a:lstStyle>
            <a:lvl1pPr>
              <a:defRPr/>
            </a:lvl1pPr>
            <a:lvl5pPr>
              <a:defRPr/>
            </a:lvl5pPr>
            <a:lvl6pPr>
              <a:defRPr/>
            </a:lvl6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46610F96-FFD0-4BC1-86F0-D957A2A4B8C7}" type="datetime1">
              <a:rPr lang="tr-TR" smtClean="0"/>
              <a:pPr/>
              <a:t>4.10.2024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5943031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p:cNvSpPr>
            <a:spLocks noGrp="1"/>
          </p:cNvSpPr>
          <p:nvPr>
            <p:ph type="title"/>
          </p:nvPr>
        </p:nvSpPr>
        <p:spPr>
          <a:xfrm>
            <a:off x="963084" y="1968322"/>
            <a:ext cx="10363200" cy="1362075"/>
          </a:xfrm>
        </p:spPr>
        <p:txBody>
          <a:bodyPr rtlCol="0" anchor="b">
            <a:noAutofit/>
          </a:bodyPr>
          <a:lstStyle>
            <a:lvl1pPr algn="l">
              <a:buNone/>
              <a:defRPr sz="4300" b="1" cap="none" baseline="0">
                <a:ln w="12700">
                  <a:solidFill>
                    <a:schemeClr val="accent2">
                      <a:shade val="90000"/>
                      <a:satMod val="150000"/>
                    </a:schemeClr>
                  </a:solidFill>
                </a:ln>
                <a:solidFill>
                  <a:schemeClr val="accent2"/>
                </a:solidFill>
                <a:effectLst/>
              </a:defRPr>
            </a:lvl1pPr>
          </a:lstStyle>
          <a:p>
            <a:pPr rtl="0"/>
            <a:r>
              <a:rPr lang="tr-TR" noProof="0" smtClean="0"/>
              <a:t>Asıl başlık stili için tıklatın</a:t>
            </a:r>
            <a:endParaRPr kumimoji="0" lang="tr-TR" noProof="0" dirty="0"/>
          </a:p>
        </p:txBody>
      </p:sp>
      <p:sp>
        <p:nvSpPr>
          <p:cNvPr id="3" name="Metin Yer Tutucusu 2"/>
          <p:cNvSpPr>
            <a:spLocks noGrp="1"/>
          </p:cNvSpPr>
          <p:nvPr>
            <p:ph type="body" idx="1"/>
          </p:nvPr>
        </p:nvSpPr>
        <p:spPr>
          <a:xfrm>
            <a:off x="963084" y="3367088"/>
            <a:ext cx="10363200" cy="1509712"/>
          </a:xfrm>
        </p:spPr>
        <p:txBody>
          <a:bodyPr rtlCol="0" anchor="t"/>
          <a:lstStyle>
            <a:lvl1pPr marL="45720" indent="0">
              <a:buNone/>
              <a:defRPr sz="2100" b="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rtl="0" eaLnBrk="1" latinLnBrk="0" hangingPunct="1"/>
            <a:r>
              <a:rPr lang="tr-TR" noProof="0" smtClean="0"/>
              <a:t>Asıl metin stillerini düzenle</a:t>
            </a:r>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FF56EF26-BBDF-4885-BB66-53FDFCADA69E}" type="datetime1">
              <a:rPr lang="tr-TR" smtClean="0"/>
              <a:pPr/>
              <a:t>4.10.2024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705127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İçerik Yer Tutucusu 2"/>
          <p:cNvSpPr>
            <a:spLocks noGrp="1"/>
          </p:cNvSpPr>
          <p:nvPr>
            <p:ph sz="half" idx="1"/>
          </p:nvPr>
        </p:nvSpPr>
        <p:spPr>
          <a:xfrm>
            <a:off x="609600" y="2249425"/>
            <a:ext cx="5384800" cy="4341875"/>
          </a:xfrm>
        </p:spPr>
        <p:txBody>
          <a:bodyPr rtlCol="0"/>
          <a:lstStyle>
            <a:lvl1pPr>
              <a:defRPr sz="2000"/>
            </a:lvl1pPr>
            <a:lvl2pPr>
              <a:defRPr sz="1900"/>
            </a:lvl2pPr>
            <a:lvl3pPr>
              <a:defRPr sz="1800"/>
            </a:lvl3pPr>
            <a:lvl4pPr>
              <a:defRPr sz="1800"/>
            </a:lvl4pPr>
            <a:lvl5pPr>
              <a:defRPr sz="18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4" name="İçerik Yer Tutucusu 3"/>
          <p:cNvSpPr>
            <a:spLocks noGrp="1"/>
          </p:cNvSpPr>
          <p:nvPr>
            <p:ph sz="half" idx="2"/>
          </p:nvPr>
        </p:nvSpPr>
        <p:spPr>
          <a:xfrm>
            <a:off x="6197600" y="2249425"/>
            <a:ext cx="5384800" cy="4341875"/>
          </a:xfrm>
        </p:spPr>
        <p:txBody>
          <a:bodyPr rtlCol="0"/>
          <a:lstStyle>
            <a:lvl1pPr>
              <a:defRPr sz="2000"/>
            </a:lvl1pPr>
            <a:lvl2pPr>
              <a:defRPr sz="1900"/>
            </a:lvl2pPr>
            <a:lvl3pPr>
              <a:defRPr sz="1800"/>
            </a:lvl3pPr>
            <a:lvl4pPr>
              <a:defRPr sz="1800"/>
            </a:lvl4pPr>
            <a:lvl5pPr>
              <a:defRPr sz="18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A84B813B-74D5-4B4F-94CB-6CD8395E9845}" type="datetime1">
              <a:rPr lang="tr-TR" smtClean="0"/>
              <a:pPr/>
              <a:t>4.10.2024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446445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mod="1">
    <p:ext uri="{DCECCB84-F9BA-43D5-87BE-67443E8EF086}">
      <p15:sldGuideLst xmlns:p15="http://schemas.microsoft.com/office/powerpoint/2012/main">
        <p15:guide id="0" orient="horz" pos="2160" userDrawn="1">
          <p15:clr>
            <a:srgbClr val="FBAE40"/>
          </p15:clr>
        </p15:guide>
        <p15:guide id="1"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p:cNvSpPr>
            <a:spLocks noGrp="1"/>
          </p:cNvSpPr>
          <p:nvPr>
            <p:ph type="title"/>
          </p:nvPr>
        </p:nvSpPr>
        <p:spPr>
          <a:xfrm>
            <a:off x="508000" y="1143000"/>
            <a:ext cx="11176000" cy="1069848"/>
          </a:xfrm>
        </p:spPr>
        <p:txBody>
          <a:bodyPr rtlCol="0" anchor="ctr"/>
          <a:lstStyle>
            <a:lvl1pPr>
              <a:defRPr sz="4000" b="0" i="0" cap="none" baseline="0"/>
            </a:lvl1pPr>
          </a:lstStyle>
          <a:p>
            <a:pPr rtl="0"/>
            <a:r>
              <a:rPr lang="tr-TR" noProof="0" smtClean="0"/>
              <a:t>Asıl başlık stili için tıklatın</a:t>
            </a:r>
            <a:endParaRPr lang="tr-TR" noProof="0" dirty="0"/>
          </a:p>
        </p:txBody>
      </p:sp>
      <p:sp>
        <p:nvSpPr>
          <p:cNvPr id="3" name="Metin Yer Tutucusu 2"/>
          <p:cNvSpPr>
            <a:spLocks noGrp="1"/>
          </p:cNvSpPr>
          <p:nvPr>
            <p:ph type="body" idx="1"/>
          </p:nvPr>
        </p:nvSpPr>
        <p:spPr>
          <a:xfrm>
            <a:off x="508000" y="2244970"/>
            <a:ext cx="5388864" cy="457200"/>
          </a:xfrm>
          <a:solidFill>
            <a:schemeClr val="accent2">
              <a:lumMod val="60000"/>
              <a:lumOff val="40000"/>
              <a:alpha val="25000"/>
            </a:schemeClr>
          </a:solidFill>
          <a:ln w="12700">
            <a:solidFill>
              <a:schemeClr val="accent2"/>
            </a:solidFill>
          </a:ln>
        </p:spPr>
        <p:txBody>
          <a:bodyPr rtlCol="0"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rtl="0" eaLnBrk="1" latinLnBrk="0" hangingPunct="1"/>
            <a:r>
              <a:rPr lang="tr-TR" noProof="0" smtClean="0"/>
              <a:t>Asıl metin stillerini düzenle</a:t>
            </a:r>
          </a:p>
        </p:txBody>
      </p:sp>
      <p:sp>
        <p:nvSpPr>
          <p:cNvPr id="5" name="İçerik Yer Tutucusu 4"/>
          <p:cNvSpPr>
            <a:spLocks noGrp="1"/>
          </p:cNvSpPr>
          <p:nvPr>
            <p:ph sz="quarter" idx="2"/>
          </p:nvPr>
        </p:nvSpPr>
        <p:spPr>
          <a:xfrm>
            <a:off x="508000" y="2708519"/>
            <a:ext cx="5388864" cy="3886200"/>
          </a:xfrm>
        </p:spPr>
        <p:txBody>
          <a:bodyPr rtlCol="0"/>
          <a:lstStyle>
            <a:lvl1pPr>
              <a:defRPr sz="2000"/>
            </a:lvl1pPr>
            <a:lvl2pPr>
              <a:defRPr sz="2000"/>
            </a:lvl2pPr>
            <a:lvl3pPr>
              <a:defRPr sz="1800"/>
            </a:lvl3pPr>
            <a:lvl4pPr>
              <a:defRPr sz="1600"/>
            </a:lvl4pPr>
            <a:lvl5pPr>
              <a:defRPr sz="16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4" name="Metin Yer Tutucusu 3"/>
          <p:cNvSpPr>
            <a:spLocks noGrp="1"/>
          </p:cNvSpPr>
          <p:nvPr>
            <p:ph type="body" sz="half" idx="3"/>
          </p:nvPr>
        </p:nvSpPr>
        <p:spPr>
          <a:xfrm>
            <a:off x="6294968" y="2244970"/>
            <a:ext cx="5389033" cy="457200"/>
          </a:xfrm>
          <a:solidFill>
            <a:schemeClr val="accent2">
              <a:lumMod val="60000"/>
              <a:lumOff val="40000"/>
              <a:alpha val="25000"/>
            </a:schemeClr>
          </a:solidFill>
          <a:ln w="12700">
            <a:solidFill>
              <a:schemeClr val="accent2"/>
            </a:solidFill>
          </a:ln>
        </p:spPr>
        <p:txBody>
          <a:bodyPr rtlCol="0"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rtl="0" eaLnBrk="1" latinLnBrk="0" hangingPunct="1"/>
            <a:r>
              <a:rPr lang="tr-TR" noProof="0" smtClean="0"/>
              <a:t>Asıl metin stillerini düzenle</a:t>
            </a:r>
          </a:p>
        </p:txBody>
      </p:sp>
      <p:sp>
        <p:nvSpPr>
          <p:cNvPr id="6" name="İçerik Yer Tutucusu 5"/>
          <p:cNvSpPr>
            <a:spLocks noGrp="1"/>
          </p:cNvSpPr>
          <p:nvPr>
            <p:ph sz="quarter" idx="4"/>
          </p:nvPr>
        </p:nvSpPr>
        <p:spPr>
          <a:xfrm>
            <a:off x="6291073" y="2708519"/>
            <a:ext cx="5389033" cy="3886200"/>
          </a:xfrm>
        </p:spPr>
        <p:txBody>
          <a:bodyPr rtlCol="0"/>
          <a:lstStyle>
            <a:lvl1pPr>
              <a:defRPr sz="2000"/>
            </a:lvl1pPr>
            <a:lvl2pPr>
              <a:defRPr sz="2000"/>
            </a:lvl2pPr>
            <a:lvl3pPr>
              <a:defRPr sz="1800"/>
            </a:lvl3pPr>
            <a:lvl4pPr>
              <a:defRPr sz="1600"/>
            </a:lvl4pPr>
            <a:lvl5pPr>
              <a:defRPr sz="16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28" name="Alt Bilgi Yer Tutucusu 27"/>
          <p:cNvSpPr>
            <a:spLocks noGrp="1"/>
          </p:cNvSpPr>
          <p:nvPr>
            <p:ph type="ftr" sz="quarter" idx="12"/>
          </p:nvPr>
        </p:nvSpPr>
        <p:spPr/>
        <p:txBody>
          <a:bodyPr rtlCol="0"/>
          <a:lstStyle/>
          <a:p>
            <a:pPr rtl="0"/>
            <a:r>
              <a:rPr lang="tr-TR" noProof="0" dirty="0"/>
              <a:t>Alt bilgi ekleme</a:t>
            </a:r>
          </a:p>
        </p:txBody>
      </p:sp>
      <p:sp>
        <p:nvSpPr>
          <p:cNvPr id="26" name="Tarih Yer Tutucusu 25"/>
          <p:cNvSpPr>
            <a:spLocks noGrp="1"/>
          </p:cNvSpPr>
          <p:nvPr>
            <p:ph type="dt" sz="half" idx="10"/>
          </p:nvPr>
        </p:nvSpPr>
        <p:spPr/>
        <p:txBody>
          <a:bodyPr rtlCol="0"/>
          <a:lstStyle>
            <a:lvl1pPr>
              <a:defRPr/>
            </a:lvl1pPr>
          </a:lstStyle>
          <a:p>
            <a:fld id="{B72EC71D-25AD-4A7C-AB6C-E63D5EDA9366}" type="datetime1">
              <a:rPr lang="tr-TR" smtClean="0"/>
              <a:pPr/>
              <a:t>4.10.2024</a:t>
            </a:fld>
            <a:endParaRPr lang="tr-TR" dirty="0"/>
          </a:p>
        </p:txBody>
      </p:sp>
      <p:sp>
        <p:nvSpPr>
          <p:cNvPr id="27" name="Slayt Numarası Yer Tutucusu 26"/>
          <p:cNvSpPr>
            <a:spLocks noGrp="1"/>
          </p:cNvSpPr>
          <p:nvPr>
            <p:ph type="sldNum" sz="quarter" idx="11"/>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70716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p:cNvSpPr>
            <a:spLocks noGrp="1"/>
          </p:cNvSpPr>
          <p:nvPr>
            <p:ph type="title"/>
          </p:nvPr>
        </p:nvSpPr>
        <p:spPr>
          <a:xfrm>
            <a:off x="609600" y="1143000"/>
            <a:ext cx="10972800" cy="1069848"/>
          </a:xfrm>
        </p:spPr>
        <p:txBody>
          <a:bodyPr rtlCol="0" anchor="ctr"/>
          <a:lstStyle>
            <a:lvl1pPr>
              <a:defRPr sz="4000">
                <a:solidFill>
                  <a:schemeClr val="tx2"/>
                </a:solidFill>
              </a:defRPr>
            </a:lvl1pPr>
          </a:lstStyle>
          <a:p>
            <a:pPr rtl="0"/>
            <a:r>
              <a:rPr lang="tr-TR" noProof="0" smtClean="0"/>
              <a:t>Asıl başlık stili için tıklatın</a:t>
            </a:r>
            <a:endParaRPr lang="tr-TR" noProof="0" dirty="0"/>
          </a:p>
        </p:txBody>
      </p:sp>
      <p:sp>
        <p:nvSpPr>
          <p:cNvPr id="4" name="Alt Bilgi Yer Tutucusu 3"/>
          <p:cNvSpPr>
            <a:spLocks noGrp="1"/>
          </p:cNvSpPr>
          <p:nvPr>
            <p:ph type="ftr" sz="quarter" idx="11"/>
          </p:nvPr>
        </p:nvSpPr>
        <p:spPr>
          <a:xfrm>
            <a:off x="7010400" y="612648"/>
            <a:ext cx="1767840" cy="457200"/>
          </a:xfrm>
        </p:spPr>
        <p:txBody>
          <a:bodyPr rtlCol="0"/>
          <a:lstStyle/>
          <a:p>
            <a:pPr rtl="0"/>
            <a:r>
              <a:rPr lang="tr-TR" noProof="0" dirty="0"/>
              <a:t>Alt bilgi ekleme</a:t>
            </a:r>
          </a:p>
        </p:txBody>
      </p:sp>
      <p:sp>
        <p:nvSpPr>
          <p:cNvPr id="3" name="Tarih Yer Tutucusu 2"/>
          <p:cNvSpPr>
            <a:spLocks noGrp="1"/>
          </p:cNvSpPr>
          <p:nvPr>
            <p:ph type="dt" sz="half" idx="10"/>
          </p:nvPr>
        </p:nvSpPr>
        <p:spPr>
          <a:xfrm>
            <a:off x="8778240" y="612648"/>
            <a:ext cx="1276352" cy="457200"/>
          </a:xfrm>
        </p:spPr>
        <p:txBody>
          <a:bodyPr rtlCol="0"/>
          <a:lstStyle>
            <a:lvl1pPr>
              <a:defRPr/>
            </a:lvl1pPr>
          </a:lstStyle>
          <a:p>
            <a:fld id="{851036E3-487C-41B5-92E9-47E0F0B9591B}" type="datetime1">
              <a:rPr lang="tr-TR" smtClean="0"/>
              <a:pPr/>
              <a:t>4.10.2024</a:t>
            </a:fld>
            <a:endParaRPr lang="tr-TR" dirty="0"/>
          </a:p>
        </p:txBody>
      </p:sp>
      <p:sp>
        <p:nvSpPr>
          <p:cNvPr id="5" name="Slayt Numarası Yer Tutucusu 4"/>
          <p:cNvSpPr>
            <a:spLocks noGrp="1"/>
          </p:cNvSpPr>
          <p:nvPr>
            <p:ph type="sldNum" sz="quarter" idx="12"/>
          </p:nvPr>
        </p:nvSpPr>
        <p:spPr>
          <a:xfrm>
            <a:off x="10899648" y="2272"/>
            <a:ext cx="1016000" cy="365760"/>
          </a:xfrm>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821952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3" name="Alt Bilgi Yer Tutucusu 2"/>
          <p:cNvSpPr>
            <a:spLocks noGrp="1"/>
          </p:cNvSpPr>
          <p:nvPr>
            <p:ph type="ftr" sz="quarter" idx="11"/>
          </p:nvPr>
        </p:nvSpPr>
        <p:spPr/>
        <p:txBody>
          <a:bodyPr rtlCol="0"/>
          <a:lstStyle/>
          <a:p>
            <a:pPr rtl="0"/>
            <a:r>
              <a:rPr lang="tr-TR" noProof="0" dirty="0"/>
              <a:t>Alt bilgi ekleme</a:t>
            </a:r>
          </a:p>
        </p:txBody>
      </p:sp>
      <p:sp>
        <p:nvSpPr>
          <p:cNvPr id="2" name="Tarih Yer Tutucusu 1"/>
          <p:cNvSpPr>
            <a:spLocks noGrp="1"/>
          </p:cNvSpPr>
          <p:nvPr>
            <p:ph type="dt" sz="half" idx="10"/>
          </p:nvPr>
        </p:nvSpPr>
        <p:spPr/>
        <p:txBody>
          <a:bodyPr rtlCol="0"/>
          <a:lstStyle>
            <a:lvl1pPr>
              <a:defRPr/>
            </a:lvl1pPr>
          </a:lstStyle>
          <a:p>
            <a:fld id="{E7730CD3-31CA-47BB-8FC4-9AA93086A77D}" type="datetime1">
              <a:rPr lang="tr-TR" smtClean="0"/>
              <a:pPr/>
              <a:t>4.10.2024</a:t>
            </a:fld>
            <a:endParaRPr lang="tr-TR" dirty="0"/>
          </a:p>
        </p:txBody>
      </p:sp>
      <p:sp>
        <p:nvSpPr>
          <p:cNvPr id="4" name="Slayt Numarası Yer Tutucusu 3"/>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1135695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Resim Yazılı İçerik">
    <p:spTree>
      <p:nvGrpSpPr>
        <p:cNvPr id="1" name=""/>
        <p:cNvGrpSpPr/>
        <p:nvPr/>
      </p:nvGrpSpPr>
      <p:grpSpPr>
        <a:xfrm>
          <a:off x="0" y="0"/>
          <a:ext cx="0" cy="0"/>
          <a:chOff x="0" y="0"/>
          <a:chExt cx="0" cy="0"/>
        </a:xfrm>
      </p:grpSpPr>
      <p:sp>
        <p:nvSpPr>
          <p:cNvPr id="2" name="Başlık 1"/>
          <p:cNvSpPr>
            <a:spLocks noGrp="1"/>
          </p:cNvSpPr>
          <p:nvPr>
            <p:ph type="title" hasCustomPrompt="1"/>
          </p:nvPr>
        </p:nvSpPr>
        <p:spPr>
          <a:xfrm>
            <a:off x="7137995" y="1101970"/>
            <a:ext cx="4511040" cy="877824"/>
          </a:xfrm>
        </p:spPr>
        <p:txBody>
          <a:bodyPr rtlCol="0" anchor="b"/>
          <a:lstStyle>
            <a:lvl1pPr algn="l">
              <a:buNone/>
              <a:defRPr sz="1800" b="1"/>
            </a:lvl1pPr>
          </a:lstStyle>
          <a:p>
            <a:pPr rtl="0"/>
            <a:r>
              <a:rPr lang="tr-TR" noProof="0" dirty="0"/>
              <a:t>Asıl başlık stilini düzenle</a:t>
            </a:r>
          </a:p>
        </p:txBody>
      </p:sp>
      <p:sp>
        <p:nvSpPr>
          <p:cNvPr id="4" name="İçerik Yer Tutucusu 3"/>
          <p:cNvSpPr>
            <a:spLocks noGrp="1"/>
          </p:cNvSpPr>
          <p:nvPr>
            <p:ph sz="half" idx="1"/>
          </p:nvPr>
        </p:nvSpPr>
        <p:spPr>
          <a:xfrm>
            <a:off x="203200" y="776287"/>
            <a:ext cx="6803136" cy="5805083"/>
          </a:xfrm>
        </p:spPr>
        <p:txBody>
          <a:bodyPr rtlCol="0"/>
          <a:lstStyle>
            <a:lvl1pPr>
              <a:defRPr sz="3200"/>
            </a:lvl1pPr>
            <a:lvl2pPr>
              <a:defRPr sz="2800"/>
            </a:lvl2pPr>
            <a:lvl3pPr>
              <a:defRPr sz="2400"/>
            </a:lvl3pPr>
            <a:lvl4pPr>
              <a:defRPr sz="2000"/>
            </a:lvl4pPr>
            <a:lvl5pPr>
              <a:defRPr sz="20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3" name="Metin Yer Tutucusu 2"/>
          <p:cNvSpPr>
            <a:spLocks noGrp="1"/>
          </p:cNvSpPr>
          <p:nvPr>
            <p:ph type="body" idx="2"/>
          </p:nvPr>
        </p:nvSpPr>
        <p:spPr>
          <a:xfrm>
            <a:off x="7137995" y="2010727"/>
            <a:ext cx="4511040" cy="4580573"/>
          </a:xfrm>
        </p:spPr>
        <p:txBody>
          <a:bodyPr rtlCol="0"/>
          <a:lstStyle>
            <a:lvl1pPr marL="9144" indent="0">
              <a:buNone/>
              <a:defRPr sz="1400"/>
            </a:lvl1pPr>
            <a:lvl2pPr>
              <a:buNone/>
              <a:defRPr sz="1200"/>
            </a:lvl2pPr>
            <a:lvl3pPr>
              <a:buNone/>
              <a:defRPr sz="1000"/>
            </a:lvl3pPr>
            <a:lvl4pPr>
              <a:buNone/>
              <a:defRPr sz="900"/>
            </a:lvl4pPr>
            <a:lvl5pPr>
              <a:buNone/>
              <a:defRPr sz="900"/>
            </a:lvl5pPr>
          </a:lstStyle>
          <a:p>
            <a:pPr lvl="0" rtl="0" eaLnBrk="1" latinLnBrk="0" hangingPunct="1"/>
            <a:r>
              <a:rPr lang="tr-TR" noProof="0" smtClean="0"/>
              <a:t>Asıl metin stillerini düzenle</a:t>
            </a:r>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90C5B609-EC73-4CF8-A564-D90D0E54FA36}" type="datetime1">
              <a:rPr lang="tr-TR" smtClean="0"/>
              <a:pPr/>
              <a:t>4.10.2024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498685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Resim Yazılı Resim">
    <p:spTree>
      <p:nvGrpSpPr>
        <p:cNvPr id="1" name=""/>
        <p:cNvGrpSpPr/>
        <p:nvPr/>
      </p:nvGrpSpPr>
      <p:grpSpPr>
        <a:xfrm>
          <a:off x="0" y="0"/>
          <a:ext cx="0" cy="0"/>
          <a:chOff x="0" y="0"/>
          <a:chExt cx="0" cy="0"/>
        </a:xfrm>
      </p:grpSpPr>
      <p:sp>
        <p:nvSpPr>
          <p:cNvPr id="2" name="Başlık 1"/>
          <p:cNvSpPr>
            <a:spLocks noGrp="1"/>
          </p:cNvSpPr>
          <p:nvPr>
            <p:ph type="title"/>
          </p:nvPr>
        </p:nvSpPr>
        <p:spPr>
          <a:xfrm>
            <a:off x="7253913" y="1109161"/>
            <a:ext cx="782404" cy="4681637"/>
          </a:xfrm>
        </p:spPr>
        <p:txBody>
          <a:bodyPr vert="vert270" lIns="45720" tIns="0" rIns="45720" rtlCol="0" anchor="t"/>
          <a:lstStyle>
            <a:lvl1pPr algn="ctr">
              <a:buNone/>
              <a:defRPr sz="2000" b="1"/>
            </a:lvl1pPr>
          </a:lstStyle>
          <a:p>
            <a:pPr rtl="0"/>
            <a:r>
              <a:rPr lang="tr-TR" noProof="0" smtClean="0"/>
              <a:t>Asıl başlık stili için tıklatın</a:t>
            </a:r>
            <a:endParaRPr lang="tr-TR" noProof="0" dirty="0"/>
          </a:p>
        </p:txBody>
      </p:sp>
      <p:sp>
        <p:nvSpPr>
          <p:cNvPr id="3" name="Resim Yer Tutucusu 2" descr="Resim eklemek için boş yer tutucu. Yer tutucuya tıklayın ve eklemek istediğiniz resmi seçin"/>
          <p:cNvSpPr>
            <a:spLocks noGrp="1"/>
          </p:cNvSpPr>
          <p:nvPr>
            <p:ph type="pic" idx="1"/>
          </p:nvPr>
        </p:nvSpPr>
        <p:spPr>
          <a:xfrm>
            <a:off x="538228" y="1143000"/>
            <a:ext cx="6096000" cy="4572000"/>
          </a:xfrm>
          <a:solidFill>
            <a:srgbClr val="EAEAEA"/>
          </a:solidFill>
          <a:ln w="50800">
            <a:solidFill>
              <a:srgbClr val="FFFFFF"/>
            </a:solidFill>
            <a:miter lim="800000"/>
          </a:ln>
          <a:effectLst>
            <a:outerShdw blurRad="57150" dist="31750" dir="4800000" algn="tl" rotWithShape="0">
              <a:srgbClr val="000000">
                <a:alpha val="25000"/>
              </a:srgbClr>
            </a:outerShdw>
          </a:effectLst>
          <a:scene3d>
            <a:camera prst="orthographicFront"/>
            <a:lightRig rig="twoPt" dir="t">
              <a:rot lat="0" lon="0" rev="7200000"/>
            </a:lightRig>
          </a:scene3d>
          <a:sp3d contourW="2540">
            <a:bevelT w="25400" h="19050"/>
            <a:contourClr>
              <a:srgbClr val="AEAEAE"/>
            </a:contourClr>
          </a:sp3d>
        </p:spPr>
        <p:txBody>
          <a:bodyPr rtlCol="0"/>
          <a:lstStyle>
            <a:lvl1pPr marL="0" indent="0">
              <a:buNone/>
              <a:defRPr sz="3200"/>
            </a:lvl1pPr>
          </a:lstStyle>
          <a:p>
            <a:pPr rtl="0"/>
            <a:r>
              <a:rPr lang="tr-TR" noProof="0" smtClean="0"/>
              <a:t>Resim eklemek için simgeyi tıklatın</a:t>
            </a:r>
            <a:endParaRPr kumimoji="0" lang="tr-TR" noProof="0" dirty="0"/>
          </a:p>
        </p:txBody>
      </p:sp>
      <p:sp>
        <p:nvSpPr>
          <p:cNvPr id="4" name="Metin Yer Tutucusu 3"/>
          <p:cNvSpPr>
            <a:spLocks noGrp="1"/>
          </p:cNvSpPr>
          <p:nvPr>
            <p:ph type="body" sz="half" idx="2"/>
          </p:nvPr>
        </p:nvSpPr>
        <p:spPr>
          <a:xfrm>
            <a:off x="8117924" y="3274309"/>
            <a:ext cx="3454400" cy="2516489"/>
          </a:xfrm>
        </p:spPr>
        <p:txBody>
          <a:bodyPr lIns="0" tIns="0" rIns="45720" rtlCol="0" anchor="t"/>
          <a:lstStyle>
            <a:lvl1pPr marL="0" indent="0">
              <a:lnSpc>
                <a:spcPct val="100000"/>
              </a:lnSpc>
              <a:spcBef>
                <a:spcPts val="0"/>
              </a:spcBef>
              <a:buFontTx/>
              <a:buNone/>
              <a:defRPr sz="1300"/>
            </a:lvl1pPr>
            <a:lvl2pPr>
              <a:buFontTx/>
              <a:buNone/>
              <a:defRPr sz="1200"/>
            </a:lvl2pPr>
            <a:lvl3pPr>
              <a:buFontTx/>
              <a:buNone/>
              <a:defRPr sz="1000"/>
            </a:lvl3pPr>
            <a:lvl4pPr>
              <a:buFontTx/>
              <a:buNone/>
              <a:defRPr sz="900"/>
            </a:lvl4pPr>
            <a:lvl5pPr>
              <a:buFontTx/>
              <a:buNone/>
              <a:defRPr sz="900"/>
            </a:lvl5pPr>
          </a:lstStyle>
          <a:p>
            <a:pPr lvl="0" rtl="0" eaLnBrk="1" latinLnBrk="0" hangingPunct="1"/>
            <a:r>
              <a:rPr lang="tr-TR" noProof="0" smtClean="0"/>
              <a:t>Asıl metin stillerini düzenle</a:t>
            </a:r>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D85D7756-B745-4648-9348-5BA7D8FC560E}" type="datetime1">
              <a:rPr lang="tr-TR" smtClean="0"/>
              <a:pPr/>
              <a:t>4.10.2024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18836198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Dikey Metin Yer Tutucusu 2"/>
          <p:cNvSpPr>
            <a:spLocks noGrp="1"/>
          </p:cNvSpPr>
          <p:nvPr>
            <p:ph type="body" orient="vert" idx="1"/>
          </p:nvPr>
        </p:nvSpPr>
        <p:spPr/>
        <p:txBody>
          <a:bodyPr vert="eaVert" rtlCol="0"/>
          <a:lstStyle>
            <a:lvl1pPr>
              <a:defRPr/>
            </a:lvl1pPr>
            <a:lvl5pPr>
              <a:defRPr/>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443DEEBB-C631-4BE4-9EB9-151005B5892D}" type="datetime1">
              <a:rPr lang="tr-TR" smtClean="0"/>
              <a:pPr/>
              <a:t>4.10.2024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467844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hasCustomPrompt="1"/>
          </p:nvPr>
        </p:nvSpPr>
        <p:spPr>
          <a:xfrm>
            <a:off x="9042400" y="1143000"/>
            <a:ext cx="2540000" cy="5448300"/>
          </a:xfrm>
        </p:spPr>
        <p:txBody>
          <a:bodyPr vert="eaVert" rtlCol="0"/>
          <a:lstStyle>
            <a:lvl1pPr>
              <a:defRPr/>
            </a:lvl1pPr>
          </a:lstStyle>
          <a:p>
            <a:pPr rtl="0"/>
            <a:r>
              <a:rPr lang="tr-TR" noProof="0" dirty="0"/>
              <a:t>Asıl başlık stilini düzenle</a:t>
            </a:r>
          </a:p>
        </p:txBody>
      </p:sp>
      <p:sp>
        <p:nvSpPr>
          <p:cNvPr id="3" name="Dikey Metin Yer Tutucusu 2"/>
          <p:cNvSpPr>
            <a:spLocks noGrp="1"/>
          </p:cNvSpPr>
          <p:nvPr>
            <p:ph type="body" orient="vert" idx="1" hasCustomPrompt="1"/>
          </p:nvPr>
        </p:nvSpPr>
        <p:spPr>
          <a:xfrm>
            <a:off x="609600" y="1143000"/>
            <a:ext cx="8331200" cy="5448300"/>
          </a:xfrm>
        </p:spPr>
        <p:txBody>
          <a:bodyPr vert="eaVert" rtlCol="0"/>
          <a:lstStyle>
            <a:lvl5pPr>
              <a:defRPr/>
            </a:lvl5pPr>
          </a:lstStyle>
          <a:p>
            <a:pPr lvl="0" rtl="0" eaLnBrk="1" latinLnBrk="0" hangingPunct="1"/>
            <a:r>
              <a:rPr lang="tr-TR" noProof="0" dirty="0"/>
              <a:t>Asıl metin stillerini düzenlemek için tıklayın</a:t>
            </a:r>
          </a:p>
          <a:p>
            <a:pPr lvl="1" rtl="0" eaLnBrk="1" latinLnBrk="0" hangingPunct="1"/>
            <a:r>
              <a:rPr lang="tr-TR" noProof="0" dirty="0"/>
              <a:t>İkinci düzey</a:t>
            </a:r>
          </a:p>
          <a:p>
            <a:pPr lvl="2" rtl="0" eaLnBrk="1" latinLnBrk="0" hangingPunct="1"/>
            <a:r>
              <a:rPr lang="tr-TR" noProof="0" dirty="0"/>
              <a:t>Üçüncü düzey</a:t>
            </a:r>
          </a:p>
          <a:p>
            <a:pPr lvl="3" rtl="0" eaLnBrk="1" latinLnBrk="0" hangingPunct="1"/>
            <a:r>
              <a:rPr lang="tr-TR" noProof="0" dirty="0"/>
              <a:t>Dördüncü düzey</a:t>
            </a:r>
          </a:p>
          <a:p>
            <a:pPr lvl="4" rtl="0" eaLnBrk="1" latinLnBrk="0" hangingPunct="1"/>
            <a:r>
              <a:rPr lang="tr-TR" noProof="0" dirty="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C76B82DB-6D5C-486A-98D3-E008B7673553}" type="datetime1">
              <a:rPr lang="tr-TR" smtClean="0"/>
              <a:pPr/>
              <a:t>4.10.2024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97808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Dikdörtgen 27"/>
          <p:cNvSpPr/>
          <p:nvPr/>
        </p:nvSpPr>
        <p:spPr>
          <a:xfrm>
            <a:off x="1" y="366819"/>
            <a:ext cx="12192000" cy="84407"/>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9" name="Dikdörtgen 28"/>
          <p:cNvSpPr/>
          <p:nvPr/>
        </p:nvSpPr>
        <p:spPr>
          <a:xfrm>
            <a:off x="0" y="-1"/>
            <a:ext cx="12192000" cy="310663"/>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0" name="Dikdörtgen 29"/>
          <p:cNvSpPr/>
          <p:nvPr/>
        </p:nvSpPr>
        <p:spPr>
          <a:xfrm>
            <a:off x="1" y="308277"/>
            <a:ext cx="12192001" cy="91441"/>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1" name="Dikdörtgen 30"/>
          <p:cNvSpPr/>
          <p:nvPr/>
        </p:nvSpPr>
        <p:spPr>
          <a:xfrm flipV="1">
            <a:off x="7213577" y="360247"/>
            <a:ext cx="4978425"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2" name="Dikdörtgen 31"/>
          <p:cNvSpPr/>
          <p:nvPr/>
        </p:nvSpPr>
        <p:spPr>
          <a:xfrm flipV="1">
            <a:off x="7213601" y="440113"/>
            <a:ext cx="4978401" cy="180035"/>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3" name="Yuvarlatılmış Dikdörtgen 32"/>
          <p:cNvSpPr/>
          <p:nvPr/>
        </p:nvSpPr>
        <p:spPr bwMode="white">
          <a:xfrm>
            <a:off x="7209785" y="497504"/>
            <a:ext cx="408432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4" name="Yuvarlatılmış Dikdörtgen 33"/>
          <p:cNvSpPr/>
          <p:nvPr/>
        </p:nvSpPr>
        <p:spPr bwMode="white">
          <a:xfrm>
            <a:off x="9831528" y="588943"/>
            <a:ext cx="21336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5" name="Dikdörtgen 34"/>
          <p:cNvSpPr/>
          <p:nvPr/>
        </p:nvSpPr>
        <p:spPr bwMode="invGray">
          <a:xfrm>
            <a:off x="12113288" y="-2001"/>
            <a:ext cx="76835"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6" name="Dikdörtgen 35"/>
          <p:cNvSpPr/>
          <p:nvPr/>
        </p:nvSpPr>
        <p:spPr bwMode="invGray">
          <a:xfrm>
            <a:off x="12059308" y="-2001"/>
            <a:ext cx="36576"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7" name="Dikdörtgen 36"/>
          <p:cNvSpPr/>
          <p:nvPr/>
        </p:nvSpPr>
        <p:spPr bwMode="invGray">
          <a:xfrm>
            <a:off x="12033904" y="-2001"/>
            <a:ext cx="12192" cy="621792"/>
          </a:xfrm>
          <a:prstGeom prst="rect">
            <a:avLst/>
          </a:prstGeom>
          <a:solidFill>
            <a:srgbClr val="FFFFFF">
              <a:alpha val="6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8" name="Dikdörtgen 37"/>
          <p:cNvSpPr/>
          <p:nvPr/>
        </p:nvSpPr>
        <p:spPr bwMode="invGray">
          <a:xfrm>
            <a:off x="11967231" y="-2001"/>
            <a:ext cx="36576" cy="621792"/>
          </a:xfrm>
          <a:prstGeom prst="rect">
            <a:avLst/>
          </a:prstGeom>
          <a:solidFill>
            <a:srgbClr val="FFFFFF">
              <a:alpha val="4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9" name="Dikdörtgen 38"/>
          <p:cNvSpPr/>
          <p:nvPr/>
        </p:nvSpPr>
        <p:spPr bwMode="invGray">
          <a:xfrm>
            <a:off x="11887569" y="380"/>
            <a:ext cx="73152" cy="585216"/>
          </a:xfrm>
          <a:prstGeom prst="rect">
            <a:avLst/>
          </a:prstGeom>
          <a:solidFill>
            <a:srgbClr val="FFFFFF">
              <a:alpha val="2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40" name="Dikdörtgen 39"/>
          <p:cNvSpPr/>
          <p:nvPr/>
        </p:nvSpPr>
        <p:spPr bwMode="invGray">
          <a:xfrm>
            <a:off x="11831300" y="380"/>
            <a:ext cx="12192" cy="585216"/>
          </a:xfrm>
          <a:prstGeom prst="rect">
            <a:avLst/>
          </a:prstGeom>
          <a:solidFill>
            <a:srgbClr val="FFFFFF">
              <a:alpha val="30196"/>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2" name="Başlık Yer Tutucusu 21"/>
          <p:cNvSpPr>
            <a:spLocks noGrp="1"/>
          </p:cNvSpPr>
          <p:nvPr>
            <p:ph type="title"/>
          </p:nvPr>
        </p:nvSpPr>
        <p:spPr>
          <a:xfrm>
            <a:off x="609600" y="1143000"/>
            <a:ext cx="10972800" cy="1066800"/>
          </a:xfrm>
          <a:prstGeom prst="rect">
            <a:avLst/>
          </a:prstGeom>
        </p:spPr>
        <p:txBody>
          <a:bodyPr vert="horz" rtlCol="0" anchor="ctr">
            <a:normAutofit/>
          </a:bodyPr>
          <a:lstStyle/>
          <a:p>
            <a:pPr rtl="0"/>
            <a:r>
              <a:rPr lang="tr-TR" noProof="0" dirty="0"/>
              <a:t>Asıl başlık stilini düzenlemek için tıklayın</a:t>
            </a:r>
          </a:p>
        </p:txBody>
      </p:sp>
      <p:sp>
        <p:nvSpPr>
          <p:cNvPr id="13" name="Metin Yer Tutucusu 12"/>
          <p:cNvSpPr>
            <a:spLocks noGrp="1"/>
          </p:cNvSpPr>
          <p:nvPr>
            <p:ph type="body" idx="1"/>
          </p:nvPr>
        </p:nvSpPr>
        <p:spPr>
          <a:xfrm>
            <a:off x="609600" y="2249424"/>
            <a:ext cx="10972800" cy="4325112"/>
          </a:xfrm>
          <a:prstGeom prst="rect">
            <a:avLst/>
          </a:prstGeom>
        </p:spPr>
        <p:txBody>
          <a:bodyPr vert="horz" rtlCol="0">
            <a:normAutofit/>
          </a:bodyPr>
          <a:lstStyle/>
          <a:p>
            <a:pPr lvl="0" rtl="0"/>
            <a:r>
              <a:rPr lang="tr-TR" noProof="0" dirty="0"/>
              <a:t>Asıl metin stillerini düzenle</a:t>
            </a:r>
          </a:p>
          <a:p>
            <a:pPr lvl="1" rtl="0"/>
            <a:r>
              <a:rPr lang="tr-TR" noProof="0" dirty="0"/>
              <a:t>İkinci düzey</a:t>
            </a:r>
          </a:p>
          <a:p>
            <a:pPr lvl="2" rtl="0"/>
            <a:r>
              <a:rPr lang="tr-TR" noProof="0" dirty="0"/>
              <a:t>Üçüncü düzey</a:t>
            </a:r>
          </a:p>
          <a:p>
            <a:pPr lvl="3" rtl="0"/>
            <a:r>
              <a:rPr lang="tr-TR" noProof="0" dirty="0"/>
              <a:t>Dördüncü düzey</a:t>
            </a:r>
          </a:p>
          <a:p>
            <a:pPr lvl="4" rtl="0"/>
            <a:r>
              <a:rPr lang="tr-TR" noProof="0" dirty="0"/>
              <a:t>Beşinci düzey</a:t>
            </a:r>
          </a:p>
        </p:txBody>
      </p:sp>
      <p:sp>
        <p:nvSpPr>
          <p:cNvPr id="3" name="Alt Bilgi Yer Tutucusu 2"/>
          <p:cNvSpPr>
            <a:spLocks noGrp="1"/>
          </p:cNvSpPr>
          <p:nvPr>
            <p:ph type="ftr" sz="quarter" idx="3"/>
          </p:nvPr>
        </p:nvSpPr>
        <p:spPr>
          <a:xfrm>
            <a:off x="7010400" y="612648"/>
            <a:ext cx="1767840" cy="457200"/>
          </a:xfrm>
          <a:prstGeom prst="rect">
            <a:avLst/>
          </a:prstGeom>
        </p:spPr>
        <p:txBody>
          <a:bodyPr vert="horz" rtlCol="0"/>
          <a:lstStyle>
            <a:lvl1pPr algn="r" eaLnBrk="1" latinLnBrk="0" hangingPunct="1">
              <a:defRPr kumimoji="0" sz="1100">
                <a:solidFill>
                  <a:schemeClr val="accent2">
                    <a:lumMod val="75000"/>
                  </a:schemeClr>
                </a:solidFill>
              </a:defRPr>
            </a:lvl1pPr>
          </a:lstStyle>
          <a:p>
            <a:pPr rtl="0"/>
            <a:r>
              <a:rPr lang="tr-TR" noProof="0" dirty="0"/>
              <a:t>Alt bilgi ekleme</a:t>
            </a:r>
          </a:p>
        </p:txBody>
      </p:sp>
      <p:sp>
        <p:nvSpPr>
          <p:cNvPr id="14" name="Tarih Yer Tutucusu 13"/>
          <p:cNvSpPr>
            <a:spLocks noGrp="1"/>
          </p:cNvSpPr>
          <p:nvPr>
            <p:ph type="dt" sz="half" idx="2"/>
          </p:nvPr>
        </p:nvSpPr>
        <p:spPr>
          <a:xfrm>
            <a:off x="8782048" y="612648"/>
            <a:ext cx="1276352" cy="457200"/>
          </a:xfrm>
          <a:prstGeom prst="rect">
            <a:avLst/>
          </a:prstGeom>
        </p:spPr>
        <p:txBody>
          <a:bodyPr vert="horz" rtlCol="0"/>
          <a:lstStyle>
            <a:lvl1pPr algn="l" eaLnBrk="1" latinLnBrk="0" hangingPunct="1">
              <a:defRPr kumimoji="0" sz="1100">
                <a:solidFill>
                  <a:schemeClr val="accent2">
                    <a:lumMod val="75000"/>
                  </a:schemeClr>
                </a:solidFill>
              </a:defRPr>
            </a:lvl1pPr>
          </a:lstStyle>
          <a:p>
            <a:fld id="{8A9E5AA4-4083-47B0-96D9-3464BE7D917D}" type="datetime1">
              <a:rPr lang="tr-TR" smtClean="0"/>
              <a:pPr/>
              <a:t>4.10.2024</a:t>
            </a:fld>
            <a:endParaRPr lang="tr-TR" dirty="0"/>
          </a:p>
        </p:txBody>
      </p:sp>
      <p:sp>
        <p:nvSpPr>
          <p:cNvPr id="23" name="Slayt Numarası Yer Tutucusu 22"/>
          <p:cNvSpPr>
            <a:spLocks noGrp="1"/>
          </p:cNvSpPr>
          <p:nvPr>
            <p:ph type="sldNum" sz="quarter" idx="4"/>
          </p:nvPr>
        </p:nvSpPr>
        <p:spPr>
          <a:xfrm>
            <a:off x="10899648" y="2272"/>
            <a:ext cx="1016000" cy="365760"/>
          </a:xfrm>
          <a:prstGeom prst="rect">
            <a:avLst/>
          </a:prstGeom>
        </p:spPr>
        <p:txBody>
          <a:bodyPr vert="horz" rtlCol="0" anchor="b"/>
          <a:lstStyle>
            <a:lvl1pPr algn="r" eaLnBrk="1" latinLnBrk="0" hangingPunct="1">
              <a:defRPr kumimoji="0" sz="1800">
                <a:solidFill>
                  <a:srgbClr val="FFFFFF"/>
                </a:solidFill>
              </a:defRPr>
            </a:lvl1pPr>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13217172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365760" indent="-256032" algn="l" rtl="0" eaLnBrk="1" latinLnBrk="0" hangingPunct="1">
        <a:spcBef>
          <a:spcPts val="300"/>
        </a:spcBef>
        <a:buClr>
          <a:schemeClr val="accent3">
            <a:lumMod val="75000"/>
          </a:schemeClr>
        </a:buClr>
        <a:buFont typeface="Georgia"/>
        <a:buChar char="•"/>
        <a:defRPr kumimoji="0" sz="2800" kern="1200">
          <a:solidFill>
            <a:schemeClr val="tx2"/>
          </a:solidFill>
          <a:latin typeface="+mn-lt"/>
          <a:ea typeface="+mn-ea"/>
          <a:cs typeface="+mn-cs"/>
        </a:defRPr>
      </a:lvl1pPr>
      <a:lvl2pPr marL="658368" indent="-246888" algn="l" rtl="0" eaLnBrk="1" latinLnBrk="0" hangingPunct="1">
        <a:spcBef>
          <a:spcPts val="300"/>
        </a:spcBef>
        <a:buClr>
          <a:schemeClr val="accent2">
            <a:lumMod val="75000"/>
          </a:schemeClr>
        </a:buClr>
        <a:buFont typeface="Georgia"/>
        <a:buChar char="▫"/>
        <a:defRPr kumimoji="0" sz="2600" kern="1200">
          <a:solidFill>
            <a:schemeClr val="tx2"/>
          </a:solidFill>
          <a:latin typeface="+mn-lt"/>
          <a:ea typeface="+mn-ea"/>
          <a:cs typeface="+mn-cs"/>
        </a:defRPr>
      </a:lvl2pPr>
      <a:lvl3pPr marL="923544" indent="-219456" algn="l" rtl="0" eaLnBrk="1" latinLnBrk="0" hangingPunct="1">
        <a:spcBef>
          <a:spcPts val="300"/>
        </a:spcBef>
        <a:buClr>
          <a:schemeClr val="accent1">
            <a:lumMod val="50000"/>
          </a:schemeClr>
        </a:buClr>
        <a:buFont typeface="Wingdings 2" panose="05020102010507070707" pitchFamily="18" charset="2"/>
        <a:buChar char=""/>
        <a:defRPr kumimoji="0" sz="2400" kern="1200">
          <a:solidFill>
            <a:schemeClr val="tx2"/>
          </a:solidFill>
          <a:latin typeface="+mn-lt"/>
          <a:ea typeface="+mn-ea"/>
          <a:cs typeface="+mn-cs"/>
        </a:defRPr>
      </a:lvl3pPr>
      <a:lvl4pPr marL="1179576" indent="-201168" algn="l" rtl="0" eaLnBrk="1" latinLnBrk="0" hangingPunct="1">
        <a:spcBef>
          <a:spcPts val="300"/>
        </a:spcBef>
        <a:buClr>
          <a:schemeClr val="accent1">
            <a:lumMod val="50000"/>
          </a:schemeClr>
        </a:buClr>
        <a:buFont typeface="Wingdings 2" panose="05020102010507070707" pitchFamily="18" charset="2"/>
        <a:buChar char=""/>
        <a:defRPr kumimoji="0" sz="2200" kern="1200">
          <a:solidFill>
            <a:schemeClr val="tx2"/>
          </a:solidFill>
          <a:latin typeface="+mn-lt"/>
          <a:ea typeface="+mn-ea"/>
          <a:cs typeface="+mn-cs"/>
        </a:defRPr>
      </a:lvl4pPr>
      <a:lvl5pPr marL="1389888" indent="-182880" algn="l" rtl="0" eaLnBrk="1" latinLnBrk="0" hangingPunct="1">
        <a:spcBef>
          <a:spcPts val="300"/>
        </a:spcBef>
        <a:buClr>
          <a:schemeClr val="accent1">
            <a:lumMod val="50000"/>
          </a:schemeClr>
        </a:buClr>
        <a:buFont typeface="Wingdings 2" panose="05020102010507070707" pitchFamily="18" charset="2"/>
        <a:buChar char=""/>
        <a:defRPr kumimoji="0" sz="2000" kern="1200">
          <a:solidFill>
            <a:schemeClr val="tx2"/>
          </a:solidFill>
          <a:latin typeface="+mn-lt"/>
          <a:ea typeface="+mn-ea"/>
          <a:cs typeface="+mn-cs"/>
        </a:defRPr>
      </a:lvl5pPr>
      <a:lvl6pPr marL="1609344" indent="-182880" algn="l" rtl="0" eaLnBrk="1" latinLnBrk="0" hangingPunct="1">
        <a:spcBef>
          <a:spcPts val="300"/>
        </a:spcBef>
        <a:buClr>
          <a:schemeClr val="accent1">
            <a:lumMod val="50000"/>
          </a:schemeClr>
        </a:buClr>
        <a:buFont typeface="Wingdings 2" panose="05020102010507070707" pitchFamily="18" charset="2"/>
        <a:buChar char=""/>
        <a:defRPr kumimoji="0" sz="1800" kern="1200">
          <a:solidFill>
            <a:schemeClr val="tx2"/>
          </a:solidFill>
          <a:latin typeface="+mn-lt"/>
          <a:ea typeface="+mn-ea"/>
          <a:cs typeface="+mn-cs"/>
        </a:defRPr>
      </a:lvl6pPr>
      <a:lvl7pPr marL="1828800" indent="-182880" algn="l" rtl="0" eaLnBrk="1" latinLnBrk="0" hangingPunct="1">
        <a:spcBef>
          <a:spcPts val="300"/>
        </a:spcBef>
        <a:buClr>
          <a:schemeClr val="accent1">
            <a:lumMod val="50000"/>
          </a:schemeClr>
        </a:buClr>
        <a:buFont typeface="Wingdings 2" panose="05020102010507070707" pitchFamily="18" charset="2"/>
        <a:buChar char=""/>
        <a:defRPr kumimoji="0" sz="1600" kern="1200">
          <a:solidFill>
            <a:schemeClr val="tx2"/>
          </a:solidFill>
          <a:latin typeface="+mn-lt"/>
          <a:ea typeface="+mn-ea"/>
          <a:cs typeface="+mn-cs"/>
        </a:defRPr>
      </a:lvl7pPr>
      <a:lvl8pPr marL="2029968" indent="-182880" algn="l" rtl="0" eaLnBrk="1" latinLnBrk="0" hangingPunct="1">
        <a:spcBef>
          <a:spcPts val="300"/>
        </a:spcBef>
        <a:buClr>
          <a:schemeClr val="accent1">
            <a:lumMod val="50000"/>
          </a:schemeClr>
        </a:buClr>
        <a:buFont typeface="Wingdings 2" panose="05020102010507070707" pitchFamily="18" charset="2"/>
        <a:buChar char=""/>
        <a:defRPr kumimoji="0" sz="1500" kern="1200">
          <a:solidFill>
            <a:schemeClr val="tx2"/>
          </a:solidFill>
          <a:latin typeface="+mn-lt"/>
          <a:ea typeface="+mn-ea"/>
          <a:cs typeface="+mn-cs"/>
        </a:defRPr>
      </a:lvl8pPr>
      <a:lvl9pPr marL="2240280" indent="-182880" algn="l" rtl="0" eaLnBrk="1" latinLnBrk="0" hangingPunct="1">
        <a:spcBef>
          <a:spcPts val="300"/>
        </a:spcBef>
        <a:buClr>
          <a:schemeClr val="accent1">
            <a:lumMod val="50000"/>
          </a:schemeClr>
        </a:buClr>
        <a:buFont typeface="Wingdings 2" panose="05020102010507070707" pitchFamily="18" charset="2"/>
        <a:buChar char=""/>
        <a:defRPr kumimoji="0" sz="1400" kern="1200" baseline="0">
          <a:solidFill>
            <a:schemeClr val="tx2"/>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0" orient="horz" pos="2160" userDrawn="1">
          <p15:clr>
            <a:srgbClr val="F26B43"/>
          </p15:clr>
        </p15:guide>
        <p15:guide id="1" pos="3840" userDrawn="1">
          <p15:clr>
            <a:srgbClr val="F26B43"/>
          </p15:clr>
        </p15:guide>
        <p15:guide id="2" orient="horz" pos="415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play.kotlinlang.org/"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ctrTitle"/>
          </p:nvPr>
        </p:nvSpPr>
        <p:spPr/>
        <p:txBody>
          <a:bodyPr rtlCol="0"/>
          <a:lstStyle/>
          <a:p>
            <a:pPr rtl="0"/>
            <a:r>
              <a:rPr lang="tr-TR" dirty="0" smtClean="0"/>
              <a:t>Mobil Uygulama Geliştirme</a:t>
            </a:r>
            <a:endParaRPr lang="tr-TR" dirty="0"/>
          </a:p>
        </p:txBody>
      </p:sp>
      <p:sp>
        <p:nvSpPr>
          <p:cNvPr id="3" name="Alt Başlık 2"/>
          <p:cNvSpPr>
            <a:spLocks noGrp="1"/>
          </p:cNvSpPr>
          <p:nvPr>
            <p:ph type="subTitle" idx="1"/>
          </p:nvPr>
        </p:nvSpPr>
        <p:spPr/>
        <p:txBody>
          <a:bodyPr rtlCol="0"/>
          <a:lstStyle/>
          <a:p>
            <a:pPr rtl="0"/>
            <a:r>
              <a:rPr lang="tr-TR" dirty="0" err="1" smtClean="0"/>
              <a:t>Öğr</a:t>
            </a:r>
            <a:r>
              <a:rPr lang="tr-TR" dirty="0" smtClean="0"/>
              <a:t>. Gör. Zafer SERİN</a:t>
            </a:r>
            <a:endParaRPr lang="tr-TR" dirty="0"/>
          </a:p>
        </p:txBody>
      </p:sp>
    </p:spTree>
    <p:extLst>
      <p:ext uri="{BB962C8B-B14F-4D97-AF65-F5344CB8AC3E}">
        <p14:creationId xmlns:p14="http://schemas.microsoft.com/office/powerpoint/2010/main" val="706305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MOBİL UYGULAMA NEDİR?</a:t>
            </a:r>
            <a:endParaRPr lang="tr-TR" dirty="0"/>
          </a:p>
        </p:txBody>
      </p:sp>
      <p:sp>
        <p:nvSpPr>
          <p:cNvPr id="3" name="İçerik Yer Tutucusu 2"/>
          <p:cNvSpPr>
            <a:spLocks noGrp="1"/>
          </p:cNvSpPr>
          <p:nvPr>
            <p:ph idx="1"/>
          </p:nvPr>
        </p:nvSpPr>
        <p:spPr/>
        <p:txBody>
          <a:bodyPr rtlCol="0"/>
          <a:lstStyle/>
          <a:p>
            <a:pPr algn="just"/>
            <a:r>
              <a:rPr lang="tr-TR" dirty="0"/>
              <a:t>Mobil uygulama, akıllı telefonlar, tabletler ve diğer mobil cihazlar üzerinde çalışan yazılım uygulamalarıdır. Bu uygulamalar, kullanıcıların belirli görevleri yerine getirmesine, bilgi almasına, eğlenmesine veya işlerini yürütmesine yardımcı olur. Mobil uygulamalar, genellikle </a:t>
            </a:r>
            <a:r>
              <a:rPr lang="tr-TR" dirty="0" err="1"/>
              <a:t>App</a:t>
            </a:r>
            <a:r>
              <a:rPr lang="tr-TR" dirty="0"/>
              <a:t> </a:t>
            </a:r>
            <a:r>
              <a:rPr lang="tr-TR" dirty="0" err="1"/>
              <a:t>Store</a:t>
            </a:r>
            <a:r>
              <a:rPr lang="tr-TR" dirty="0"/>
              <a:t> (</a:t>
            </a:r>
            <a:r>
              <a:rPr lang="tr-TR" dirty="0" err="1"/>
              <a:t>iOS</a:t>
            </a:r>
            <a:r>
              <a:rPr lang="tr-TR" dirty="0"/>
              <a:t> için) veya Google Play </a:t>
            </a:r>
            <a:r>
              <a:rPr lang="tr-TR" dirty="0" err="1"/>
              <a:t>Store</a:t>
            </a:r>
            <a:r>
              <a:rPr lang="tr-TR" dirty="0"/>
              <a:t> (</a:t>
            </a:r>
            <a:r>
              <a:rPr lang="tr-TR" dirty="0" err="1"/>
              <a:t>Android</a:t>
            </a:r>
            <a:r>
              <a:rPr lang="tr-TR" dirty="0"/>
              <a:t> için) gibi platformlardan indirilebilir ve yüklenebilir.</a:t>
            </a:r>
          </a:p>
        </p:txBody>
      </p:sp>
    </p:spTree>
    <p:extLst>
      <p:ext uri="{BB962C8B-B14F-4D97-AF65-F5344CB8AC3E}">
        <p14:creationId xmlns:p14="http://schemas.microsoft.com/office/powerpoint/2010/main" val="3859821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MOBİL UYGULAMA NEDİR?</a:t>
            </a:r>
            <a:endParaRPr lang="tr-TR" dirty="0"/>
          </a:p>
        </p:txBody>
      </p:sp>
      <p:pic>
        <p:nvPicPr>
          <p:cNvPr id="9218" name="Picture 2" descr="WhatsApp, kullanışlı iki yeni özellik alıyor - ShiftDelete.Net"/>
          <p:cNvPicPr>
            <a:picLocks noGrp="1" noChangeAspect="1" noChangeArrowheads="1"/>
          </p:cNvPicPr>
          <p:nvPr>
            <p:ph idx="1"/>
          </p:nvPr>
        </p:nvPicPr>
        <p:blipFill>
          <a:blip r:embed="rId3" cstate="print">
            <a:extLst>
              <a:ext uri="{28A0092B-C50C-407E-A947-70E740481C1C}">
                <a14:useLocalDpi xmlns:a14="http://schemas.microsoft.com/office/drawing/2010/main" val="0"/>
              </a:ext>
            </a:extLst>
          </a:blip>
          <a:srcRect/>
          <a:stretch>
            <a:fillRect/>
          </a:stretch>
        </p:blipFill>
        <p:spPr bwMode="auto">
          <a:xfrm>
            <a:off x="1699847" y="2209799"/>
            <a:ext cx="3285392" cy="1848033"/>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descr="Instagram Nasıl İndirilir? • egegen Blo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5486" y="2209799"/>
            <a:ext cx="3696066" cy="1848033"/>
          </a:xfrm>
          <a:prstGeom prst="rect">
            <a:avLst/>
          </a:prstGeom>
          <a:noFill/>
          <a:extLst>
            <a:ext uri="{909E8E84-426E-40DD-AFC4-6F175D3DCCD1}">
              <a14:hiddenFill xmlns:a14="http://schemas.microsoft.com/office/drawing/2010/main">
                <a:solidFill>
                  <a:srgbClr val="FFFFFF"/>
                </a:solidFill>
              </a14:hiddenFill>
            </a:ext>
          </a:extLst>
        </p:spPr>
      </p:pic>
      <p:pic>
        <p:nvPicPr>
          <p:cNvPr id="9222" name="Picture 6" descr="Snapchat'in En İyi Sosyal Medya Uygulaması Olduğunun 6 Kanıtı - Tamindi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99847" y="4176345"/>
            <a:ext cx="3285392" cy="1663490"/>
          </a:xfrm>
          <a:prstGeom prst="rect">
            <a:avLst/>
          </a:prstGeom>
          <a:noFill/>
          <a:extLst>
            <a:ext uri="{909E8E84-426E-40DD-AFC4-6F175D3DCCD1}">
              <a14:hiddenFill xmlns:a14="http://schemas.microsoft.com/office/drawing/2010/main">
                <a:solidFill>
                  <a:srgbClr val="FFFFFF"/>
                </a:solidFill>
              </a14:hiddenFill>
            </a:ext>
          </a:extLst>
        </p:spPr>
      </p:pic>
      <p:pic>
        <p:nvPicPr>
          <p:cNvPr id="9224" name="Picture 8" descr="Spotify mobilde değişiklik - CHIP Online"/>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075486" y="4176346"/>
            <a:ext cx="3696067" cy="1658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4333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NATİVE(YEREL) MOBİL UYGULAMA NEDİR?</a:t>
            </a:r>
            <a:endParaRPr lang="tr-TR" dirty="0"/>
          </a:p>
        </p:txBody>
      </p:sp>
      <p:sp>
        <p:nvSpPr>
          <p:cNvPr id="3" name="İçerik Yer Tutucusu 2"/>
          <p:cNvSpPr>
            <a:spLocks noGrp="1"/>
          </p:cNvSpPr>
          <p:nvPr>
            <p:ph idx="1"/>
          </p:nvPr>
        </p:nvSpPr>
        <p:spPr/>
        <p:txBody>
          <a:bodyPr rtlCol="0"/>
          <a:lstStyle/>
          <a:p>
            <a:pPr algn="just"/>
            <a:r>
              <a:rPr lang="tr-TR" dirty="0"/>
              <a:t>Yerel uygulamalar, belirli bir işletim sistemi için özel olarak geliştirilen uygulamalardır. Bu uygulamalar, cihazın donanım ve yazılım özelliklerinden tam olarak yararlanabilir</a:t>
            </a:r>
            <a:r>
              <a:rPr lang="tr-TR" dirty="0" smtClean="0"/>
              <a:t>.</a:t>
            </a:r>
          </a:p>
          <a:p>
            <a:r>
              <a:rPr lang="tr-TR" b="1" dirty="0" err="1"/>
              <a:t>iOS</a:t>
            </a:r>
            <a:r>
              <a:rPr lang="tr-TR" b="1" dirty="0"/>
              <a:t> Uygulama Geliştirme</a:t>
            </a:r>
            <a:r>
              <a:rPr lang="tr-TR" dirty="0"/>
              <a:t>: Swift veya </a:t>
            </a:r>
            <a:r>
              <a:rPr lang="tr-TR" dirty="0" err="1"/>
              <a:t>Objective</a:t>
            </a:r>
            <a:r>
              <a:rPr lang="tr-TR" dirty="0"/>
              <a:t>-C kullanılarak geliştirilir ve </a:t>
            </a:r>
            <a:r>
              <a:rPr lang="tr-TR" dirty="0" err="1"/>
              <a:t>iOS</a:t>
            </a:r>
            <a:r>
              <a:rPr lang="tr-TR" dirty="0"/>
              <a:t> cihazlarında çalışır.</a:t>
            </a:r>
          </a:p>
          <a:p>
            <a:r>
              <a:rPr lang="tr-TR" b="1" dirty="0" err="1"/>
              <a:t>Android</a:t>
            </a:r>
            <a:r>
              <a:rPr lang="tr-TR" b="1" dirty="0"/>
              <a:t> Uygulama Geliştirme</a:t>
            </a:r>
            <a:r>
              <a:rPr lang="tr-TR" dirty="0"/>
              <a:t>: </a:t>
            </a:r>
            <a:r>
              <a:rPr lang="tr-TR" dirty="0" err="1" smtClean="0"/>
              <a:t>Kotlin</a:t>
            </a:r>
            <a:r>
              <a:rPr lang="tr-TR" dirty="0" smtClean="0"/>
              <a:t> </a:t>
            </a:r>
            <a:r>
              <a:rPr lang="tr-TR"/>
              <a:t>veya </a:t>
            </a:r>
            <a:r>
              <a:rPr lang="tr-TR" smtClean="0"/>
              <a:t>Java </a:t>
            </a:r>
            <a:r>
              <a:rPr lang="tr-TR" dirty="0"/>
              <a:t>kullanılarak geliştirilir ve </a:t>
            </a:r>
            <a:r>
              <a:rPr lang="tr-TR" dirty="0" err="1"/>
              <a:t>Android</a:t>
            </a:r>
            <a:r>
              <a:rPr lang="tr-TR" dirty="0"/>
              <a:t> cihazlarında çalışır</a:t>
            </a:r>
            <a:r>
              <a:rPr lang="tr-TR" dirty="0" smtClean="0"/>
              <a:t>.</a:t>
            </a:r>
            <a:endParaRPr lang="tr-TR" dirty="0"/>
          </a:p>
        </p:txBody>
      </p:sp>
    </p:spTree>
    <p:extLst>
      <p:ext uri="{BB962C8B-B14F-4D97-AF65-F5344CB8AC3E}">
        <p14:creationId xmlns:p14="http://schemas.microsoft.com/office/powerpoint/2010/main" val="433939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NATİVE(YEREL) MOBİL UYGULAMA NEDİR?</a:t>
            </a:r>
            <a:endParaRPr lang="tr-TR" dirty="0"/>
          </a:p>
        </p:txBody>
      </p:sp>
      <p:pic>
        <p:nvPicPr>
          <p:cNvPr id="12290" name="Picture 2" descr="Java - Vikipedi"/>
          <p:cNvPicPr>
            <a:picLocks noGrp="1" noChangeAspect="1" noChangeArrowheads="1"/>
          </p:cNvPicPr>
          <p:nvPr>
            <p:ph idx="1"/>
          </p:nvPr>
        </p:nvPicPr>
        <p:blipFill>
          <a:blip r:embed="rId3" cstate="print">
            <a:extLst>
              <a:ext uri="{28A0092B-C50C-407E-A947-70E740481C1C}">
                <a14:useLocalDpi xmlns:a14="http://schemas.microsoft.com/office/drawing/2010/main" val="0"/>
              </a:ext>
            </a:extLst>
          </a:blip>
          <a:srcRect/>
          <a:stretch>
            <a:fillRect/>
          </a:stretch>
        </p:blipFill>
        <p:spPr bwMode="auto">
          <a:xfrm>
            <a:off x="609600" y="2209800"/>
            <a:ext cx="2078181" cy="3810000"/>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descr="What is the Swift programming language? | by Lena Charles | Mediu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38650" y="2209800"/>
            <a:ext cx="7143750" cy="381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0894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CROSS PLATFORM MOBİL UYGULAMA NEDİR?</a:t>
            </a:r>
            <a:endParaRPr lang="tr-TR" dirty="0"/>
          </a:p>
        </p:txBody>
      </p:sp>
      <p:sp>
        <p:nvSpPr>
          <p:cNvPr id="3" name="İçerik Yer Tutucusu 2"/>
          <p:cNvSpPr>
            <a:spLocks noGrp="1"/>
          </p:cNvSpPr>
          <p:nvPr>
            <p:ph idx="1"/>
          </p:nvPr>
        </p:nvSpPr>
        <p:spPr/>
        <p:txBody>
          <a:bodyPr rtlCol="0">
            <a:normAutofit lnSpcReduction="10000"/>
          </a:bodyPr>
          <a:lstStyle/>
          <a:p>
            <a:pPr algn="just"/>
            <a:r>
              <a:rPr lang="tr-TR" dirty="0"/>
              <a:t>Cross-platform uygulama geliştirme, tek bir kod tabanı ile birden fazla platformda (</a:t>
            </a:r>
            <a:r>
              <a:rPr lang="tr-TR" dirty="0" err="1"/>
              <a:t>iOS</a:t>
            </a:r>
            <a:r>
              <a:rPr lang="tr-TR" dirty="0"/>
              <a:t>, </a:t>
            </a:r>
            <a:r>
              <a:rPr lang="tr-TR" dirty="0" err="1"/>
              <a:t>Android</a:t>
            </a:r>
            <a:r>
              <a:rPr lang="tr-TR" dirty="0"/>
              <a:t>, Windows Phone vb.) çalışan uygulamalar geliştirmeyi amaçlar. Bu yaklaşım, geliştirme sürecini hızlandırır ve maliyetleri </a:t>
            </a:r>
            <a:r>
              <a:rPr lang="tr-TR" dirty="0" smtClean="0"/>
              <a:t>düşürür. </a:t>
            </a:r>
            <a:r>
              <a:rPr lang="tr-TR" b="1" dirty="0" smtClean="0"/>
              <a:t>Örnekler</a:t>
            </a:r>
            <a:r>
              <a:rPr lang="tr-TR" b="1" dirty="0"/>
              <a:t>:</a:t>
            </a:r>
            <a:endParaRPr lang="tr-TR" dirty="0"/>
          </a:p>
          <a:p>
            <a:r>
              <a:rPr lang="tr-TR" b="1" dirty="0" err="1"/>
              <a:t>React</a:t>
            </a:r>
            <a:r>
              <a:rPr lang="tr-TR" b="1" dirty="0"/>
              <a:t> </a:t>
            </a:r>
            <a:r>
              <a:rPr lang="tr-TR" b="1" dirty="0" err="1"/>
              <a:t>Native</a:t>
            </a:r>
            <a:r>
              <a:rPr lang="tr-TR" dirty="0"/>
              <a:t>: Facebook tarafından geliştirilen ve </a:t>
            </a:r>
            <a:r>
              <a:rPr lang="tr-TR" dirty="0" err="1"/>
              <a:t>JavaScript</a:t>
            </a:r>
            <a:r>
              <a:rPr lang="tr-TR" dirty="0"/>
              <a:t> ile yerel uygulamalar geliştirmeyi sağlayan bir </a:t>
            </a:r>
            <a:r>
              <a:rPr lang="tr-TR" dirty="0" err="1"/>
              <a:t>framework</a:t>
            </a:r>
            <a:r>
              <a:rPr lang="tr-TR" dirty="0"/>
              <a:t>.</a:t>
            </a:r>
          </a:p>
          <a:p>
            <a:r>
              <a:rPr lang="tr-TR" b="1" dirty="0" err="1"/>
              <a:t>Flutter</a:t>
            </a:r>
            <a:r>
              <a:rPr lang="tr-TR" dirty="0"/>
              <a:t>: Google tarafından geliştirilen ve Dart dili ile yerel uygulamalar geliştirmeyi sağlayan bir </a:t>
            </a:r>
            <a:r>
              <a:rPr lang="tr-TR" dirty="0" err="1"/>
              <a:t>framework</a:t>
            </a:r>
            <a:r>
              <a:rPr lang="tr-TR" dirty="0"/>
              <a:t>.</a:t>
            </a:r>
          </a:p>
          <a:p>
            <a:r>
              <a:rPr lang="tr-TR" b="1" dirty="0" err="1"/>
              <a:t>Xamarin</a:t>
            </a:r>
            <a:r>
              <a:rPr lang="tr-TR" dirty="0"/>
              <a:t>: Microsoft tarafından geliştirilen ve C# ile yerel uygulamalar geliştirmeyi sağlayan bir </a:t>
            </a:r>
            <a:r>
              <a:rPr lang="tr-TR" dirty="0" err="1"/>
              <a:t>framework</a:t>
            </a:r>
            <a:r>
              <a:rPr lang="tr-TR" dirty="0"/>
              <a:t>.</a:t>
            </a:r>
          </a:p>
          <a:p>
            <a:pPr algn="just"/>
            <a:endParaRPr lang="tr-TR" dirty="0"/>
          </a:p>
        </p:txBody>
      </p:sp>
    </p:spTree>
    <p:extLst>
      <p:ext uri="{BB962C8B-B14F-4D97-AF65-F5344CB8AC3E}">
        <p14:creationId xmlns:p14="http://schemas.microsoft.com/office/powerpoint/2010/main" val="38550868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CROSS PLATFORM MOBİL UYGULAMA NEDİR?</a:t>
            </a:r>
            <a:endParaRPr lang="tr-TR" dirty="0"/>
          </a:p>
        </p:txBody>
      </p:sp>
      <p:pic>
        <p:nvPicPr>
          <p:cNvPr id="16386" name="Picture 2" descr="What is Flutter? Guide for Flutter App Development | Relia Software"/>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5557172" y="2209798"/>
            <a:ext cx="5346068" cy="2630243"/>
          </a:xfrm>
          <a:prstGeom prst="rect">
            <a:avLst/>
          </a:prstGeom>
          <a:noFill/>
          <a:extLst>
            <a:ext uri="{909E8E84-426E-40DD-AFC4-6F175D3DCCD1}">
              <a14:hiddenFill xmlns:a14="http://schemas.microsoft.com/office/drawing/2010/main">
                <a:solidFill>
                  <a:srgbClr val="FFFFFF"/>
                </a:solidFill>
              </a14:hiddenFill>
            </a:ext>
          </a:extLst>
        </p:spPr>
      </p:pic>
      <p:pic>
        <p:nvPicPr>
          <p:cNvPr id="16388" name="Picture 4" descr="React-Native Kurulumu. React Native Nedir? | by Batuhan YALCIN | KOUOSL |  Mediu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9180" y="2209798"/>
            <a:ext cx="4268413" cy="26302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9892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HİBRİT MOBİL UYGULAMA NEDİR?</a:t>
            </a:r>
            <a:endParaRPr lang="tr-TR" dirty="0"/>
          </a:p>
        </p:txBody>
      </p:sp>
      <p:sp>
        <p:nvSpPr>
          <p:cNvPr id="3" name="İçerik Yer Tutucusu 2"/>
          <p:cNvSpPr>
            <a:spLocks noGrp="1"/>
          </p:cNvSpPr>
          <p:nvPr>
            <p:ph idx="1"/>
          </p:nvPr>
        </p:nvSpPr>
        <p:spPr/>
        <p:txBody>
          <a:bodyPr rtlCol="0">
            <a:normAutofit/>
          </a:bodyPr>
          <a:lstStyle/>
          <a:p>
            <a:pPr algn="just"/>
            <a:r>
              <a:rPr lang="tr-TR" dirty="0" err="1"/>
              <a:t>Hybrid</a:t>
            </a:r>
            <a:r>
              <a:rPr lang="tr-TR" dirty="0"/>
              <a:t> uygulama geliştirme, web teknolojileri (HTML, CSS, </a:t>
            </a:r>
            <a:r>
              <a:rPr lang="tr-TR" dirty="0" err="1"/>
              <a:t>JavaScript</a:t>
            </a:r>
            <a:r>
              <a:rPr lang="tr-TR" dirty="0"/>
              <a:t>) kullanarak mobil uygulamalar geliştirmeyi amaçlar. Bu uygulamalar, web görünümleri içerir ve genellikle bir </a:t>
            </a:r>
            <a:r>
              <a:rPr lang="tr-TR" dirty="0" err="1"/>
              <a:t>webview</a:t>
            </a:r>
            <a:r>
              <a:rPr lang="tr-TR" dirty="0"/>
              <a:t> içinde çalışır</a:t>
            </a:r>
            <a:r>
              <a:rPr lang="tr-TR" dirty="0" smtClean="0"/>
              <a:t>. </a:t>
            </a:r>
            <a:r>
              <a:rPr lang="tr-TR" b="1" dirty="0" smtClean="0"/>
              <a:t>Örnekler:</a:t>
            </a:r>
          </a:p>
          <a:p>
            <a:r>
              <a:rPr lang="tr-TR" b="1" dirty="0" err="1"/>
              <a:t>Ionic</a:t>
            </a:r>
            <a:r>
              <a:rPr lang="tr-TR" dirty="0"/>
              <a:t>: HTML, CSS ve </a:t>
            </a:r>
            <a:r>
              <a:rPr lang="tr-TR" dirty="0" err="1"/>
              <a:t>JavaScript</a:t>
            </a:r>
            <a:r>
              <a:rPr lang="tr-TR" dirty="0"/>
              <a:t> kullanarak mobil uygulamalar geliştirmeyi sağlayan bir </a:t>
            </a:r>
            <a:r>
              <a:rPr lang="tr-TR" dirty="0" err="1"/>
              <a:t>framework</a:t>
            </a:r>
            <a:r>
              <a:rPr lang="tr-TR" dirty="0"/>
              <a:t>.</a:t>
            </a:r>
          </a:p>
          <a:p>
            <a:r>
              <a:rPr lang="tr-TR" b="1" dirty="0" err="1"/>
              <a:t>Cordova</a:t>
            </a:r>
            <a:r>
              <a:rPr lang="tr-TR" b="1" dirty="0"/>
              <a:t> (</a:t>
            </a:r>
            <a:r>
              <a:rPr lang="tr-TR" b="1" dirty="0" err="1"/>
              <a:t>PhoneGap</a:t>
            </a:r>
            <a:r>
              <a:rPr lang="tr-TR" b="1" dirty="0"/>
              <a:t>)</a:t>
            </a:r>
            <a:r>
              <a:rPr lang="tr-TR" dirty="0"/>
              <a:t>: </a:t>
            </a:r>
            <a:r>
              <a:rPr lang="tr-TR" dirty="0" err="1"/>
              <a:t>Apache</a:t>
            </a:r>
            <a:r>
              <a:rPr lang="tr-TR" dirty="0"/>
              <a:t> tarafından geliştirilen ve web teknolojileri ile mobil uygulamalar geliştirmeyi sağlayan bir platform</a:t>
            </a:r>
            <a:r>
              <a:rPr lang="tr-TR" dirty="0" smtClean="0"/>
              <a:t>.</a:t>
            </a:r>
            <a:endParaRPr lang="tr-TR" dirty="0"/>
          </a:p>
        </p:txBody>
      </p:sp>
    </p:spTree>
    <p:extLst>
      <p:ext uri="{BB962C8B-B14F-4D97-AF65-F5344CB8AC3E}">
        <p14:creationId xmlns:p14="http://schemas.microsoft.com/office/powerpoint/2010/main" val="29476722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HİBRİT MOBİL UYGULAMA NEDİR?</a:t>
            </a:r>
            <a:endParaRPr lang="tr-TR" dirty="0"/>
          </a:p>
        </p:txBody>
      </p:sp>
      <p:pic>
        <p:nvPicPr>
          <p:cNvPr id="17410" name="Picture 2" descr="Ionic (mobile app framework) - Wikipedia"/>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609600" y="2209799"/>
            <a:ext cx="6587130" cy="2212731"/>
          </a:xfrm>
          <a:prstGeom prst="rect">
            <a:avLst/>
          </a:prstGeom>
          <a:noFill/>
          <a:extLst>
            <a:ext uri="{909E8E84-426E-40DD-AFC4-6F175D3DCCD1}">
              <a14:hiddenFill xmlns:a14="http://schemas.microsoft.com/office/drawing/2010/main">
                <a:solidFill>
                  <a:srgbClr val="FFFFFF"/>
                </a:solidFill>
              </a14:hiddenFill>
            </a:ext>
          </a:extLst>
        </p:spPr>
      </p:pic>
      <p:pic>
        <p:nvPicPr>
          <p:cNvPr id="17412" name="Picture 4" descr="Apache Cordova"/>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37929" y="2209799"/>
            <a:ext cx="1972163" cy="22186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2017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MOBİL OYUN GELİŞTİRME</a:t>
            </a:r>
            <a:endParaRPr lang="tr-TR" dirty="0"/>
          </a:p>
        </p:txBody>
      </p:sp>
      <p:sp>
        <p:nvSpPr>
          <p:cNvPr id="3" name="İçerik Yer Tutucusu 2"/>
          <p:cNvSpPr>
            <a:spLocks noGrp="1"/>
          </p:cNvSpPr>
          <p:nvPr>
            <p:ph idx="1"/>
          </p:nvPr>
        </p:nvSpPr>
        <p:spPr/>
        <p:txBody>
          <a:bodyPr rtlCol="0">
            <a:normAutofit/>
          </a:bodyPr>
          <a:lstStyle/>
          <a:p>
            <a:pPr algn="just"/>
            <a:r>
              <a:rPr lang="tr-TR" dirty="0"/>
              <a:t>Oyun uygulamaları, özel olarak oyun geliştirme platformları ve motorları kullanılarak geliştirilir. Bu uygulamalar, grafikler, sesler ve oyun mekaniği gibi özellikleri içerir</a:t>
            </a:r>
            <a:r>
              <a:rPr lang="tr-TR" dirty="0" smtClean="0"/>
              <a:t>. </a:t>
            </a:r>
            <a:r>
              <a:rPr lang="tr-TR" b="1" dirty="0" smtClean="0"/>
              <a:t>Örnekler:</a:t>
            </a:r>
          </a:p>
          <a:p>
            <a:r>
              <a:rPr lang="tr-TR" b="1" dirty="0" err="1"/>
              <a:t>Unity</a:t>
            </a:r>
            <a:r>
              <a:rPr lang="tr-TR" dirty="0"/>
              <a:t>: C# dili ile 2D ve 3D oyunlar geliştirmeyi sağlar.</a:t>
            </a:r>
          </a:p>
          <a:p>
            <a:r>
              <a:rPr lang="tr-TR" b="1" dirty="0" err="1"/>
              <a:t>Unreal</a:t>
            </a:r>
            <a:r>
              <a:rPr lang="tr-TR" b="1" dirty="0"/>
              <a:t> Engine</a:t>
            </a:r>
            <a:r>
              <a:rPr lang="tr-TR" dirty="0"/>
              <a:t>: C++ dili ile yüksek kaliteli oyunlar geliştirmeyi sağlar</a:t>
            </a:r>
            <a:r>
              <a:rPr lang="tr-TR" dirty="0" smtClean="0"/>
              <a:t>.</a:t>
            </a:r>
            <a:endParaRPr lang="tr-TR" dirty="0"/>
          </a:p>
        </p:txBody>
      </p:sp>
      <p:pic>
        <p:nvPicPr>
          <p:cNvPr id="18436" name="Picture 4" descr="PureCode | Unity3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98784" y="4648262"/>
            <a:ext cx="3663462" cy="1926273"/>
          </a:xfrm>
          <a:prstGeom prst="rect">
            <a:avLst/>
          </a:prstGeom>
          <a:noFill/>
          <a:extLst>
            <a:ext uri="{909E8E84-426E-40DD-AFC4-6F175D3DCCD1}">
              <a14:hiddenFill xmlns:a14="http://schemas.microsoft.com/office/drawing/2010/main">
                <a:solidFill>
                  <a:srgbClr val="FFFFFF"/>
                </a:solidFill>
              </a14:hiddenFill>
            </a:ext>
          </a:extLst>
        </p:spPr>
      </p:pic>
      <p:pic>
        <p:nvPicPr>
          <p:cNvPr id="18438" name="Picture 6" descr="What Is Unreal Engin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567854" y="4647539"/>
            <a:ext cx="2890495" cy="1926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3356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NEDİR?</a:t>
            </a:r>
            <a:endParaRPr lang="tr-TR" dirty="0"/>
          </a:p>
        </p:txBody>
      </p:sp>
      <p:sp>
        <p:nvSpPr>
          <p:cNvPr id="3" name="İçerik Yer Tutucusu 2"/>
          <p:cNvSpPr>
            <a:spLocks noGrp="1"/>
          </p:cNvSpPr>
          <p:nvPr>
            <p:ph idx="1"/>
          </p:nvPr>
        </p:nvSpPr>
        <p:spPr/>
        <p:txBody>
          <a:bodyPr rtlCol="0"/>
          <a:lstStyle/>
          <a:p>
            <a:pPr algn="just"/>
            <a:r>
              <a:rPr lang="tr-TR" dirty="0" err="1"/>
              <a:t>Android</a:t>
            </a:r>
            <a:r>
              <a:rPr lang="tr-TR" dirty="0"/>
              <a:t>, Google tarafından geliştirilen ve açık kaynak kodlu bir mobil işletim sistemidir. İlk olarak 2008 yılında piyasaya sürülen </a:t>
            </a:r>
            <a:r>
              <a:rPr lang="tr-TR" dirty="0" err="1"/>
              <a:t>Android</a:t>
            </a:r>
            <a:r>
              <a:rPr lang="tr-TR" dirty="0"/>
              <a:t>, şu anda dünyadaki en yaygın kullanılan mobil işletim sistemlerinden biridir. </a:t>
            </a:r>
            <a:r>
              <a:rPr lang="tr-TR" dirty="0" err="1"/>
              <a:t>Android</a:t>
            </a:r>
            <a:r>
              <a:rPr lang="tr-TR" dirty="0"/>
              <a:t>, Linux çekirdeği üzerine inşa edilmiştir ve çeşitli donanım platformlarında çalışabilir</a:t>
            </a:r>
            <a:r>
              <a:rPr lang="tr-TR" dirty="0" smtClean="0"/>
              <a:t>. </a:t>
            </a:r>
            <a:r>
              <a:rPr lang="tr-TR" dirty="0" err="1" smtClean="0"/>
              <a:t>Android</a:t>
            </a:r>
            <a:r>
              <a:rPr lang="tr-TR" dirty="0" smtClean="0"/>
              <a:t> uygulama uzantıları </a:t>
            </a:r>
            <a:r>
              <a:rPr lang="tr-TR" dirty="0"/>
              <a:t>g</a:t>
            </a:r>
            <a:r>
              <a:rPr lang="tr-TR" dirty="0" smtClean="0"/>
              <a:t>enelde .</a:t>
            </a:r>
            <a:r>
              <a:rPr lang="tr-TR" dirty="0" err="1" smtClean="0"/>
              <a:t>apk</a:t>
            </a:r>
            <a:r>
              <a:rPr lang="tr-TR" dirty="0" smtClean="0"/>
              <a:t>(</a:t>
            </a:r>
            <a:r>
              <a:rPr lang="tr-TR" dirty="0" err="1" smtClean="0"/>
              <a:t>android</a:t>
            </a:r>
            <a:r>
              <a:rPr lang="tr-TR" dirty="0" smtClean="0"/>
              <a:t> </a:t>
            </a:r>
            <a:r>
              <a:rPr lang="tr-TR" dirty="0" err="1" smtClean="0"/>
              <a:t>package</a:t>
            </a:r>
            <a:r>
              <a:rPr lang="tr-TR" dirty="0" smtClean="0"/>
              <a:t> kit) ile ifade edilir.</a:t>
            </a:r>
            <a:endParaRPr lang="tr-TR" dirty="0"/>
          </a:p>
        </p:txBody>
      </p:sp>
      <p:pic>
        <p:nvPicPr>
          <p:cNvPr id="1026" name="Picture 2" descr="Dosya:Android robot (2014-2019).svg - Vikiped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42356" y="4985238"/>
            <a:ext cx="1344507" cy="15781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ndroid - Vikiped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02188" y="4978433"/>
            <a:ext cx="2587623" cy="158491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17 Security Apps for Android in an Endurance Test"/>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296589" y="4985238"/>
            <a:ext cx="1898929" cy="1578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25489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err="1" smtClean="0"/>
              <a:t>iOS</a:t>
            </a:r>
            <a:r>
              <a:rPr lang="tr-TR" dirty="0" smtClean="0"/>
              <a:t> NEDİR?</a:t>
            </a:r>
            <a:endParaRPr lang="tr-TR" dirty="0"/>
          </a:p>
        </p:txBody>
      </p:sp>
      <p:sp>
        <p:nvSpPr>
          <p:cNvPr id="3" name="İçerik Yer Tutucusu 2"/>
          <p:cNvSpPr>
            <a:spLocks noGrp="1"/>
          </p:cNvSpPr>
          <p:nvPr>
            <p:ph idx="1"/>
          </p:nvPr>
        </p:nvSpPr>
        <p:spPr/>
        <p:txBody>
          <a:bodyPr rtlCol="0"/>
          <a:lstStyle/>
          <a:p>
            <a:pPr algn="just"/>
            <a:r>
              <a:rPr lang="tr-TR" dirty="0" err="1"/>
              <a:t>iOS</a:t>
            </a:r>
            <a:r>
              <a:rPr lang="tr-TR" dirty="0"/>
              <a:t>, Apple tarafından geliştirilen ve </a:t>
            </a:r>
            <a:r>
              <a:rPr lang="tr-TR" dirty="0" err="1"/>
              <a:t>iPhone</a:t>
            </a:r>
            <a:r>
              <a:rPr lang="tr-TR" dirty="0"/>
              <a:t>, </a:t>
            </a:r>
            <a:r>
              <a:rPr lang="tr-TR" dirty="0" err="1"/>
              <a:t>iPad</a:t>
            </a:r>
            <a:r>
              <a:rPr lang="tr-TR" dirty="0"/>
              <a:t>, iPod </a:t>
            </a:r>
            <a:r>
              <a:rPr lang="tr-TR" dirty="0" err="1"/>
              <a:t>Touch</a:t>
            </a:r>
            <a:r>
              <a:rPr lang="tr-TR" dirty="0"/>
              <a:t> ve diğer Apple cihazlarında kullanılan mobil işletim sistemidir. İlk olarak 2007 yılında </a:t>
            </a:r>
            <a:r>
              <a:rPr lang="tr-TR" dirty="0" err="1"/>
              <a:t>iPhone</a:t>
            </a:r>
            <a:r>
              <a:rPr lang="tr-TR" dirty="0"/>
              <a:t> ile birlikte piyasaya sürülen </a:t>
            </a:r>
            <a:r>
              <a:rPr lang="tr-TR" dirty="0" err="1"/>
              <a:t>iOS</a:t>
            </a:r>
            <a:r>
              <a:rPr lang="tr-TR" dirty="0"/>
              <a:t>, </a:t>
            </a:r>
            <a:r>
              <a:rPr lang="tr-TR" dirty="0" err="1"/>
              <a:t>Apple'ın</a:t>
            </a:r>
            <a:r>
              <a:rPr lang="tr-TR" dirty="0"/>
              <a:t> mobil cihazlar için özel olarak tasarlanmış bir işletim sistemidir. </a:t>
            </a:r>
            <a:r>
              <a:rPr lang="tr-TR" dirty="0" err="1"/>
              <a:t>iOS</a:t>
            </a:r>
            <a:r>
              <a:rPr lang="tr-TR" dirty="0"/>
              <a:t>, kullanıcı dostu </a:t>
            </a:r>
            <a:r>
              <a:rPr lang="tr-TR" dirty="0" err="1"/>
              <a:t>arayüzü</a:t>
            </a:r>
            <a:r>
              <a:rPr lang="tr-TR" dirty="0"/>
              <a:t>, güçlü güvenlik özellikleri ve zengin uygulama ekosistemiyle bilinir. </a:t>
            </a:r>
            <a:r>
              <a:rPr lang="tr-TR" dirty="0" err="1" smtClean="0"/>
              <a:t>iOS</a:t>
            </a:r>
            <a:r>
              <a:rPr lang="tr-TR" dirty="0" smtClean="0"/>
              <a:t> </a:t>
            </a:r>
            <a:r>
              <a:rPr lang="tr-TR" dirty="0"/>
              <a:t>uygulama uzantıları genelde </a:t>
            </a:r>
            <a:r>
              <a:rPr lang="tr-TR" dirty="0" smtClean="0"/>
              <a:t>.</a:t>
            </a:r>
            <a:r>
              <a:rPr lang="tr-TR" dirty="0" err="1" smtClean="0"/>
              <a:t>ipa</a:t>
            </a:r>
            <a:r>
              <a:rPr lang="tr-TR" dirty="0" smtClean="0"/>
              <a:t>(</a:t>
            </a:r>
            <a:r>
              <a:rPr lang="tr-TR" dirty="0" err="1" smtClean="0"/>
              <a:t>ios</a:t>
            </a:r>
            <a:r>
              <a:rPr lang="tr-TR" dirty="0" smtClean="0"/>
              <a:t> </a:t>
            </a:r>
            <a:r>
              <a:rPr lang="tr-TR" dirty="0" err="1" smtClean="0"/>
              <a:t>package</a:t>
            </a:r>
            <a:r>
              <a:rPr lang="tr-TR" dirty="0" smtClean="0"/>
              <a:t> </a:t>
            </a:r>
            <a:r>
              <a:rPr lang="tr-TR" dirty="0" err="1" smtClean="0"/>
              <a:t>archive</a:t>
            </a:r>
            <a:r>
              <a:rPr lang="tr-TR" dirty="0" smtClean="0"/>
              <a:t>) </a:t>
            </a:r>
            <a:r>
              <a:rPr lang="tr-TR" dirty="0"/>
              <a:t>ile ifade edilir.</a:t>
            </a:r>
          </a:p>
          <a:p>
            <a:pPr algn="just"/>
            <a:endParaRPr lang="tr-TR" dirty="0"/>
          </a:p>
        </p:txBody>
      </p:sp>
      <p:pic>
        <p:nvPicPr>
          <p:cNvPr id="2050" name="Picture 2" descr="iOS | Uxc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2995" y="4899661"/>
            <a:ext cx="2746797" cy="167487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What is iOS? - Tech Monito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83187" y="4899660"/>
            <a:ext cx="1674876" cy="16748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112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NEDİR?</a:t>
            </a:r>
            <a:endParaRPr lang="tr-TR" dirty="0"/>
          </a:p>
        </p:txBody>
      </p:sp>
      <p:sp>
        <p:nvSpPr>
          <p:cNvPr id="3" name="İçerik Yer Tutucusu 2"/>
          <p:cNvSpPr>
            <a:spLocks noGrp="1"/>
          </p:cNvSpPr>
          <p:nvPr>
            <p:ph idx="1"/>
          </p:nvPr>
        </p:nvSpPr>
        <p:spPr/>
        <p:txBody>
          <a:bodyPr rtlCol="0"/>
          <a:lstStyle/>
          <a:p>
            <a:pPr algn="just"/>
            <a:r>
              <a:rPr lang="tr-TR" dirty="0" err="1"/>
              <a:t>Kotlin</a:t>
            </a:r>
            <a:r>
              <a:rPr lang="tr-TR" dirty="0"/>
              <a:t>, </a:t>
            </a:r>
            <a:r>
              <a:rPr lang="tr-TR" dirty="0" err="1"/>
              <a:t>JetBrains</a:t>
            </a:r>
            <a:r>
              <a:rPr lang="tr-TR" dirty="0"/>
              <a:t> tarafından geliştirilen ve modern bir programlama dilidir. İlk olarak 2011 yılında duyurulan </a:t>
            </a:r>
            <a:r>
              <a:rPr lang="tr-TR" dirty="0" err="1"/>
              <a:t>Kotlin</a:t>
            </a:r>
            <a:r>
              <a:rPr lang="tr-TR" dirty="0"/>
              <a:t>, Java Virtual Machine (JVM) üzerinde çalışabilen statik olarak yazılmış bir dildir. </a:t>
            </a:r>
            <a:r>
              <a:rPr lang="tr-TR" dirty="0" err="1"/>
              <a:t>Kotlin</a:t>
            </a:r>
            <a:r>
              <a:rPr lang="tr-TR" dirty="0"/>
              <a:t>, Java ile tamamen uyumlu olması ve modern programlama özellikleri sunması nedeniyle hızla popülerlik kazanmıştır</a:t>
            </a:r>
            <a:r>
              <a:rPr lang="tr-TR" dirty="0" smtClean="0"/>
              <a:t>.</a:t>
            </a:r>
            <a:endParaRPr lang="tr-TR" dirty="0"/>
          </a:p>
        </p:txBody>
      </p:sp>
      <p:pic>
        <p:nvPicPr>
          <p:cNvPr id="3074" name="Picture 2" descr="Kotlin Nedir? Kotlin Uygulama Geliştirme Evreninde İşletmelerin Hangi  Problemlerini Çözebilir? - Bulutistan Blo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7800" y="4686300"/>
            <a:ext cx="3776471" cy="188823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Kotlin Nedir?. Merhaba, bu yazımda sizlere adını sıkça… | by Gulsun Ciftci  | Kodcular | Mediu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64680" y="4686300"/>
            <a:ext cx="3596640" cy="1888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8289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NEDİR?</a:t>
            </a:r>
            <a:endParaRPr lang="tr-TR" dirty="0"/>
          </a:p>
        </p:txBody>
      </p:sp>
      <p:sp>
        <p:nvSpPr>
          <p:cNvPr id="3" name="İçerik Yer Tutucusu 2"/>
          <p:cNvSpPr>
            <a:spLocks noGrp="1"/>
          </p:cNvSpPr>
          <p:nvPr>
            <p:ph idx="1"/>
          </p:nvPr>
        </p:nvSpPr>
        <p:spPr/>
        <p:txBody>
          <a:bodyPr rtlCol="0"/>
          <a:lstStyle/>
          <a:p>
            <a:pPr algn="just"/>
            <a:r>
              <a:rPr lang="tr-TR" dirty="0" smtClean="0"/>
              <a:t>Google</a:t>
            </a:r>
            <a:r>
              <a:rPr lang="tr-TR" dirty="0"/>
              <a:t>, 2017 yılında </a:t>
            </a:r>
            <a:r>
              <a:rPr lang="tr-TR" dirty="0" err="1"/>
              <a:t>Kotlin'i</a:t>
            </a:r>
            <a:r>
              <a:rPr lang="tr-TR" dirty="0"/>
              <a:t> </a:t>
            </a:r>
            <a:r>
              <a:rPr lang="tr-TR" dirty="0" err="1"/>
              <a:t>Android</a:t>
            </a:r>
            <a:r>
              <a:rPr lang="tr-TR" dirty="0"/>
              <a:t> uygulama geliştirme için resmi dil olarak desteklemeye başladı ve bu da </a:t>
            </a:r>
            <a:r>
              <a:rPr lang="tr-TR" dirty="0" err="1"/>
              <a:t>Kotlin'in</a:t>
            </a:r>
            <a:r>
              <a:rPr lang="tr-TR" dirty="0"/>
              <a:t> daha da yaygınlaşmasına katkıda bulundu.</a:t>
            </a:r>
          </a:p>
        </p:txBody>
      </p:sp>
    </p:spTree>
    <p:extLst>
      <p:ext uri="{BB962C8B-B14F-4D97-AF65-F5344CB8AC3E}">
        <p14:creationId xmlns:p14="http://schemas.microsoft.com/office/powerpoint/2010/main" val="41817288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ÖZELLİKLERİ</a:t>
            </a:r>
            <a:endParaRPr lang="tr-TR" dirty="0"/>
          </a:p>
        </p:txBody>
      </p:sp>
      <p:sp>
        <p:nvSpPr>
          <p:cNvPr id="3" name="İçerik Yer Tutucusu 2"/>
          <p:cNvSpPr>
            <a:spLocks noGrp="1"/>
          </p:cNvSpPr>
          <p:nvPr>
            <p:ph idx="1"/>
          </p:nvPr>
        </p:nvSpPr>
        <p:spPr/>
        <p:txBody>
          <a:bodyPr rtlCol="0"/>
          <a:lstStyle/>
          <a:p>
            <a:pPr algn="just"/>
            <a:r>
              <a:rPr lang="tr-TR" b="1" dirty="0"/>
              <a:t>Java </a:t>
            </a:r>
            <a:r>
              <a:rPr lang="tr-TR" b="1" dirty="0" smtClean="0"/>
              <a:t>Uyumluluğu</a:t>
            </a:r>
          </a:p>
          <a:p>
            <a:pPr algn="just"/>
            <a:r>
              <a:rPr lang="tr-TR" b="1" dirty="0" err="1"/>
              <a:t>Null</a:t>
            </a:r>
            <a:r>
              <a:rPr lang="tr-TR" b="1" dirty="0"/>
              <a:t> </a:t>
            </a:r>
            <a:r>
              <a:rPr lang="tr-TR" b="1" dirty="0" smtClean="0"/>
              <a:t>Güvenliği</a:t>
            </a:r>
          </a:p>
          <a:p>
            <a:pPr algn="just"/>
            <a:r>
              <a:rPr lang="tr-TR" b="1" dirty="0"/>
              <a:t>Veri Sınıfları</a:t>
            </a:r>
            <a:endParaRPr lang="tr-TR" dirty="0"/>
          </a:p>
        </p:txBody>
      </p:sp>
    </p:spTree>
    <p:extLst>
      <p:ext uri="{BB962C8B-B14F-4D97-AF65-F5344CB8AC3E}">
        <p14:creationId xmlns:p14="http://schemas.microsoft.com/office/powerpoint/2010/main" val="291016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KULLANILABİLECEK IDELER</a:t>
            </a:r>
            <a:endParaRPr lang="tr-TR" dirty="0"/>
          </a:p>
        </p:txBody>
      </p:sp>
      <p:sp>
        <p:nvSpPr>
          <p:cNvPr id="3" name="İçerik Yer Tutucusu 2"/>
          <p:cNvSpPr>
            <a:spLocks noGrp="1"/>
          </p:cNvSpPr>
          <p:nvPr>
            <p:ph idx="1"/>
          </p:nvPr>
        </p:nvSpPr>
        <p:spPr/>
        <p:txBody>
          <a:bodyPr rtlCol="0"/>
          <a:lstStyle/>
          <a:p>
            <a:pPr algn="just"/>
            <a:r>
              <a:rPr lang="tr-TR" b="1" dirty="0" err="1" smtClean="0"/>
              <a:t>Android</a:t>
            </a:r>
            <a:r>
              <a:rPr lang="tr-TR" b="1" dirty="0" smtClean="0"/>
              <a:t> </a:t>
            </a:r>
            <a:r>
              <a:rPr lang="tr-TR" b="1" dirty="0" err="1" smtClean="0"/>
              <a:t>Studio</a:t>
            </a:r>
            <a:r>
              <a:rPr lang="tr-TR" b="1" dirty="0" smtClean="0"/>
              <a:t>(Ücretsiz)</a:t>
            </a:r>
          </a:p>
          <a:p>
            <a:pPr algn="just"/>
            <a:r>
              <a:rPr lang="tr-TR" b="1" dirty="0" err="1" smtClean="0"/>
              <a:t>IntelliJ</a:t>
            </a:r>
            <a:r>
              <a:rPr lang="tr-TR" b="1" dirty="0" smtClean="0"/>
              <a:t>(Ücretli)</a:t>
            </a:r>
          </a:p>
          <a:p>
            <a:pPr algn="just"/>
            <a:r>
              <a:rPr lang="tr-TR" b="1" dirty="0">
                <a:hlinkClick r:id="rId3"/>
              </a:rPr>
              <a:t>https://play.kotlinlang.org</a:t>
            </a:r>
            <a:r>
              <a:rPr lang="tr-TR" b="1" dirty="0" smtClean="0">
                <a:hlinkClick r:id="rId3"/>
              </a:rPr>
              <a:t>/</a:t>
            </a:r>
            <a:r>
              <a:rPr lang="tr-TR" b="1" dirty="0" smtClean="0"/>
              <a:t> (Online ama yetersiz)</a:t>
            </a:r>
            <a:endParaRPr lang="tr-TR" b="1" dirty="0"/>
          </a:p>
        </p:txBody>
      </p:sp>
    </p:spTree>
    <p:extLst>
      <p:ext uri="{BB962C8B-B14F-4D97-AF65-F5344CB8AC3E}">
        <p14:creationId xmlns:p14="http://schemas.microsoft.com/office/powerpoint/2010/main" val="2470851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lstStyle/>
          <a:p>
            <a:pPr algn="just"/>
            <a:r>
              <a:rPr lang="tr-TR" dirty="0" err="1"/>
              <a:t>Android</a:t>
            </a:r>
            <a:r>
              <a:rPr lang="tr-TR" dirty="0"/>
              <a:t> </a:t>
            </a:r>
            <a:r>
              <a:rPr lang="tr-TR" dirty="0" err="1"/>
              <a:t>Studio</a:t>
            </a:r>
            <a:r>
              <a:rPr lang="tr-TR" dirty="0"/>
              <a:t>, Google tarafından geliştirilen ve </a:t>
            </a:r>
            <a:r>
              <a:rPr lang="tr-TR" dirty="0" err="1"/>
              <a:t>Android</a:t>
            </a:r>
            <a:r>
              <a:rPr lang="tr-TR" dirty="0"/>
              <a:t> uygulamaları geliştirmek için kullanılan resmi entegre geliştirme ortamıdır (IDE). </a:t>
            </a:r>
            <a:r>
              <a:rPr lang="tr-TR" dirty="0" err="1"/>
              <a:t>Android</a:t>
            </a:r>
            <a:r>
              <a:rPr lang="tr-TR" dirty="0"/>
              <a:t> </a:t>
            </a:r>
            <a:r>
              <a:rPr lang="tr-TR" dirty="0" err="1"/>
              <a:t>Studio</a:t>
            </a:r>
            <a:r>
              <a:rPr lang="tr-TR" dirty="0"/>
              <a:t>, Java, </a:t>
            </a:r>
            <a:r>
              <a:rPr lang="tr-TR" dirty="0" err="1"/>
              <a:t>Kotlin</a:t>
            </a:r>
            <a:r>
              <a:rPr lang="tr-TR" dirty="0"/>
              <a:t> ve C++ dillerinde </a:t>
            </a:r>
            <a:r>
              <a:rPr lang="tr-TR" dirty="0" err="1"/>
              <a:t>Android</a:t>
            </a:r>
            <a:r>
              <a:rPr lang="tr-TR" dirty="0"/>
              <a:t> uygulamaları oluşturmak için </a:t>
            </a:r>
            <a:r>
              <a:rPr lang="tr-TR" dirty="0" smtClean="0"/>
              <a:t>kullanılır.</a:t>
            </a:r>
            <a:endParaRPr lang="tr-TR" b="1" dirty="0"/>
          </a:p>
        </p:txBody>
      </p:sp>
      <p:pic>
        <p:nvPicPr>
          <p:cNvPr id="6146" name="Picture 2" descr="Android Studio Nedir ve Kurulumu Nasıl Yapılır ? | by Ayşin Çetin | Medium"/>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31916" y="4165922"/>
            <a:ext cx="4281980" cy="2408614"/>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ndroid Studio Tutorial (2021 Edition) - Part 1"/>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36212" y="4165922"/>
            <a:ext cx="4281980" cy="24086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2264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SDK NEDİR?</a:t>
            </a:r>
            <a:endParaRPr lang="tr-TR" dirty="0"/>
          </a:p>
        </p:txBody>
      </p:sp>
      <p:sp>
        <p:nvSpPr>
          <p:cNvPr id="3" name="İçerik Yer Tutucusu 2"/>
          <p:cNvSpPr>
            <a:spLocks noGrp="1"/>
          </p:cNvSpPr>
          <p:nvPr>
            <p:ph idx="1"/>
          </p:nvPr>
        </p:nvSpPr>
        <p:spPr/>
        <p:txBody>
          <a:bodyPr rtlCol="0"/>
          <a:lstStyle/>
          <a:p>
            <a:pPr algn="just"/>
            <a:r>
              <a:rPr lang="tr-TR" dirty="0" err="1"/>
              <a:t>Android</a:t>
            </a:r>
            <a:r>
              <a:rPr lang="tr-TR" dirty="0"/>
              <a:t> SDK (Software Development Kit), </a:t>
            </a:r>
            <a:r>
              <a:rPr lang="tr-TR" dirty="0" err="1"/>
              <a:t>Android</a:t>
            </a:r>
            <a:r>
              <a:rPr lang="tr-TR" dirty="0"/>
              <a:t> uygulamaları geliştirmek için gereken araçların ve kütüphanelerin bir koleksiyonudur. Bu SDK, </a:t>
            </a:r>
            <a:r>
              <a:rPr lang="tr-TR" dirty="0" err="1"/>
              <a:t>Android</a:t>
            </a:r>
            <a:r>
              <a:rPr lang="tr-TR" dirty="0"/>
              <a:t> platformunda uygulama geliştirmek isteyen geliştiricilere, uygulamalarını oluşturmak, test etmek ve hata ayıklamak için gereken her şeyi sağlar.</a:t>
            </a:r>
            <a:endParaRPr lang="tr-TR" b="1" dirty="0"/>
          </a:p>
        </p:txBody>
      </p:sp>
    </p:spTree>
    <p:extLst>
      <p:ext uri="{BB962C8B-B14F-4D97-AF65-F5344CB8AC3E}">
        <p14:creationId xmlns:p14="http://schemas.microsoft.com/office/powerpoint/2010/main" val="444120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sp>
        <p:nvSpPr>
          <p:cNvPr id="3" name="İçerik Yer Tutucusu 2"/>
          <p:cNvSpPr>
            <a:spLocks noGrp="1"/>
          </p:cNvSpPr>
          <p:nvPr>
            <p:ph idx="1"/>
          </p:nvPr>
        </p:nvSpPr>
        <p:spPr/>
        <p:txBody>
          <a:bodyPr rtlCol="0"/>
          <a:lstStyle/>
          <a:p>
            <a:pPr algn="just"/>
            <a:r>
              <a:rPr lang="tr-TR" dirty="0" err="1" smtClean="0"/>
              <a:t>Android</a:t>
            </a:r>
            <a:r>
              <a:rPr lang="tr-TR" dirty="0" smtClean="0"/>
              <a:t> </a:t>
            </a:r>
            <a:r>
              <a:rPr lang="tr-TR" dirty="0" err="1" smtClean="0"/>
              <a:t>Studio’da</a:t>
            </a:r>
            <a:r>
              <a:rPr lang="tr-TR" dirty="0" smtClean="0"/>
              <a:t> ‘New Project’ seçilerek yeni bir proje oluşturulabilir. Burada hangi donanım(telefon, tablet, akıllı saat, televizyon, otomobil) için geliştirme yapılacaksa ona uygun </a:t>
            </a:r>
            <a:r>
              <a:rPr lang="tr-TR" dirty="0" err="1" smtClean="0"/>
              <a:t>templateler</a:t>
            </a:r>
            <a:r>
              <a:rPr lang="tr-TR" dirty="0" smtClean="0"/>
              <a:t>(şablonlar) görüntülenecektir. Başlangıç için telefon seçilerek ‘</a:t>
            </a:r>
            <a:r>
              <a:rPr lang="tr-TR" dirty="0" err="1" smtClean="0"/>
              <a:t>Empty</a:t>
            </a:r>
            <a:r>
              <a:rPr lang="tr-TR" dirty="0" smtClean="0"/>
              <a:t> </a:t>
            </a:r>
            <a:r>
              <a:rPr lang="tr-TR" dirty="0" err="1" smtClean="0"/>
              <a:t>Views</a:t>
            </a:r>
            <a:r>
              <a:rPr lang="tr-TR" dirty="0" smtClean="0"/>
              <a:t> Activity’ seçilebilir. Daha sonra ‘</a:t>
            </a:r>
            <a:r>
              <a:rPr lang="tr-TR" dirty="0" err="1" smtClean="0"/>
              <a:t>Next</a:t>
            </a:r>
            <a:r>
              <a:rPr lang="tr-TR" dirty="0" smtClean="0"/>
              <a:t>’ butonuna tıklanmalıdır.</a:t>
            </a:r>
            <a:endParaRPr lang="tr-TR" b="1" dirty="0"/>
          </a:p>
        </p:txBody>
      </p:sp>
    </p:spTree>
    <p:extLst>
      <p:ext uri="{BB962C8B-B14F-4D97-AF65-F5344CB8AC3E}">
        <p14:creationId xmlns:p14="http://schemas.microsoft.com/office/powerpoint/2010/main" val="1238008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pic>
        <p:nvPicPr>
          <p:cNvPr id="6" name="İçerik Yer Tutucusu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105254" y="2249488"/>
            <a:ext cx="5981491" cy="4324350"/>
          </a:xfrm>
        </p:spPr>
      </p:pic>
    </p:spTree>
    <p:extLst>
      <p:ext uri="{BB962C8B-B14F-4D97-AF65-F5344CB8AC3E}">
        <p14:creationId xmlns:p14="http://schemas.microsoft.com/office/powerpoint/2010/main" val="903319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sp>
        <p:nvSpPr>
          <p:cNvPr id="3" name="İçerik Yer Tutucusu 2"/>
          <p:cNvSpPr>
            <a:spLocks noGrp="1"/>
          </p:cNvSpPr>
          <p:nvPr>
            <p:ph idx="1"/>
          </p:nvPr>
        </p:nvSpPr>
        <p:spPr/>
        <p:txBody>
          <a:bodyPr rtlCol="0">
            <a:normAutofit/>
          </a:bodyPr>
          <a:lstStyle/>
          <a:p>
            <a:pPr algn="just"/>
            <a:r>
              <a:rPr lang="tr-TR" dirty="0" smtClean="0"/>
              <a:t>Sonraki aşamada proje ismimizi(Name) belirlememiz gerekiyor. Proje isminde </a:t>
            </a:r>
            <a:r>
              <a:rPr lang="tr-TR" b="1" dirty="0" smtClean="0"/>
              <a:t>kesinlikle Türkçe karakter[ç, ğ, ö, ş, ü ve bunların büyük halleri ayrıca büyük i(İ) ve küçük ı’da </a:t>
            </a:r>
            <a:r>
              <a:rPr lang="tr-TR" b="1" u="sng" dirty="0" smtClean="0"/>
              <a:t>kullanılmamalıdır!</a:t>
            </a:r>
            <a:r>
              <a:rPr lang="tr-TR" b="1" dirty="0" smtClean="0"/>
              <a:t>]</a:t>
            </a:r>
          </a:p>
          <a:p>
            <a:pPr algn="just"/>
            <a:r>
              <a:rPr lang="tr-TR" dirty="0" smtClean="0"/>
              <a:t>Paket adı(</a:t>
            </a:r>
            <a:r>
              <a:rPr lang="tr-TR" dirty="0" err="1" smtClean="0"/>
              <a:t>Package</a:t>
            </a:r>
            <a:r>
              <a:rPr lang="tr-TR" dirty="0" smtClean="0"/>
              <a:t> Name) bir uygulama için </a:t>
            </a:r>
            <a:r>
              <a:rPr lang="tr-TR" dirty="0" err="1" smtClean="0"/>
              <a:t>id</a:t>
            </a:r>
            <a:r>
              <a:rPr lang="tr-TR" dirty="0" smtClean="0"/>
              <a:t> gibi düşünülebilir. Yani o uygulama için özel tanımlanmış bir isimdir. ‘</a:t>
            </a:r>
            <a:r>
              <a:rPr lang="tr-TR" dirty="0" err="1" smtClean="0"/>
              <a:t>com.isim.uygulamaadi</a:t>
            </a:r>
            <a:r>
              <a:rPr lang="tr-TR" dirty="0" smtClean="0"/>
              <a:t>’ şeklinde kullanılabilir. Profesyonel dünyada ‘</a:t>
            </a:r>
            <a:r>
              <a:rPr lang="tr-TR" dirty="0" err="1" smtClean="0"/>
              <a:t>com.sirketadi.uygulamaadi</a:t>
            </a:r>
            <a:r>
              <a:rPr lang="tr-TR" dirty="0" smtClean="0"/>
              <a:t>’ olarak kullanılır. Uygulama </a:t>
            </a:r>
            <a:r>
              <a:rPr lang="tr-TR" dirty="0" err="1" smtClean="0"/>
              <a:t>play</a:t>
            </a:r>
            <a:r>
              <a:rPr lang="tr-TR" dirty="0" smtClean="0"/>
              <a:t> </a:t>
            </a:r>
            <a:r>
              <a:rPr lang="tr-TR" dirty="0" err="1" smtClean="0"/>
              <a:t>store</a:t>
            </a:r>
            <a:r>
              <a:rPr lang="tr-TR" dirty="0" smtClean="0"/>
              <a:t> gibi uygulama marketlerine yüklenirken bu paket adı geliştiriciden istenecektir ve tek olması gerekir.</a:t>
            </a:r>
            <a:endParaRPr lang="tr-TR" dirty="0"/>
          </a:p>
        </p:txBody>
      </p:sp>
    </p:spTree>
    <p:extLst>
      <p:ext uri="{BB962C8B-B14F-4D97-AF65-F5344CB8AC3E}">
        <p14:creationId xmlns:p14="http://schemas.microsoft.com/office/powerpoint/2010/main" val="2957828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sp>
        <p:nvSpPr>
          <p:cNvPr id="3" name="İçerik Yer Tutucusu 2"/>
          <p:cNvSpPr>
            <a:spLocks noGrp="1"/>
          </p:cNvSpPr>
          <p:nvPr>
            <p:ph idx="1"/>
          </p:nvPr>
        </p:nvSpPr>
        <p:spPr/>
        <p:txBody>
          <a:bodyPr rtlCol="0">
            <a:normAutofit/>
          </a:bodyPr>
          <a:lstStyle/>
          <a:p>
            <a:pPr algn="just"/>
            <a:r>
              <a:rPr lang="tr-TR" dirty="0" smtClean="0"/>
              <a:t>Kayıt Yeri(</a:t>
            </a:r>
            <a:r>
              <a:rPr lang="tr-TR" dirty="0" err="1" smtClean="0"/>
              <a:t>Save</a:t>
            </a:r>
            <a:r>
              <a:rPr lang="tr-TR" dirty="0" smtClean="0"/>
              <a:t> </a:t>
            </a:r>
            <a:r>
              <a:rPr lang="tr-TR" dirty="0" err="1" smtClean="0"/>
              <a:t>Location</a:t>
            </a:r>
            <a:r>
              <a:rPr lang="tr-TR" dirty="0" smtClean="0"/>
              <a:t>), uygulamanın bilgisayarınızda nereye kaydedileceğini belirtir. Burada da Türkçe karakter olmamasına dikkat edilmelidir.</a:t>
            </a:r>
          </a:p>
          <a:p>
            <a:pPr algn="just"/>
            <a:r>
              <a:rPr lang="tr-TR" dirty="0" smtClean="0"/>
              <a:t>Dil(Language), kullanılacak Programlama Dili’ni belirtmektedir. </a:t>
            </a:r>
            <a:r>
              <a:rPr lang="tr-TR" dirty="0" err="1" smtClean="0"/>
              <a:t>Kotlin</a:t>
            </a:r>
            <a:r>
              <a:rPr lang="tr-TR" dirty="0" smtClean="0"/>
              <a:t> seçilmelidir.</a:t>
            </a:r>
          </a:p>
          <a:p>
            <a:pPr algn="just"/>
            <a:r>
              <a:rPr lang="tr-TR" dirty="0" smtClean="0"/>
              <a:t>Minimum SDK, geliştirilen uygulamanın minimum hangi </a:t>
            </a:r>
            <a:r>
              <a:rPr lang="tr-TR" dirty="0" err="1" smtClean="0"/>
              <a:t>Android</a:t>
            </a:r>
            <a:r>
              <a:rPr lang="tr-TR" dirty="0" smtClean="0"/>
              <a:t> cihazlarda çalışacağını belirtir. Sonradan değiştirilebilir. </a:t>
            </a:r>
            <a:r>
              <a:rPr lang="tr-TR" b="1" dirty="0" smtClean="0"/>
              <a:t>Burada minimum sürümün seçildiği unutulmamalıdır. Güncel olsun diye en son </a:t>
            </a:r>
            <a:r>
              <a:rPr lang="tr-TR" b="1" dirty="0" err="1" smtClean="0"/>
              <a:t>Android</a:t>
            </a:r>
            <a:r>
              <a:rPr lang="tr-TR" b="1" dirty="0" smtClean="0"/>
              <a:t> sürümü seçilirse uygulama çok çok az cihazda çalışabilir!</a:t>
            </a:r>
          </a:p>
          <a:p>
            <a:pPr algn="just"/>
            <a:endParaRPr lang="tr-TR" dirty="0"/>
          </a:p>
        </p:txBody>
      </p:sp>
    </p:spTree>
    <p:extLst>
      <p:ext uri="{BB962C8B-B14F-4D97-AF65-F5344CB8AC3E}">
        <p14:creationId xmlns:p14="http://schemas.microsoft.com/office/powerpoint/2010/main" val="4093450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sp>
        <p:nvSpPr>
          <p:cNvPr id="3" name="İçerik Yer Tutucusu 2"/>
          <p:cNvSpPr>
            <a:spLocks noGrp="1"/>
          </p:cNvSpPr>
          <p:nvPr>
            <p:ph idx="1"/>
          </p:nvPr>
        </p:nvSpPr>
        <p:spPr/>
        <p:txBody>
          <a:bodyPr rtlCol="0">
            <a:normAutofit/>
          </a:bodyPr>
          <a:lstStyle/>
          <a:p>
            <a:pPr algn="just"/>
            <a:r>
              <a:rPr lang="tr-TR" b="1" dirty="0" smtClean="0"/>
              <a:t>Minimum SDK, çok düşük seçilirse bu durumda neredeyse her cihazda çalışan bir uygulama elde edilir ama bu durumda yeni sürümlerde gelen özellikler kullanılamayabilir.</a:t>
            </a:r>
            <a:r>
              <a:rPr lang="tr-TR" dirty="0" smtClean="0"/>
              <a:t> Sektörde </a:t>
            </a:r>
            <a:r>
              <a:rPr lang="tr-TR" dirty="0" err="1" smtClean="0"/>
              <a:t>Android</a:t>
            </a:r>
            <a:r>
              <a:rPr lang="tr-TR" dirty="0" smtClean="0"/>
              <a:t> 5 ve 6 genel olarak iyi bir seçimdir.</a:t>
            </a:r>
          </a:p>
          <a:p>
            <a:pPr algn="just"/>
            <a:r>
              <a:rPr lang="tr-TR" dirty="0" err="1" smtClean="0"/>
              <a:t>Build</a:t>
            </a:r>
            <a:r>
              <a:rPr lang="tr-TR" dirty="0" smtClean="0"/>
              <a:t> </a:t>
            </a:r>
            <a:r>
              <a:rPr lang="tr-TR" dirty="0" err="1" smtClean="0"/>
              <a:t>Configuration</a:t>
            </a:r>
            <a:r>
              <a:rPr lang="tr-TR" dirty="0" smtClean="0"/>
              <a:t> Language, yazdığımız kodları inşa eden derleyen toparlayan kısım olarak düşünülebilir. </a:t>
            </a:r>
            <a:r>
              <a:rPr lang="tr-TR" dirty="0" err="1" smtClean="0"/>
              <a:t>Kotlin</a:t>
            </a:r>
            <a:r>
              <a:rPr lang="tr-TR" dirty="0" smtClean="0"/>
              <a:t> DSL seçilebilir.</a:t>
            </a:r>
          </a:p>
          <a:p>
            <a:pPr algn="just"/>
            <a:r>
              <a:rPr lang="tr-TR" dirty="0" smtClean="0"/>
              <a:t>Tüm bu seçimlerden sonra ‘</a:t>
            </a:r>
            <a:r>
              <a:rPr lang="tr-TR" dirty="0" err="1" smtClean="0"/>
              <a:t>Finish</a:t>
            </a:r>
            <a:r>
              <a:rPr lang="tr-TR" dirty="0" smtClean="0"/>
              <a:t>’ butonuna tıklanarak proje oluşturulabilir.</a:t>
            </a:r>
          </a:p>
          <a:p>
            <a:pPr algn="just"/>
            <a:endParaRPr lang="tr-TR" dirty="0"/>
          </a:p>
        </p:txBody>
      </p:sp>
    </p:spTree>
    <p:extLst>
      <p:ext uri="{BB962C8B-B14F-4D97-AF65-F5344CB8AC3E}">
        <p14:creationId xmlns:p14="http://schemas.microsoft.com/office/powerpoint/2010/main" val="3640079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KLASÖRLEME YAPISI</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Manifest</a:t>
            </a:r>
            <a:r>
              <a:rPr lang="tr-TR" dirty="0" smtClean="0"/>
              <a:t> içerisinde projenin çok genel ayarları bulunmaktadır. Uygulama ikonu, başlığı, uygulama ilk açıldığında hangi ekran görünecek gibi…</a:t>
            </a:r>
          </a:p>
          <a:p>
            <a:pPr algn="just"/>
            <a:r>
              <a:rPr lang="tr-TR" dirty="0" err="1" smtClean="0"/>
              <a:t>Kotlin+java</a:t>
            </a:r>
            <a:r>
              <a:rPr lang="tr-TR" dirty="0" smtClean="0"/>
              <a:t> klasörü içerisinde test yazan klasörler uygulamanın test edilmesi ile ilgili durumları içerir. Uygulamanın sadece paket adı yazan kısım ise asıl kodların yazılacağı kısımdır.</a:t>
            </a:r>
          </a:p>
          <a:p>
            <a:pPr algn="just"/>
            <a:r>
              <a:rPr lang="tr-TR" dirty="0" err="1" smtClean="0"/>
              <a:t>Res</a:t>
            </a:r>
            <a:r>
              <a:rPr lang="tr-TR" dirty="0" smtClean="0"/>
              <a:t> klasörü ise </a:t>
            </a:r>
            <a:r>
              <a:rPr lang="tr-TR" dirty="0" err="1" smtClean="0"/>
              <a:t>resources</a:t>
            </a:r>
            <a:r>
              <a:rPr lang="tr-TR" dirty="0" smtClean="0"/>
              <a:t>(kaynak) </a:t>
            </a:r>
            <a:r>
              <a:rPr lang="tr-TR" dirty="0" err="1" smtClean="0"/>
              <a:t>ın</a:t>
            </a:r>
            <a:r>
              <a:rPr lang="tr-TR" dirty="0" smtClean="0"/>
              <a:t> kısaltmasıdır. Görsel, video, ses </a:t>
            </a:r>
            <a:r>
              <a:rPr lang="tr-TR" dirty="0" err="1" smtClean="0"/>
              <a:t>gii</a:t>
            </a:r>
            <a:r>
              <a:rPr lang="tr-TR" dirty="0" smtClean="0"/>
              <a:t> dosyaları saklamak ve kullanmak için kullanabileceğimiz klasördür. Özellikle </a:t>
            </a:r>
            <a:r>
              <a:rPr lang="tr-TR" dirty="0" err="1" smtClean="0"/>
              <a:t>res</a:t>
            </a:r>
            <a:r>
              <a:rPr lang="tr-TR" dirty="0" smtClean="0"/>
              <a:t> klasörü altındaki </a:t>
            </a:r>
            <a:r>
              <a:rPr lang="tr-TR" dirty="0" err="1" smtClean="0"/>
              <a:t>layout</a:t>
            </a:r>
            <a:r>
              <a:rPr lang="tr-TR" dirty="0" smtClean="0"/>
              <a:t> bölümü uygulamanın tasarımı için temel bir dosyadır.</a:t>
            </a:r>
            <a:endParaRPr lang="tr-TR" dirty="0"/>
          </a:p>
        </p:txBody>
      </p:sp>
    </p:spTree>
    <p:extLst>
      <p:ext uri="{BB962C8B-B14F-4D97-AF65-F5344CB8AC3E}">
        <p14:creationId xmlns:p14="http://schemas.microsoft.com/office/powerpoint/2010/main" val="252299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PROJE OLUŞTURMA</a:t>
            </a:r>
            <a:endParaRPr lang="tr-TR" dirty="0"/>
          </a:p>
        </p:txBody>
      </p:sp>
      <p:pic>
        <p:nvPicPr>
          <p:cNvPr id="4" name="İçerik Yer Tutucusu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110264" y="2249488"/>
            <a:ext cx="5971472" cy="4324350"/>
          </a:xfrm>
        </p:spPr>
      </p:pic>
    </p:spTree>
    <p:extLst>
      <p:ext uri="{BB962C8B-B14F-4D97-AF65-F5344CB8AC3E}">
        <p14:creationId xmlns:p14="http://schemas.microsoft.com/office/powerpoint/2010/main" val="310537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smtClean="0"/>
              <a:t> konsola bir şey yazdırmak için </a:t>
            </a:r>
            <a:r>
              <a:rPr lang="tr-TR" sz="3600" dirty="0" err="1" smtClean="0"/>
              <a:t>println</a:t>
            </a:r>
            <a:r>
              <a:rPr lang="tr-TR" sz="3600" dirty="0" smtClean="0"/>
              <a:t>() kodu kullanılır.</a:t>
            </a:r>
          </a:p>
          <a:p>
            <a:pPr algn="just"/>
            <a:r>
              <a:rPr lang="tr-TR" sz="3600" dirty="0" smtClean="0"/>
              <a:t>Örnek Kullanım:</a:t>
            </a:r>
            <a:endParaRPr lang="tr-TR" sz="3600" dirty="0"/>
          </a:p>
        </p:txBody>
      </p:sp>
      <p:sp>
        <p:nvSpPr>
          <p:cNvPr id="4" name="Rectangle 1"/>
          <p:cNvSpPr>
            <a:spLocks noChangeArrowheads="1"/>
          </p:cNvSpPr>
          <p:nvPr/>
        </p:nvSpPr>
        <p:spPr bwMode="auto">
          <a:xfrm>
            <a:off x="3416420" y="4088814"/>
            <a:ext cx="5359159" cy="646331"/>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1" u="none" strike="noStrike" cap="none" normalizeH="0" baseline="0" dirty="0" err="1" smtClean="0">
                <a:ln>
                  <a:noFill/>
                </a:ln>
                <a:solidFill>
                  <a:srgbClr val="BCBEC4"/>
                </a:solidFill>
                <a:effectLst/>
                <a:latin typeface="JetBrains Mono"/>
              </a:rPr>
              <a:t>println</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smtClean="0">
                <a:ln>
                  <a:noFill/>
                </a:ln>
                <a:solidFill>
                  <a:srgbClr val="6AAB73"/>
                </a:solidFill>
                <a:effectLst/>
                <a:latin typeface="JetBrains Mono"/>
              </a:rPr>
              <a:t>"Merhaba Dünya"</a:t>
            </a:r>
            <a:r>
              <a:rPr kumimoji="0" lang="tr-TR" altLang="tr-TR" sz="3600" b="0" i="0" u="none" strike="noStrike" cap="none" normalizeH="0" baseline="0" dirty="0" smtClean="0">
                <a:ln>
                  <a:noFill/>
                </a:ln>
                <a:solidFill>
                  <a:srgbClr val="BCBEC4"/>
                </a:solidFill>
                <a:effectLst/>
                <a:latin typeface="JetBrains Mono"/>
              </a:rPr>
              <a:t>)</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74314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smtClean="0"/>
              <a:t> // ve /* */ ifadeleri ile yorum satırı yapılabilir.</a:t>
            </a:r>
          </a:p>
          <a:p>
            <a:pPr algn="just"/>
            <a:r>
              <a:rPr lang="tr-TR" sz="3600" dirty="0" smtClean="0"/>
              <a:t>Örnek Kullanım:</a:t>
            </a:r>
            <a:endParaRPr lang="tr-TR" sz="3600" dirty="0"/>
          </a:p>
        </p:txBody>
      </p:sp>
      <p:sp>
        <p:nvSpPr>
          <p:cNvPr id="5" name="Rectangle 1"/>
          <p:cNvSpPr>
            <a:spLocks noChangeArrowheads="1"/>
          </p:cNvSpPr>
          <p:nvPr/>
        </p:nvSpPr>
        <p:spPr bwMode="auto">
          <a:xfrm>
            <a:off x="4028478" y="3539254"/>
            <a:ext cx="4365875" cy="1200329"/>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7A7E85"/>
                </a:solidFill>
                <a:effectLst/>
                <a:latin typeface="JetBrains Mono"/>
              </a:rPr>
              <a:t>// Yorum Satırı – 1 </a:t>
            </a:r>
            <a:br>
              <a:rPr kumimoji="0" lang="tr-TR" altLang="tr-TR" sz="3600" b="0" i="0" u="none" strike="noStrike" cap="none" normalizeH="0" baseline="0" dirty="0" smtClean="0">
                <a:ln>
                  <a:noFill/>
                </a:ln>
                <a:solidFill>
                  <a:srgbClr val="7A7E85"/>
                </a:solidFill>
                <a:effectLst/>
                <a:latin typeface="JetBrains Mono"/>
              </a:rPr>
            </a:br>
            <a:r>
              <a:rPr kumimoji="0" lang="tr-TR" altLang="tr-TR" sz="3600" b="0" i="0" u="none" strike="noStrike" cap="none" normalizeH="0" baseline="0" dirty="0" smtClean="0">
                <a:ln>
                  <a:noFill/>
                </a:ln>
                <a:solidFill>
                  <a:srgbClr val="7A7E85"/>
                </a:solidFill>
                <a:effectLst/>
                <a:latin typeface="JetBrains Mono"/>
              </a:rPr>
              <a:t>/* Yorum Satırı – 2 */</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469095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a:t>Kotlin’de</a:t>
            </a:r>
            <a:r>
              <a:rPr lang="tr-TR" sz="3600" dirty="0"/>
              <a:t> değişken tipini otomatik belirlemek için ‘var’ anahtar sözcüğünü, değişmesini istemediğimiz(sabit) değişkenler içinde ise ‘</a:t>
            </a:r>
            <a:r>
              <a:rPr lang="tr-TR" sz="3600" dirty="0" err="1"/>
              <a:t>val</a:t>
            </a:r>
            <a:r>
              <a:rPr lang="tr-TR" sz="3600" dirty="0"/>
              <a:t>’ anahtar sözcüğünü kullanırız.</a:t>
            </a:r>
          </a:p>
        </p:txBody>
      </p:sp>
      <p:sp>
        <p:nvSpPr>
          <p:cNvPr id="6" name="Rectangle 2"/>
          <p:cNvSpPr>
            <a:spLocks noChangeArrowheads="1"/>
          </p:cNvSpPr>
          <p:nvPr/>
        </p:nvSpPr>
        <p:spPr bwMode="auto">
          <a:xfrm>
            <a:off x="3983883" y="3914562"/>
            <a:ext cx="4224233" cy="2862322"/>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tamsayi</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2AACB8"/>
                </a:solidFill>
                <a:effectLst/>
                <a:latin typeface="JetBrains Mono"/>
              </a:rPr>
              <a:t>5</a:t>
            </a:r>
            <a:br>
              <a:rPr kumimoji="0" lang="tr-TR" altLang="tr-TR" sz="3600" b="0" i="0" u="none" strike="noStrike" cap="none" normalizeH="0" baseline="0" dirty="0" smtClean="0">
                <a:ln>
                  <a:noFill/>
                </a:ln>
                <a:solidFill>
                  <a:srgbClr val="2AACB8"/>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ondalikli</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2AACB8"/>
                </a:solidFill>
                <a:effectLst/>
                <a:latin typeface="JetBrains Mono"/>
              </a:rPr>
              <a:t>5.7</a:t>
            </a:r>
            <a:br>
              <a:rPr kumimoji="0" lang="tr-TR" altLang="tr-TR" sz="3600" b="0" i="0" u="none" strike="noStrike" cap="none" normalizeH="0" baseline="0" dirty="0" smtClean="0">
                <a:ln>
                  <a:noFill/>
                </a:ln>
                <a:solidFill>
                  <a:srgbClr val="2AACB8"/>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metin = </a:t>
            </a:r>
            <a:r>
              <a:rPr kumimoji="0" lang="tr-TR" altLang="tr-TR" sz="3600" b="0" i="0" u="none" strike="noStrike" cap="none" normalizeH="0" baseline="0" dirty="0" smtClean="0">
                <a:ln>
                  <a:noFill/>
                </a:ln>
                <a:solidFill>
                  <a:srgbClr val="6AAB73"/>
                </a:solidFill>
                <a:effectLst/>
                <a:latin typeface="JetBrains Mono"/>
              </a:rPr>
              <a:t>"Zafer"</a:t>
            </a:r>
            <a:br>
              <a:rPr kumimoji="0" lang="tr-TR" altLang="tr-TR" sz="3600" b="0" i="0" u="none" strike="noStrike" cap="none" normalizeH="0" baseline="0" dirty="0" smtClean="0">
                <a:ln>
                  <a:noFill/>
                </a:ln>
                <a:solidFill>
                  <a:srgbClr val="6AAB73"/>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mantiksal</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err="1" smtClean="0">
                <a:ln>
                  <a:noFill/>
                </a:ln>
                <a:solidFill>
                  <a:srgbClr val="CF8E6D"/>
                </a:solidFill>
                <a:effectLst/>
                <a:latin typeface="JetBrains Mono"/>
              </a:rPr>
              <a:t>true</a:t>
            </a:r>
            <a:r>
              <a:rPr kumimoji="0" lang="tr-TR" altLang="tr-TR" sz="3600" b="0" i="0" u="none" strike="noStrike" cap="none" normalizeH="0" baseline="0" dirty="0" smtClean="0">
                <a:ln>
                  <a:noFill/>
                </a:ln>
                <a:solidFill>
                  <a:srgbClr val="CF8E6D"/>
                </a:solidFill>
                <a:effectLst/>
                <a:latin typeface="JetBrains Mono"/>
              </a:rPr>
              <a:t/>
            </a:r>
            <a:br>
              <a:rPr kumimoji="0" lang="tr-TR" altLang="tr-TR" sz="3600" b="0" i="0" u="none" strike="noStrike" cap="none" normalizeH="0" baseline="0" dirty="0" smtClean="0">
                <a:ln>
                  <a:noFill/>
                </a:ln>
                <a:solidFill>
                  <a:srgbClr val="CF8E6D"/>
                </a:solidFill>
                <a:effectLst/>
                <a:latin typeface="JetBrains Mono"/>
              </a:rPr>
            </a:br>
            <a:r>
              <a:rPr kumimoji="0" lang="tr-TR" altLang="tr-TR" sz="3600" b="0" i="0" u="none" strike="noStrike" cap="none" normalizeH="0" baseline="0" dirty="0" err="1" smtClean="0">
                <a:ln>
                  <a:noFill/>
                </a:ln>
                <a:solidFill>
                  <a:srgbClr val="CF8E6D"/>
                </a:solidFill>
                <a:effectLst/>
                <a:latin typeface="JetBrains Mono"/>
              </a:rPr>
              <a:t>val</a:t>
            </a:r>
            <a:r>
              <a:rPr kumimoji="0" lang="tr-TR" altLang="tr-TR" sz="3600" b="0" i="0" u="none" strike="noStrike" cap="none" normalizeH="0" baseline="0" dirty="0" smtClean="0">
                <a:ln>
                  <a:noFill/>
                </a:ln>
                <a:solidFill>
                  <a:srgbClr val="CF8E6D"/>
                </a:solidFill>
                <a:effectLst/>
                <a:latin typeface="JetBrains Mono"/>
              </a:rPr>
              <a:t> </a:t>
            </a:r>
            <a:r>
              <a:rPr kumimoji="0" lang="tr-TR" altLang="tr-TR" sz="3600" b="0" i="0" u="none" strike="noStrike" cap="none" normalizeH="0" baseline="0" dirty="0" smtClean="0">
                <a:ln>
                  <a:noFill/>
                </a:ln>
                <a:solidFill>
                  <a:srgbClr val="BCBEC4"/>
                </a:solidFill>
                <a:effectLst/>
                <a:latin typeface="JetBrains Mono"/>
              </a:rPr>
              <a:t>sabit = </a:t>
            </a:r>
            <a:r>
              <a:rPr kumimoji="0" lang="tr-TR" altLang="tr-TR" sz="3600" b="0" i="0" u="none" strike="noStrike" cap="none" normalizeH="0" baseline="0" dirty="0" smtClean="0">
                <a:ln>
                  <a:noFill/>
                </a:ln>
                <a:solidFill>
                  <a:srgbClr val="2AACB8"/>
                </a:solidFill>
                <a:effectLst/>
                <a:latin typeface="JetBrains Mono"/>
              </a:rPr>
              <a:t>3.14</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08119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a:t>Kotlin’de</a:t>
            </a:r>
            <a:r>
              <a:rPr lang="tr-TR" sz="3600" dirty="0"/>
              <a:t> değişken </a:t>
            </a:r>
            <a:r>
              <a:rPr lang="tr-TR" sz="3600" dirty="0" smtClean="0"/>
              <a:t>tipini elle vermek için ‘:’ kullanılır.</a:t>
            </a:r>
            <a:endParaRPr lang="tr-TR" sz="3600" dirty="0"/>
          </a:p>
        </p:txBody>
      </p:sp>
      <p:sp>
        <p:nvSpPr>
          <p:cNvPr id="4" name="Rectangle 1"/>
          <p:cNvSpPr>
            <a:spLocks noChangeArrowheads="1"/>
          </p:cNvSpPr>
          <p:nvPr/>
        </p:nvSpPr>
        <p:spPr bwMode="auto">
          <a:xfrm>
            <a:off x="2816897" y="3323719"/>
            <a:ext cx="6558206" cy="2862322"/>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tamsayi1 : </a:t>
            </a:r>
            <a:r>
              <a:rPr kumimoji="0" lang="tr-TR" altLang="tr-TR" sz="3600" b="0" i="0" u="none" strike="noStrike" cap="none" normalizeH="0" baseline="0" dirty="0" err="1" smtClean="0">
                <a:ln>
                  <a:noFill/>
                </a:ln>
                <a:solidFill>
                  <a:srgbClr val="BCBEC4"/>
                </a:solidFill>
                <a:effectLst/>
                <a:latin typeface="JetBrains Mono"/>
              </a:rPr>
              <a:t>Int</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2AACB8"/>
                </a:solidFill>
                <a:effectLst/>
                <a:latin typeface="JetBrains Mono"/>
              </a:rPr>
              <a:t>5</a:t>
            </a:r>
            <a:br>
              <a:rPr kumimoji="0" lang="tr-TR" altLang="tr-TR" sz="3600" b="0" i="0" u="none" strike="noStrike" cap="none" normalizeH="0" baseline="0" dirty="0" smtClean="0">
                <a:ln>
                  <a:noFill/>
                </a:ln>
                <a:solidFill>
                  <a:srgbClr val="2AACB8"/>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ondalikli1 : </a:t>
            </a:r>
            <a:r>
              <a:rPr kumimoji="0" lang="tr-TR" altLang="tr-TR" sz="3600" b="0" i="0" u="none" strike="noStrike" cap="none" normalizeH="0" baseline="0" dirty="0" err="1" smtClean="0">
                <a:ln>
                  <a:noFill/>
                </a:ln>
                <a:solidFill>
                  <a:srgbClr val="BCBEC4"/>
                </a:solidFill>
                <a:effectLst/>
                <a:latin typeface="JetBrains Mono"/>
              </a:rPr>
              <a:t>Double</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2AACB8"/>
                </a:solidFill>
                <a:effectLst/>
                <a:latin typeface="JetBrains Mono"/>
              </a:rPr>
              <a:t>5.7</a:t>
            </a:r>
            <a:br>
              <a:rPr kumimoji="0" lang="tr-TR" altLang="tr-TR" sz="3600" b="0" i="0" u="none" strike="noStrike" cap="none" normalizeH="0" baseline="0" dirty="0" smtClean="0">
                <a:ln>
                  <a:noFill/>
                </a:ln>
                <a:solidFill>
                  <a:srgbClr val="2AACB8"/>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metin1 : </a:t>
            </a:r>
            <a:r>
              <a:rPr kumimoji="0" lang="tr-TR" altLang="tr-TR" sz="3600" b="0" i="0" u="none" strike="noStrike" cap="none" normalizeH="0" baseline="0" dirty="0" err="1" smtClean="0">
                <a:ln>
                  <a:noFill/>
                </a:ln>
                <a:solidFill>
                  <a:srgbClr val="BCBEC4"/>
                </a:solidFill>
                <a:effectLst/>
                <a:latin typeface="JetBrains Mono"/>
              </a:rPr>
              <a:t>String</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6AAB73"/>
                </a:solidFill>
                <a:effectLst/>
                <a:latin typeface="JetBrains Mono"/>
              </a:rPr>
              <a:t>"Zafer"</a:t>
            </a:r>
            <a:br>
              <a:rPr kumimoji="0" lang="tr-TR" altLang="tr-TR" sz="3600" b="0" i="0" u="none" strike="noStrike" cap="none" normalizeH="0" baseline="0" dirty="0" smtClean="0">
                <a:ln>
                  <a:noFill/>
                </a:ln>
                <a:solidFill>
                  <a:srgbClr val="6AAB73"/>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mantiksal1 : </a:t>
            </a:r>
            <a:r>
              <a:rPr kumimoji="0" lang="tr-TR" altLang="tr-TR" sz="3600" b="0" i="0" u="none" strike="noStrike" cap="none" normalizeH="0" baseline="0" dirty="0" err="1" smtClean="0">
                <a:ln>
                  <a:noFill/>
                </a:ln>
                <a:solidFill>
                  <a:srgbClr val="BCBEC4"/>
                </a:solidFill>
                <a:effectLst/>
                <a:latin typeface="JetBrains Mono"/>
              </a:rPr>
              <a:t>Boolean</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err="1" smtClean="0">
                <a:ln>
                  <a:noFill/>
                </a:ln>
                <a:solidFill>
                  <a:srgbClr val="CF8E6D"/>
                </a:solidFill>
                <a:effectLst/>
                <a:latin typeface="JetBrains Mono"/>
              </a:rPr>
              <a:t>true</a:t>
            </a:r>
            <a:r>
              <a:rPr kumimoji="0" lang="tr-TR" altLang="tr-TR" sz="3600" b="0" i="0" u="none" strike="noStrike" cap="none" normalizeH="0" baseline="0" dirty="0" smtClean="0">
                <a:ln>
                  <a:noFill/>
                </a:ln>
                <a:solidFill>
                  <a:srgbClr val="CF8E6D"/>
                </a:solidFill>
                <a:effectLst/>
                <a:latin typeface="JetBrains Mono"/>
              </a:rPr>
              <a:t/>
            </a:r>
            <a:br>
              <a:rPr kumimoji="0" lang="tr-TR" altLang="tr-TR" sz="3600" b="0" i="0" u="none" strike="noStrike" cap="none" normalizeH="0" baseline="0" dirty="0" smtClean="0">
                <a:ln>
                  <a:noFill/>
                </a:ln>
                <a:solidFill>
                  <a:srgbClr val="CF8E6D"/>
                </a:solidFill>
                <a:effectLst/>
                <a:latin typeface="JetBrains Mono"/>
              </a:rPr>
            </a:br>
            <a:r>
              <a:rPr kumimoji="0" lang="tr-TR" altLang="tr-TR" sz="3600" b="0" i="0" u="none" strike="noStrike" cap="none" normalizeH="0" baseline="0" dirty="0" err="1" smtClean="0">
                <a:ln>
                  <a:noFill/>
                </a:ln>
                <a:solidFill>
                  <a:srgbClr val="CF8E6D"/>
                </a:solidFill>
                <a:effectLst/>
                <a:latin typeface="JetBrains Mono"/>
              </a:rPr>
              <a:t>val</a:t>
            </a:r>
            <a:r>
              <a:rPr kumimoji="0" lang="tr-TR" altLang="tr-TR" sz="3600" b="0" i="0" u="none" strike="noStrike" cap="none" normalizeH="0" baseline="0" dirty="0" smtClean="0">
                <a:ln>
                  <a:noFill/>
                </a:ln>
                <a:solidFill>
                  <a:srgbClr val="CF8E6D"/>
                </a:solidFill>
                <a:effectLst/>
                <a:latin typeface="JetBrains Mono"/>
              </a:rPr>
              <a:t> </a:t>
            </a:r>
            <a:r>
              <a:rPr kumimoji="0" lang="tr-TR" altLang="tr-TR" sz="3600" b="0" i="0" u="none" strike="noStrike" cap="none" normalizeH="0" baseline="0" dirty="0" smtClean="0">
                <a:ln>
                  <a:noFill/>
                </a:ln>
                <a:solidFill>
                  <a:srgbClr val="BCBEC4"/>
                </a:solidFill>
                <a:effectLst/>
                <a:latin typeface="JetBrains Mono"/>
              </a:rPr>
              <a:t>sabit1 : </a:t>
            </a:r>
            <a:r>
              <a:rPr kumimoji="0" lang="tr-TR" altLang="tr-TR" sz="3600" b="0" i="0" u="none" strike="noStrike" cap="none" normalizeH="0" baseline="0" dirty="0" err="1" smtClean="0">
                <a:ln>
                  <a:noFill/>
                </a:ln>
                <a:solidFill>
                  <a:srgbClr val="BCBEC4"/>
                </a:solidFill>
                <a:effectLst/>
                <a:latin typeface="JetBrains Mono"/>
              </a:rPr>
              <a:t>Double</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2AACB8"/>
                </a:solidFill>
                <a:effectLst/>
                <a:latin typeface="JetBrains Mono"/>
              </a:rPr>
              <a:t>3.14</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4967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a:t> </a:t>
            </a:r>
            <a:r>
              <a:rPr lang="tr-TR" sz="3600" dirty="0" smtClean="0"/>
              <a:t>tür dönüşümü için ilgili değişken adı yazıldıktan sonra ‘.’ ile istenen </a:t>
            </a:r>
            <a:r>
              <a:rPr lang="tr-TR" sz="3600" dirty="0" err="1" smtClean="0"/>
              <a:t>to</a:t>
            </a:r>
            <a:r>
              <a:rPr lang="tr-TR" sz="3600" dirty="0" smtClean="0"/>
              <a:t> fonksiyonu çağrılabilir.</a:t>
            </a:r>
            <a:endParaRPr lang="tr-TR" sz="3600" dirty="0"/>
          </a:p>
        </p:txBody>
      </p:sp>
      <p:sp>
        <p:nvSpPr>
          <p:cNvPr id="5" name="Rectangle 1"/>
          <p:cNvSpPr>
            <a:spLocks noChangeArrowheads="1"/>
          </p:cNvSpPr>
          <p:nvPr/>
        </p:nvSpPr>
        <p:spPr bwMode="auto">
          <a:xfrm>
            <a:off x="2906665" y="3466237"/>
            <a:ext cx="6378669" cy="1754326"/>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yas_string</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smtClean="0">
                <a:ln>
                  <a:noFill/>
                </a:ln>
                <a:solidFill>
                  <a:srgbClr val="6AAB73"/>
                </a:solidFill>
                <a:effectLst/>
                <a:latin typeface="JetBrains Mono"/>
              </a:rPr>
              <a:t>"25"</a:t>
            </a:r>
            <a:br>
              <a:rPr kumimoji="0" lang="tr-TR" altLang="tr-TR" sz="3600" b="0" i="0" u="none" strike="noStrike" cap="none" normalizeH="0" baseline="0" dirty="0" smtClean="0">
                <a:ln>
                  <a:noFill/>
                </a:ln>
                <a:solidFill>
                  <a:srgbClr val="6AAB73"/>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yas_int</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0" u="none" strike="noStrike" cap="none" normalizeH="0" baseline="0" dirty="0" err="1" smtClean="0">
                <a:ln>
                  <a:noFill/>
                </a:ln>
                <a:solidFill>
                  <a:srgbClr val="BCBEC4"/>
                </a:solidFill>
                <a:effectLst/>
                <a:latin typeface="JetBrains Mono"/>
              </a:rPr>
              <a:t>yas_string.</a:t>
            </a:r>
            <a:r>
              <a:rPr kumimoji="0" lang="tr-TR" altLang="tr-TR" sz="3600" b="0" i="1" u="none" strike="noStrike" cap="none" normalizeH="0" baseline="0" dirty="0" err="1" smtClean="0">
                <a:ln>
                  <a:noFill/>
                </a:ln>
                <a:solidFill>
                  <a:srgbClr val="57AAF7"/>
                </a:solidFill>
                <a:effectLst/>
                <a:latin typeface="JetBrains Mono"/>
              </a:rPr>
              <a:t>toInt</a:t>
            </a:r>
            <a:r>
              <a:rPr kumimoji="0" lang="tr-TR" altLang="tr-TR" sz="3600" b="0" i="0" u="none" strike="noStrike" cap="none" normalizeH="0" baseline="0" dirty="0" smtClean="0">
                <a:ln>
                  <a:noFill/>
                </a:ln>
                <a:solidFill>
                  <a:srgbClr val="BCBEC4"/>
                </a:solidFill>
                <a:effectLst/>
                <a:latin typeface="JetBrains Mono"/>
              </a:rPr>
              <a:t>()</a:t>
            </a:r>
            <a:br>
              <a:rPr kumimoji="0" lang="tr-TR" altLang="tr-TR" sz="3600" b="0" i="0" u="none" strike="noStrike" cap="none" normalizeH="0" baseline="0" dirty="0" smtClean="0">
                <a:ln>
                  <a:noFill/>
                </a:ln>
                <a:solidFill>
                  <a:srgbClr val="BCBEC4"/>
                </a:solidFill>
                <a:effectLst/>
                <a:latin typeface="JetBrains Mono"/>
              </a:rPr>
            </a:br>
            <a:r>
              <a:rPr kumimoji="0" lang="tr-TR" altLang="tr-TR" sz="3600" b="0" i="1" u="none" strike="noStrike" cap="none" normalizeH="0" baseline="0" dirty="0" err="1" smtClean="0">
                <a:ln>
                  <a:noFill/>
                </a:ln>
                <a:solidFill>
                  <a:srgbClr val="BCBEC4"/>
                </a:solidFill>
                <a:effectLst/>
                <a:latin typeface="JetBrains Mono"/>
              </a:rPr>
              <a:t>println</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err="1" smtClean="0">
                <a:ln>
                  <a:noFill/>
                </a:ln>
                <a:solidFill>
                  <a:srgbClr val="BCBEC4"/>
                </a:solidFill>
                <a:effectLst/>
                <a:latin typeface="JetBrains Mono"/>
              </a:rPr>
              <a:t>yas_int</a:t>
            </a:r>
            <a:r>
              <a:rPr kumimoji="0" lang="tr-TR" altLang="tr-TR" sz="3600" b="0" i="0" u="none" strike="noStrike" cap="none" normalizeH="0" baseline="0" dirty="0" smtClean="0">
                <a:ln>
                  <a:noFill/>
                </a:ln>
                <a:solidFill>
                  <a:srgbClr val="BCBEC4"/>
                </a:solidFill>
                <a:effectLst/>
                <a:latin typeface="JetBrains Mono"/>
              </a:rPr>
              <a:t>)</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61505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a:t> </a:t>
            </a:r>
            <a:r>
              <a:rPr lang="tr-TR" sz="3600" dirty="0" smtClean="0"/>
              <a:t>‘</a:t>
            </a:r>
            <a:r>
              <a:rPr lang="tr-TR" sz="3600" dirty="0" err="1" smtClean="0"/>
              <a:t>arrayOf</a:t>
            </a:r>
            <a:r>
              <a:rPr lang="tr-TR" sz="3600" dirty="0" smtClean="0"/>
              <a:t>’ kodu ile dizi(</a:t>
            </a:r>
            <a:r>
              <a:rPr lang="tr-TR" sz="3600" dirty="0" err="1" smtClean="0"/>
              <a:t>array</a:t>
            </a:r>
            <a:r>
              <a:rPr lang="tr-TR" sz="3600" dirty="0" smtClean="0"/>
              <a:t>) tanımlanabilir.</a:t>
            </a:r>
            <a:endParaRPr lang="tr-TR" sz="3600" dirty="0"/>
          </a:p>
        </p:txBody>
      </p:sp>
      <p:sp>
        <p:nvSpPr>
          <p:cNvPr id="6" name="Rectangle 2"/>
          <p:cNvSpPr>
            <a:spLocks noChangeArrowheads="1"/>
          </p:cNvSpPr>
          <p:nvPr/>
        </p:nvSpPr>
        <p:spPr bwMode="auto">
          <a:xfrm>
            <a:off x="723375" y="3004599"/>
            <a:ext cx="10745249" cy="2308324"/>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isimler = </a:t>
            </a:r>
            <a:r>
              <a:rPr kumimoji="0" lang="tr-TR" altLang="tr-TR" sz="3600" b="0" i="1" u="none" strike="noStrike" cap="none" normalizeH="0" baseline="0" dirty="0" err="1" smtClean="0">
                <a:ln>
                  <a:noFill/>
                </a:ln>
                <a:solidFill>
                  <a:srgbClr val="BCBEC4"/>
                </a:solidFill>
                <a:effectLst/>
                <a:latin typeface="JetBrains Mono"/>
              </a:rPr>
              <a:t>arrayOf</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smtClean="0">
                <a:ln>
                  <a:noFill/>
                </a:ln>
                <a:solidFill>
                  <a:srgbClr val="6AAB73"/>
                </a:solidFill>
                <a:effectLst/>
                <a:latin typeface="JetBrains Mono"/>
              </a:rPr>
              <a:t>"Zafer"</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6AAB73"/>
                </a:solidFill>
                <a:effectLst/>
                <a:latin typeface="JetBrains Mono"/>
              </a:rPr>
              <a:t>"Ahmet"</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6AAB73"/>
                </a:solidFill>
                <a:effectLst/>
                <a:latin typeface="JetBrains Mono"/>
              </a:rPr>
              <a:t>"Mehmet"</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5</a:t>
            </a:r>
            <a:r>
              <a:rPr kumimoji="0" lang="tr-TR" altLang="tr-TR" sz="3600" b="0" i="0" u="none" strike="noStrike" cap="none" normalizeH="0" baseline="0" dirty="0" smtClean="0">
                <a:ln>
                  <a:noFill/>
                </a:ln>
                <a:solidFill>
                  <a:srgbClr val="BCBEC4"/>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1" u="none" strike="noStrike" cap="none" normalizeH="0" baseline="0" dirty="0" err="1" smtClean="0">
                <a:ln>
                  <a:noFill/>
                </a:ln>
                <a:solidFill>
                  <a:srgbClr val="BCBEC4"/>
                </a:solidFill>
                <a:effectLst/>
                <a:latin typeface="JetBrains Mono"/>
              </a:rPr>
              <a:t>println</a:t>
            </a:r>
            <a:r>
              <a:rPr kumimoji="0" lang="tr-TR" altLang="tr-TR" sz="3600" b="0" i="0" u="none" strike="noStrike" cap="none" normalizeH="0" baseline="0" dirty="0" smtClean="0">
                <a:ln>
                  <a:noFill/>
                </a:ln>
                <a:solidFill>
                  <a:srgbClr val="BCBEC4"/>
                </a:solidFill>
                <a:effectLst/>
                <a:latin typeface="JetBrains Mono"/>
              </a:rPr>
              <a:t>(isimler[</a:t>
            </a:r>
            <a:r>
              <a:rPr kumimoji="0" lang="tr-TR" altLang="tr-TR" sz="3600" b="0" i="0" u="none" strike="noStrike" cap="none" normalizeH="0" baseline="0" dirty="0" smtClean="0">
                <a:ln>
                  <a:noFill/>
                </a:ln>
                <a:solidFill>
                  <a:srgbClr val="2AACB8"/>
                </a:solidFill>
                <a:effectLst/>
                <a:latin typeface="JetBrains Mono"/>
              </a:rPr>
              <a:t>3</a:t>
            </a:r>
            <a:r>
              <a:rPr kumimoji="0" lang="tr-TR" altLang="tr-TR" sz="3600" b="0" i="0" u="none" strike="noStrike" cap="none" normalizeH="0" baseline="0" dirty="0" smtClean="0">
                <a:ln>
                  <a:noFill/>
                </a:ln>
                <a:solidFill>
                  <a:srgbClr val="BCBEC4"/>
                </a:solidFill>
                <a:effectLst/>
                <a:latin typeface="JetBrains Mono"/>
              </a:rPr>
              <a:t>])</a:t>
            </a:r>
            <a:br>
              <a:rPr kumimoji="0" lang="tr-TR" altLang="tr-TR" sz="3600" b="0" i="0" u="none" strike="noStrike" cap="none" normalizeH="0" baseline="0" dirty="0" smtClean="0">
                <a:ln>
                  <a:noFill/>
                </a:ln>
                <a:solidFill>
                  <a:srgbClr val="BCBEC4"/>
                </a:solidFill>
                <a:effectLst/>
                <a:latin typeface="JetBrains Mono"/>
              </a:rPr>
            </a:br>
            <a:r>
              <a:rPr kumimoji="0" lang="tr-TR" altLang="tr-TR" sz="3600" b="0" i="0" u="none" strike="noStrike" cap="none" normalizeH="0" baseline="0" dirty="0" smtClean="0">
                <a:ln>
                  <a:noFill/>
                </a:ln>
                <a:solidFill>
                  <a:srgbClr val="BCBEC4"/>
                </a:solidFill>
                <a:effectLst/>
                <a:latin typeface="JetBrains Mono"/>
              </a:rPr>
              <a:t/>
            </a:r>
            <a:br>
              <a:rPr kumimoji="0" lang="tr-TR" altLang="tr-TR" sz="3600" b="0" i="0" u="none" strike="noStrike" cap="none" normalizeH="0" baseline="0" dirty="0" smtClean="0">
                <a:ln>
                  <a:noFill/>
                </a:ln>
                <a:solidFill>
                  <a:srgbClr val="BCBEC4"/>
                </a:solidFill>
                <a:effectLst/>
                <a:latin typeface="JetBrains Mono"/>
              </a:rPr>
            </a:b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yaslar = </a:t>
            </a:r>
            <a:r>
              <a:rPr kumimoji="0" lang="tr-TR" altLang="tr-TR" sz="3600" b="0" i="1" u="none" strike="noStrike" cap="none" normalizeH="0" baseline="0" dirty="0" err="1" smtClean="0">
                <a:ln>
                  <a:noFill/>
                </a:ln>
                <a:solidFill>
                  <a:srgbClr val="BCBEC4"/>
                </a:solidFill>
                <a:effectLst/>
                <a:latin typeface="JetBrains Mono"/>
              </a:rPr>
              <a:t>arrayOf</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smtClean="0">
                <a:ln>
                  <a:noFill/>
                </a:ln>
                <a:solidFill>
                  <a:srgbClr val="6AAB73"/>
                </a:solidFill>
                <a:effectLst/>
                <a:latin typeface="JetBrains Mono"/>
              </a:rPr>
              <a:t>"Test"</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err="1" smtClean="0">
                <a:ln>
                  <a:noFill/>
                </a:ln>
                <a:solidFill>
                  <a:srgbClr val="CF8E6D"/>
                </a:solidFill>
                <a:effectLst/>
                <a:latin typeface="JetBrains Mono"/>
              </a:rPr>
              <a:t>true</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25</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35</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23</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42</a:t>
            </a:r>
            <a:r>
              <a:rPr kumimoji="0" lang="tr-TR" altLang="tr-TR" sz="3600" b="0" i="0" u="none" strike="noStrike" cap="none" normalizeH="0" baseline="0" dirty="0" smtClean="0">
                <a:ln>
                  <a:noFill/>
                </a:ln>
                <a:solidFill>
                  <a:srgbClr val="BCBEC4"/>
                </a:solidFill>
                <a:effectLst/>
                <a:latin typeface="JetBrains Mono"/>
              </a:rPr>
              <a:t>)</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561468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a:t> </a:t>
            </a:r>
            <a:r>
              <a:rPr lang="tr-TR" sz="3600" dirty="0" smtClean="0"/>
              <a:t>‘</a:t>
            </a:r>
            <a:r>
              <a:rPr lang="tr-TR" sz="3600" dirty="0" err="1" smtClean="0"/>
              <a:t>arrayListOf</a:t>
            </a:r>
            <a:r>
              <a:rPr lang="tr-TR" sz="3600" dirty="0" smtClean="0"/>
              <a:t>’ kodu ile liste(</a:t>
            </a:r>
            <a:r>
              <a:rPr lang="tr-TR" sz="3600" dirty="0" err="1" smtClean="0"/>
              <a:t>list</a:t>
            </a:r>
            <a:r>
              <a:rPr lang="tr-TR" sz="3600" dirty="0" smtClean="0"/>
              <a:t>) tanımlanabilir.</a:t>
            </a:r>
            <a:endParaRPr lang="tr-TR" sz="3600" dirty="0"/>
          </a:p>
        </p:txBody>
      </p:sp>
      <p:sp>
        <p:nvSpPr>
          <p:cNvPr id="4" name="Rectangle 1"/>
          <p:cNvSpPr>
            <a:spLocks noChangeArrowheads="1"/>
          </p:cNvSpPr>
          <p:nvPr/>
        </p:nvSpPr>
        <p:spPr bwMode="auto">
          <a:xfrm>
            <a:off x="1601821" y="3079457"/>
            <a:ext cx="8988358" cy="646331"/>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smtClean="0">
                <a:ln>
                  <a:noFill/>
                </a:ln>
                <a:solidFill>
                  <a:srgbClr val="BCBEC4"/>
                </a:solidFill>
                <a:effectLst/>
                <a:latin typeface="JetBrains Mono"/>
              </a:rPr>
              <a:t>liste = </a:t>
            </a:r>
            <a:r>
              <a:rPr kumimoji="0" lang="tr-TR" altLang="tr-TR" sz="3600" b="0" i="1" u="none" strike="noStrike" cap="none" normalizeH="0" baseline="0" dirty="0" err="1" smtClean="0">
                <a:ln>
                  <a:noFill/>
                </a:ln>
                <a:solidFill>
                  <a:srgbClr val="BCBEC4"/>
                </a:solidFill>
                <a:effectLst/>
                <a:latin typeface="JetBrains Mono"/>
              </a:rPr>
              <a:t>arrayListOf</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smtClean="0">
                <a:ln>
                  <a:noFill/>
                </a:ln>
                <a:solidFill>
                  <a:srgbClr val="6AAB73"/>
                </a:solidFill>
                <a:effectLst/>
                <a:latin typeface="JetBrains Mono"/>
              </a:rPr>
              <a:t>"Zafer"</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25</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err="1" smtClean="0">
                <a:ln>
                  <a:noFill/>
                </a:ln>
                <a:solidFill>
                  <a:srgbClr val="CF8E6D"/>
                </a:solidFill>
                <a:effectLst/>
                <a:latin typeface="JetBrains Mono"/>
              </a:rPr>
              <a:t>true</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2.5</a:t>
            </a:r>
            <a:r>
              <a:rPr kumimoji="0" lang="tr-TR" altLang="tr-TR" sz="3600" b="0" i="0" u="none" strike="noStrike" cap="none" normalizeH="0" baseline="0" dirty="0" smtClean="0">
                <a:ln>
                  <a:noFill/>
                </a:ln>
                <a:solidFill>
                  <a:srgbClr val="BCBEC4"/>
                </a:solidFill>
                <a:effectLst/>
                <a:latin typeface="JetBrains Mono"/>
              </a:rPr>
              <a:t>)</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00296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a:t> </a:t>
            </a:r>
            <a:r>
              <a:rPr lang="tr-TR" sz="3600" dirty="0" smtClean="0"/>
              <a:t>‘</a:t>
            </a:r>
            <a:r>
              <a:rPr lang="tr-TR" sz="3600" dirty="0" err="1" smtClean="0"/>
              <a:t>setOf</a:t>
            </a:r>
            <a:r>
              <a:rPr lang="tr-TR" sz="3600" dirty="0" smtClean="0"/>
              <a:t>’ kodu ile küme(set) tanımlanabilir. Tekrarlayan değerler sadece 1 kez yazılır.</a:t>
            </a:r>
            <a:endParaRPr lang="tr-TR" sz="3600" dirty="0"/>
          </a:p>
        </p:txBody>
      </p:sp>
      <p:sp>
        <p:nvSpPr>
          <p:cNvPr id="5" name="Rectangle 1"/>
          <p:cNvSpPr>
            <a:spLocks noChangeArrowheads="1"/>
          </p:cNvSpPr>
          <p:nvPr/>
        </p:nvSpPr>
        <p:spPr bwMode="auto">
          <a:xfrm>
            <a:off x="2291112" y="3765649"/>
            <a:ext cx="7609776" cy="646331"/>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600" b="0" i="0" u="none" strike="noStrike" cap="none" normalizeH="0" baseline="0" dirty="0" smtClean="0">
                <a:ln>
                  <a:noFill/>
                </a:ln>
                <a:solidFill>
                  <a:srgbClr val="CF8E6D"/>
                </a:solidFill>
                <a:effectLst/>
                <a:latin typeface="JetBrains Mono"/>
              </a:rPr>
              <a:t>var </a:t>
            </a:r>
            <a:r>
              <a:rPr kumimoji="0" lang="tr-TR" altLang="tr-TR" sz="3600" b="0" i="0" u="none" strike="noStrike" cap="none" normalizeH="0" baseline="0" dirty="0" err="1" smtClean="0">
                <a:ln>
                  <a:noFill/>
                </a:ln>
                <a:solidFill>
                  <a:srgbClr val="BCBEC4"/>
                </a:solidFill>
                <a:effectLst/>
                <a:latin typeface="JetBrains Mono"/>
              </a:rPr>
              <a:t>kume</a:t>
            </a:r>
            <a:r>
              <a:rPr kumimoji="0" lang="tr-TR" altLang="tr-TR" sz="3600" b="0" i="0" u="none" strike="noStrike" cap="none" normalizeH="0" baseline="0" dirty="0" smtClean="0">
                <a:ln>
                  <a:noFill/>
                </a:ln>
                <a:solidFill>
                  <a:srgbClr val="BCBEC4"/>
                </a:solidFill>
                <a:effectLst/>
                <a:latin typeface="JetBrains Mono"/>
              </a:rPr>
              <a:t> = </a:t>
            </a:r>
            <a:r>
              <a:rPr kumimoji="0" lang="tr-TR" altLang="tr-TR" sz="3600" b="0" i="1" u="none" strike="noStrike" cap="none" normalizeH="0" baseline="0" dirty="0" err="1" smtClean="0">
                <a:ln>
                  <a:noFill/>
                </a:ln>
                <a:solidFill>
                  <a:srgbClr val="BCBEC4"/>
                </a:solidFill>
                <a:effectLst/>
                <a:latin typeface="JetBrains Mono"/>
              </a:rPr>
              <a:t>setOf</a:t>
            </a:r>
            <a:r>
              <a:rPr kumimoji="0" lang="tr-TR" altLang="tr-TR" sz="3600" b="0" i="0" u="none" strike="noStrike" cap="none" normalizeH="0" baseline="0" dirty="0" smtClean="0">
                <a:ln>
                  <a:noFill/>
                </a:ln>
                <a:solidFill>
                  <a:srgbClr val="BCBEC4"/>
                </a:solidFill>
                <a:effectLst/>
                <a:latin typeface="JetBrains Mono"/>
              </a:rPr>
              <a:t>(</a:t>
            </a:r>
            <a:r>
              <a:rPr kumimoji="0" lang="tr-TR" altLang="tr-TR" sz="3600" b="0" i="0" u="none" strike="noStrike" cap="none" normalizeH="0" baseline="0" dirty="0" smtClean="0">
                <a:ln>
                  <a:noFill/>
                </a:ln>
                <a:solidFill>
                  <a:srgbClr val="2AACB8"/>
                </a:solidFill>
                <a:effectLst/>
                <a:latin typeface="JetBrains Mono"/>
              </a:rPr>
              <a:t>10</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10</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10</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20</a:t>
            </a:r>
            <a:r>
              <a:rPr kumimoji="0" lang="tr-TR" altLang="tr-TR" sz="3600" b="0" i="0" u="none" strike="noStrike" cap="none" normalizeH="0" baseline="0" dirty="0" smtClean="0">
                <a:ln>
                  <a:noFill/>
                </a:ln>
                <a:solidFill>
                  <a:srgbClr val="BCBEC4"/>
                </a:solidFill>
                <a:effectLst/>
                <a:latin typeface="JetBrains Mono"/>
              </a:rPr>
              <a:t>, </a:t>
            </a:r>
            <a:r>
              <a:rPr kumimoji="0" lang="tr-TR" altLang="tr-TR" sz="3600" b="0" i="0" u="none" strike="noStrike" cap="none" normalizeH="0" baseline="0" dirty="0" smtClean="0">
                <a:ln>
                  <a:noFill/>
                </a:ln>
                <a:solidFill>
                  <a:srgbClr val="2AACB8"/>
                </a:solidFill>
                <a:effectLst/>
                <a:latin typeface="JetBrains Mono"/>
              </a:rPr>
              <a:t>30</a:t>
            </a:r>
            <a:r>
              <a:rPr kumimoji="0" lang="tr-TR" altLang="tr-TR" sz="3600" b="0" i="0" u="none" strike="noStrike" cap="none" normalizeH="0" baseline="0" dirty="0" smtClean="0">
                <a:ln>
                  <a:noFill/>
                </a:ln>
                <a:solidFill>
                  <a:srgbClr val="BCBEC4"/>
                </a:solidFill>
                <a:effectLst/>
                <a:latin typeface="JetBrains Mono"/>
              </a:rPr>
              <a:t>)</a:t>
            </a:r>
            <a:endParaRPr kumimoji="0" lang="tr-TR" altLang="tr-TR" sz="3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39166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KOTLİN TEMELLERİ</a:t>
            </a:r>
            <a:endParaRPr lang="tr-TR" dirty="0"/>
          </a:p>
        </p:txBody>
      </p:sp>
      <p:sp>
        <p:nvSpPr>
          <p:cNvPr id="3" name="İçerik Yer Tutucusu 2"/>
          <p:cNvSpPr>
            <a:spLocks noGrp="1"/>
          </p:cNvSpPr>
          <p:nvPr>
            <p:ph idx="1"/>
          </p:nvPr>
        </p:nvSpPr>
        <p:spPr/>
        <p:txBody>
          <a:bodyPr rtlCol="0">
            <a:normAutofit/>
          </a:bodyPr>
          <a:lstStyle/>
          <a:p>
            <a:pPr algn="just"/>
            <a:r>
              <a:rPr lang="tr-TR" sz="3600" dirty="0" err="1" smtClean="0"/>
              <a:t>Kotlin’de</a:t>
            </a:r>
            <a:r>
              <a:rPr lang="tr-TR" sz="3600" dirty="0"/>
              <a:t> </a:t>
            </a:r>
            <a:r>
              <a:rPr lang="tr-TR" sz="3600" dirty="0" smtClean="0"/>
              <a:t>‘</a:t>
            </a:r>
            <a:r>
              <a:rPr lang="tr-TR" sz="3600" dirty="0" err="1" smtClean="0"/>
              <a:t>mapOf</a:t>
            </a:r>
            <a:r>
              <a:rPr lang="tr-TR" sz="3600" dirty="0" smtClean="0"/>
              <a:t>’ kodu ile sözlük(</a:t>
            </a:r>
            <a:r>
              <a:rPr lang="tr-TR" sz="3600" dirty="0" err="1" smtClean="0"/>
              <a:t>map</a:t>
            </a:r>
            <a:r>
              <a:rPr lang="tr-TR" sz="3600" dirty="0" smtClean="0"/>
              <a:t>) tanımlanabilir. </a:t>
            </a:r>
            <a:r>
              <a:rPr lang="tr-TR" sz="3600" dirty="0" err="1" smtClean="0"/>
              <a:t>Key</a:t>
            </a:r>
            <a:r>
              <a:rPr lang="tr-TR" sz="3600" dirty="0" smtClean="0"/>
              <a:t>-Value(anahtar-değer) ilişkisi ile birden çok elemanlı yapı oluşturmayı sağlar.</a:t>
            </a:r>
            <a:endParaRPr lang="tr-TR" sz="3600" dirty="0"/>
          </a:p>
        </p:txBody>
      </p:sp>
      <p:sp>
        <p:nvSpPr>
          <p:cNvPr id="4" name="Rectangle 1"/>
          <p:cNvSpPr>
            <a:spLocks noChangeArrowheads="1"/>
          </p:cNvSpPr>
          <p:nvPr/>
        </p:nvSpPr>
        <p:spPr bwMode="auto">
          <a:xfrm>
            <a:off x="175949" y="4662391"/>
            <a:ext cx="11840101" cy="1077218"/>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3200" b="0" i="0" u="none" strike="noStrike" cap="none" normalizeH="0" baseline="0" dirty="0" smtClean="0">
                <a:ln>
                  <a:noFill/>
                </a:ln>
                <a:solidFill>
                  <a:srgbClr val="CF8E6D"/>
                </a:solidFill>
                <a:effectLst/>
                <a:latin typeface="JetBrains Mono"/>
              </a:rPr>
              <a:t>var </a:t>
            </a:r>
            <a:r>
              <a:rPr kumimoji="0" lang="tr-TR" altLang="tr-TR" sz="3200" b="0" i="0" u="none" strike="noStrike" cap="none" normalizeH="0" baseline="0" dirty="0" err="1" smtClean="0">
                <a:ln>
                  <a:noFill/>
                </a:ln>
                <a:solidFill>
                  <a:srgbClr val="BCBEC4"/>
                </a:solidFill>
                <a:effectLst/>
                <a:latin typeface="JetBrains Mono"/>
              </a:rPr>
              <a:t>kalori_map</a:t>
            </a:r>
            <a:r>
              <a:rPr kumimoji="0" lang="tr-TR" altLang="tr-TR" sz="3200" b="0" i="0" u="none" strike="noStrike" cap="none" normalizeH="0" baseline="0" dirty="0" smtClean="0">
                <a:ln>
                  <a:noFill/>
                </a:ln>
                <a:solidFill>
                  <a:srgbClr val="BCBEC4"/>
                </a:solidFill>
                <a:effectLst/>
                <a:latin typeface="JetBrains Mono"/>
              </a:rPr>
              <a:t> = </a:t>
            </a:r>
            <a:r>
              <a:rPr kumimoji="0" lang="tr-TR" altLang="tr-TR" sz="3200" b="0" i="1" u="none" strike="noStrike" cap="none" normalizeH="0" baseline="0" dirty="0" err="1" smtClean="0">
                <a:ln>
                  <a:noFill/>
                </a:ln>
                <a:solidFill>
                  <a:srgbClr val="BCBEC4"/>
                </a:solidFill>
                <a:effectLst/>
                <a:latin typeface="JetBrains Mono"/>
              </a:rPr>
              <a:t>mapOf</a:t>
            </a:r>
            <a:r>
              <a:rPr kumimoji="0" lang="tr-TR" altLang="tr-TR" sz="3200" b="0" i="0" u="none" strike="noStrike" cap="none" normalizeH="0" baseline="0" dirty="0" smtClean="0">
                <a:ln>
                  <a:noFill/>
                </a:ln>
                <a:solidFill>
                  <a:srgbClr val="BCBEC4"/>
                </a:solidFill>
                <a:effectLst/>
                <a:latin typeface="JetBrains Mono"/>
              </a:rPr>
              <a:t>(</a:t>
            </a:r>
            <a:r>
              <a:rPr kumimoji="0" lang="tr-TR" altLang="tr-TR" sz="3200" b="0" i="0" u="none" strike="noStrike" cap="none" normalizeH="0" baseline="0" dirty="0" smtClean="0">
                <a:ln>
                  <a:noFill/>
                </a:ln>
                <a:solidFill>
                  <a:srgbClr val="6AAB73"/>
                </a:solidFill>
                <a:effectLst/>
                <a:latin typeface="JetBrains Mono"/>
              </a:rPr>
              <a:t>"elma" </a:t>
            </a:r>
            <a:r>
              <a:rPr kumimoji="0" lang="tr-TR" altLang="tr-TR" sz="3200" b="0" i="1" u="none" strike="noStrike" cap="none" normalizeH="0" baseline="0" dirty="0" err="1" smtClean="0">
                <a:ln>
                  <a:noFill/>
                </a:ln>
                <a:solidFill>
                  <a:srgbClr val="57AAF7"/>
                </a:solidFill>
                <a:effectLst/>
                <a:latin typeface="JetBrains Mono"/>
              </a:rPr>
              <a:t>to</a:t>
            </a:r>
            <a:r>
              <a:rPr kumimoji="0" lang="tr-TR" altLang="tr-TR" sz="3200" b="0" i="1" u="none" strike="noStrike" cap="none" normalizeH="0" baseline="0" dirty="0" smtClean="0">
                <a:ln>
                  <a:noFill/>
                </a:ln>
                <a:solidFill>
                  <a:srgbClr val="57AAF7"/>
                </a:solidFill>
                <a:effectLst/>
                <a:latin typeface="JetBrains Mono"/>
              </a:rPr>
              <a:t> </a:t>
            </a:r>
            <a:r>
              <a:rPr kumimoji="0" lang="tr-TR" altLang="tr-TR" sz="3200" b="0" i="0" u="none" strike="noStrike" cap="none" normalizeH="0" baseline="0" dirty="0" smtClean="0">
                <a:ln>
                  <a:noFill/>
                </a:ln>
                <a:solidFill>
                  <a:srgbClr val="2AACB8"/>
                </a:solidFill>
                <a:effectLst/>
                <a:latin typeface="JetBrains Mono"/>
              </a:rPr>
              <a:t>100</a:t>
            </a:r>
            <a:r>
              <a:rPr kumimoji="0" lang="tr-TR" altLang="tr-TR" sz="3200" b="0" i="0" u="none" strike="noStrike" cap="none" normalizeH="0" baseline="0" dirty="0" smtClean="0">
                <a:ln>
                  <a:noFill/>
                </a:ln>
                <a:solidFill>
                  <a:srgbClr val="BCBEC4"/>
                </a:solidFill>
                <a:effectLst/>
                <a:latin typeface="JetBrains Mono"/>
              </a:rPr>
              <a:t>, </a:t>
            </a:r>
            <a:r>
              <a:rPr kumimoji="0" lang="tr-TR" altLang="tr-TR" sz="3200" b="0" i="0" u="none" strike="noStrike" cap="none" normalizeH="0" baseline="0" dirty="0" smtClean="0">
                <a:ln>
                  <a:noFill/>
                </a:ln>
                <a:solidFill>
                  <a:srgbClr val="6AAB73"/>
                </a:solidFill>
                <a:effectLst/>
                <a:latin typeface="JetBrains Mono"/>
              </a:rPr>
              <a:t>"armut" </a:t>
            </a:r>
            <a:r>
              <a:rPr kumimoji="0" lang="tr-TR" altLang="tr-TR" sz="3200" b="0" i="1" u="none" strike="noStrike" cap="none" normalizeH="0" baseline="0" dirty="0" err="1" smtClean="0">
                <a:ln>
                  <a:noFill/>
                </a:ln>
                <a:solidFill>
                  <a:srgbClr val="57AAF7"/>
                </a:solidFill>
                <a:effectLst/>
                <a:latin typeface="JetBrains Mono"/>
              </a:rPr>
              <a:t>to</a:t>
            </a:r>
            <a:r>
              <a:rPr kumimoji="0" lang="tr-TR" altLang="tr-TR" sz="3200" b="0" i="1" u="none" strike="noStrike" cap="none" normalizeH="0" baseline="0" dirty="0" smtClean="0">
                <a:ln>
                  <a:noFill/>
                </a:ln>
                <a:solidFill>
                  <a:srgbClr val="57AAF7"/>
                </a:solidFill>
                <a:effectLst/>
                <a:latin typeface="JetBrains Mono"/>
              </a:rPr>
              <a:t> </a:t>
            </a:r>
            <a:r>
              <a:rPr kumimoji="0" lang="tr-TR" altLang="tr-TR" sz="3200" b="0" i="0" u="none" strike="noStrike" cap="none" normalizeH="0" baseline="0" dirty="0" smtClean="0">
                <a:ln>
                  <a:noFill/>
                </a:ln>
                <a:solidFill>
                  <a:srgbClr val="2AACB8"/>
                </a:solidFill>
                <a:effectLst/>
                <a:latin typeface="JetBrains Mono"/>
              </a:rPr>
              <a:t>200</a:t>
            </a:r>
            <a:r>
              <a:rPr kumimoji="0" lang="tr-TR" altLang="tr-TR" sz="3200" b="0" i="0" u="none" strike="noStrike" cap="none" normalizeH="0" baseline="0" dirty="0" smtClean="0">
                <a:ln>
                  <a:noFill/>
                </a:ln>
                <a:solidFill>
                  <a:srgbClr val="BCBEC4"/>
                </a:solidFill>
                <a:effectLst/>
                <a:latin typeface="JetBrains Mono"/>
              </a:rPr>
              <a:t>, </a:t>
            </a:r>
            <a:r>
              <a:rPr kumimoji="0" lang="tr-TR" altLang="tr-TR" sz="3200" b="0" i="0" u="none" strike="noStrike" cap="none" normalizeH="0" baseline="0" dirty="0" smtClean="0">
                <a:ln>
                  <a:noFill/>
                </a:ln>
                <a:solidFill>
                  <a:srgbClr val="6AAB73"/>
                </a:solidFill>
                <a:effectLst/>
                <a:latin typeface="JetBrains Mono"/>
              </a:rPr>
              <a:t>"su" </a:t>
            </a:r>
            <a:r>
              <a:rPr kumimoji="0" lang="tr-TR" altLang="tr-TR" sz="3200" b="0" i="1" u="none" strike="noStrike" cap="none" normalizeH="0" baseline="0" dirty="0" err="1" smtClean="0">
                <a:ln>
                  <a:noFill/>
                </a:ln>
                <a:solidFill>
                  <a:srgbClr val="57AAF7"/>
                </a:solidFill>
                <a:effectLst/>
                <a:latin typeface="JetBrains Mono"/>
              </a:rPr>
              <a:t>to</a:t>
            </a:r>
            <a:r>
              <a:rPr kumimoji="0" lang="tr-TR" altLang="tr-TR" sz="3200" b="0" i="1" u="none" strike="noStrike" cap="none" normalizeH="0" baseline="0" dirty="0" smtClean="0">
                <a:ln>
                  <a:noFill/>
                </a:ln>
                <a:solidFill>
                  <a:srgbClr val="57AAF7"/>
                </a:solidFill>
                <a:effectLst/>
                <a:latin typeface="JetBrains Mono"/>
              </a:rPr>
              <a:t> </a:t>
            </a:r>
            <a:r>
              <a:rPr kumimoji="0" lang="tr-TR" altLang="tr-TR" sz="3200" b="0" i="0" u="none" strike="noStrike" cap="none" normalizeH="0" baseline="0" dirty="0" smtClean="0">
                <a:ln>
                  <a:noFill/>
                </a:ln>
                <a:solidFill>
                  <a:srgbClr val="2AACB8"/>
                </a:solidFill>
                <a:effectLst/>
                <a:latin typeface="JetBrains Mono"/>
              </a:rPr>
              <a:t>0</a:t>
            </a:r>
            <a:r>
              <a:rPr kumimoji="0" lang="tr-TR" altLang="tr-TR" sz="3200" b="0" i="0" u="none" strike="noStrike" cap="none" normalizeH="0" baseline="0" dirty="0" smtClean="0">
                <a:ln>
                  <a:noFill/>
                </a:ln>
                <a:solidFill>
                  <a:srgbClr val="BCBEC4"/>
                </a:solidFill>
                <a:effectLst/>
                <a:latin typeface="JetBrains Mono"/>
              </a:rPr>
              <a:t>)</a:t>
            </a:r>
            <a:br>
              <a:rPr kumimoji="0" lang="tr-TR" altLang="tr-TR" sz="3200" b="0" i="0" u="none" strike="noStrike" cap="none" normalizeH="0" baseline="0" dirty="0" smtClean="0">
                <a:ln>
                  <a:noFill/>
                </a:ln>
                <a:solidFill>
                  <a:srgbClr val="BCBEC4"/>
                </a:solidFill>
                <a:effectLst/>
                <a:latin typeface="JetBrains Mono"/>
              </a:rPr>
            </a:br>
            <a:r>
              <a:rPr kumimoji="0" lang="tr-TR" altLang="tr-TR" sz="3200" b="0" i="1" u="none" strike="noStrike" cap="none" normalizeH="0" baseline="0" dirty="0" err="1" smtClean="0">
                <a:ln>
                  <a:noFill/>
                </a:ln>
                <a:solidFill>
                  <a:srgbClr val="BCBEC4"/>
                </a:solidFill>
                <a:effectLst/>
                <a:latin typeface="JetBrains Mono"/>
              </a:rPr>
              <a:t>println</a:t>
            </a:r>
            <a:r>
              <a:rPr kumimoji="0" lang="tr-TR" altLang="tr-TR" sz="3200" b="0" i="0" u="none" strike="noStrike" cap="none" normalizeH="0" baseline="0" dirty="0" smtClean="0">
                <a:ln>
                  <a:noFill/>
                </a:ln>
                <a:solidFill>
                  <a:srgbClr val="BCBEC4"/>
                </a:solidFill>
                <a:effectLst/>
                <a:latin typeface="JetBrains Mono"/>
              </a:rPr>
              <a:t>(</a:t>
            </a:r>
            <a:r>
              <a:rPr kumimoji="0" lang="tr-TR" altLang="tr-TR" sz="3200" b="0" i="0" u="none" strike="noStrike" cap="none" normalizeH="0" baseline="0" dirty="0" err="1" smtClean="0">
                <a:ln>
                  <a:noFill/>
                </a:ln>
                <a:solidFill>
                  <a:srgbClr val="BCBEC4"/>
                </a:solidFill>
                <a:effectLst/>
                <a:latin typeface="JetBrains Mono"/>
              </a:rPr>
              <a:t>kalori_map</a:t>
            </a:r>
            <a:r>
              <a:rPr kumimoji="0" lang="tr-TR" altLang="tr-TR" sz="3200" b="0" i="0" u="none" strike="noStrike" cap="none" normalizeH="0" baseline="0" dirty="0" smtClean="0">
                <a:ln>
                  <a:noFill/>
                </a:ln>
                <a:solidFill>
                  <a:srgbClr val="BCBEC4"/>
                </a:solidFill>
                <a:effectLst/>
                <a:latin typeface="JetBrains Mono"/>
              </a:rPr>
              <a:t>[</a:t>
            </a:r>
            <a:r>
              <a:rPr kumimoji="0" lang="tr-TR" altLang="tr-TR" sz="3200" b="0" i="0" u="none" strike="noStrike" cap="none" normalizeH="0" baseline="0" dirty="0" smtClean="0">
                <a:ln>
                  <a:noFill/>
                </a:ln>
                <a:solidFill>
                  <a:srgbClr val="6AAB73"/>
                </a:solidFill>
                <a:effectLst/>
                <a:latin typeface="JetBrains Mono"/>
              </a:rPr>
              <a:t>"elma"</a:t>
            </a:r>
            <a:r>
              <a:rPr kumimoji="0" lang="tr-TR" altLang="tr-TR" sz="3200" b="0" i="0" u="none" strike="noStrike" cap="none" normalizeH="0" baseline="0" dirty="0" smtClean="0">
                <a:ln>
                  <a:noFill/>
                </a:ln>
                <a:solidFill>
                  <a:srgbClr val="BCBEC4"/>
                </a:solidFill>
                <a:effectLst/>
                <a:latin typeface="JetBrains Mono"/>
              </a:rPr>
              <a:t>])</a:t>
            </a:r>
            <a:endParaRPr kumimoji="0" lang="tr-TR" altLang="tr-TR" sz="32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99928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ğitim sunusu">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extLst>
    <a:ext uri="{05A4C25C-085E-4340-85A3-A5531E510DB2}">
      <thm15:themeFamily xmlns:thm15="http://schemas.microsoft.com/office/thememl/2012/main" name="Office_16225310_TF03460604" id="{F6EFC989-8B6A-426D-8CC8-42909735A4A0}" vid="{6F0D95CE-7106-4C3E-8D98-EE1220DA24E4}"/>
    </a:ext>
  </a:extLst>
</a:theme>
</file>

<file path=ppt/theme/theme2.xml><?xml version="1.0" encoding="utf-8"?>
<a:theme xmlns:a="http://schemas.openxmlformats.org/drawingml/2006/main" name="Ofis Teması">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is Teması">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Eğitim sunusu</Template>
  <TotalTime>1482</TotalTime>
  <Words>2784</Words>
  <Application>Microsoft Office PowerPoint</Application>
  <PresentationFormat>Geniş ekran</PresentationFormat>
  <Paragraphs>194</Paragraphs>
  <Slides>34</Slides>
  <Notes>34</Notes>
  <HiddenSlides>0</HiddenSlides>
  <MMClips>0</MMClips>
  <ScaleCrop>false</ScaleCrop>
  <HeadingPairs>
    <vt:vector size="6" baseType="variant">
      <vt:variant>
        <vt:lpstr>Kullanılan Yazı Tipleri</vt:lpstr>
      </vt:variant>
      <vt:variant>
        <vt:i4>5</vt:i4>
      </vt:variant>
      <vt:variant>
        <vt:lpstr>Tema</vt:lpstr>
      </vt:variant>
      <vt:variant>
        <vt:i4>1</vt:i4>
      </vt:variant>
      <vt:variant>
        <vt:lpstr>Slayt Başlıkları</vt:lpstr>
      </vt:variant>
      <vt:variant>
        <vt:i4>34</vt:i4>
      </vt:variant>
    </vt:vector>
  </HeadingPairs>
  <TitlesOfParts>
    <vt:vector size="40" baseType="lpstr">
      <vt:lpstr>Arial</vt:lpstr>
      <vt:lpstr>Calibri</vt:lpstr>
      <vt:lpstr>Georgia</vt:lpstr>
      <vt:lpstr>JetBrains Mono</vt:lpstr>
      <vt:lpstr>Wingdings 2</vt:lpstr>
      <vt:lpstr>Eğitim sunusu</vt:lpstr>
      <vt:lpstr>Mobil Uygulama Geliştirme</vt:lpstr>
      <vt:lpstr>MOBİL UYGULAMA NEDİR?</vt:lpstr>
      <vt:lpstr>MOBİL UYGULAMA NEDİR?</vt:lpstr>
      <vt:lpstr>NATİVE(YEREL) MOBİL UYGULAMA NEDİR?</vt:lpstr>
      <vt:lpstr>NATİVE(YEREL) MOBİL UYGULAMA NEDİR?</vt:lpstr>
      <vt:lpstr>CROSS PLATFORM MOBİL UYGULAMA NEDİR?</vt:lpstr>
      <vt:lpstr>CROSS PLATFORM MOBİL UYGULAMA NEDİR?</vt:lpstr>
      <vt:lpstr>HİBRİT MOBİL UYGULAMA NEDİR?</vt:lpstr>
      <vt:lpstr>HİBRİT MOBİL UYGULAMA NEDİR?</vt:lpstr>
      <vt:lpstr>MOBİL OYUN GELİŞTİRME</vt:lpstr>
      <vt:lpstr>ANDROİD NEDİR?</vt:lpstr>
      <vt:lpstr>iOS NEDİR?</vt:lpstr>
      <vt:lpstr>KOTLİN NEDİR?</vt:lpstr>
      <vt:lpstr>KOTLİN NEDİR?</vt:lpstr>
      <vt:lpstr>KOTLİN ÖZELLİKLERİ</vt:lpstr>
      <vt:lpstr>KULLANILABİLECEK IDELER</vt:lpstr>
      <vt:lpstr>ANDROİD STUDİO</vt:lpstr>
      <vt:lpstr>ANDROİD SDK NEDİR?</vt:lpstr>
      <vt:lpstr>PROJE OLUŞTURMA</vt:lpstr>
      <vt:lpstr>PROJE OLUŞTURMA</vt:lpstr>
      <vt:lpstr>PROJE OLUŞTURMA</vt:lpstr>
      <vt:lpstr>PROJE OLUŞTURMA</vt:lpstr>
      <vt:lpstr>PROJE OLUŞTURMA</vt:lpstr>
      <vt:lpstr>PROJE KLASÖRLEME YAPISI</vt:lpstr>
      <vt:lpstr>PROJE OLUŞTURMA</vt:lpstr>
      <vt:lpstr>KOTLİN TEMELLERİ</vt:lpstr>
      <vt:lpstr>KOTLİN TEMELLERİ</vt:lpstr>
      <vt:lpstr>KOTLİN TEMELLERİ</vt:lpstr>
      <vt:lpstr>KOTLİN TEMELLERİ</vt:lpstr>
      <vt:lpstr>KOTLİN TEMELLERİ</vt:lpstr>
      <vt:lpstr>KOTLİN TEMELLERİ</vt:lpstr>
      <vt:lpstr>KOTLİN TEMELLERİ</vt:lpstr>
      <vt:lpstr>KOTLİN TEMELLERİ</vt:lpstr>
      <vt:lpstr>KOTLİN TEMELLERİ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Ağ ve Bilişim Güvenliği</dc:title>
  <dc:creator>ZaferS</dc:creator>
  <cp:lastModifiedBy>Zafer</cp:lastModifiedBy>
  <cp:revision>192</cp:revision>
  <dcterms:created xsi:type="dcterms:W3CDTF">2023-12-09T09:03:26Z</dcterms:created>
  <dcterms:modified xsi:type="dcterms:W3CDTF">2024-10-04T08:26:09Z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ies>
</file>