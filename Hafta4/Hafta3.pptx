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handoutMasterIdLst>
    <p:handoutMasterId r:id="rId17"/>
  </p:handoutMasterIdLst>
  <p:sldIdLst>
    <p:sldId id="257" r:id="rId2"/>
    <p:sldId id="265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8" r:id="rId11"/>
    <p:sldId id="266" r:id="rId12"/>
    <p:sldId id="267" r:id="rId13"/>
    <p:sldId id="269" r:id="rId14"/>
    <p:sldId id="270" r:id="rId15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11" autoAdjust="0"/>
  </p:normalViewPr>
  <p:slideViewPr>
    <p:cSldViewPr snapToGrid="0">
      <p:cViewPr varScale="1">
        <p:scale>
          <a:sx n="66" d="100"/>
          <a:sy n="66" d="100"/>
        </p:scale>
        <p:origin x="668" y="52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  <a:t>29.10.2026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  <a:pPr/>
              <a:t>29.10.2026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E16AC-51B8-1960-FB21-2ED0E169F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B863AB82-2EC9-ED93-7E72-6F477C722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B868D073-80CA-D5B4-E8DE-CCEE5CEA0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3D4BF84-1CFF-C482-D832-2959DEBEB4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65703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8867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529E-97AD-41F4-5A73-21728C297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DBF8E9FD-5EB3-3571-264B-E26B7885D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A7CD92AA-B684-4FF8-30CC-F50B682CC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281A888-4DDA-BE58-73EA-E43A447A23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8249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3AE19-F96E-3345-4516-503406C9B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9AFE9A29-6657-5B3A-F4D5-25DD4CD5F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6B2EBE32-6EA9-C6C3-D11A-811C48C34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3F091EC-058F-2773-4914-B3F145E55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06307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A54F6-0399-CA97-277B-181585AC6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E071998B-DB43-7A01-CA0A-A97CCD5EA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E639806B-F08E-B283-A82D-29A3D9EA5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1F32DA4-EDE3-B812-8C52-765516CAEF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09324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666A9-BAC8-41F5-E83E-7DF06B6EB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0FEE8DD9-BBBF-D3D1-DBD9-086335626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69DD28D4-F467-C200-DC15-ED4EAD07F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9ED79FB-A2C7-C39E-DF81-77B4B86141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30495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60474-C563-3D9F-3915-3BD40A189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B765E08D-B0BA-FF53-A15B-90A2572F9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5D42D6AB-8D71-1F48-92BA-0F401A9D9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1EE3C79-1351-A8AA-1A1F-03C50DD774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6105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C5CB1-9E95-78E3-874F-AD1EACBE2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76A78490-4B59-7C66-FF70-AC396F95A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6ACD1720-57D5-855C-7D2D-E54B1E7FC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AD0A0F8-AC8C-D069-B49D-221AFF469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12505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63A11-CFCD-B206-C3C1-B2458E781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7C584F46-118E-18E8-F603-5A30C2507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1E332AEA-2AF2-B8CA-C816-6B505A180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69E8A79-930F-E88C-1ED8-FC3D249C80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85151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10880-F6ED-DB76-B8D2-ACC5CF45F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6C11B3AD-44B0-0B40-BAAE-EFE2D85B6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34647BC2-7DFA-B81D-32D8-85A222B77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0D3ACB4-1BF1-68DB-4810-EF0DB736CE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35476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E2399-7080-4DA3-ACE1-2DBE41F0D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55A7D91A-97CE-A4D1-2FB1-F6C3D23D8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48E3C655-4C33-3D80-7922-330D87D8B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9E2E28F-BE0F-70D5-FBA5-97328F622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43198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47F71-CD79-6507-9FEF-B8F3B63A3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7161783D-BEF6-63B3-7EEE-3C4F98BBB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102B0374-EACD-47F1-B672-DFE7AF574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AE549DF-9C31-2C2C-4A23-4430F39558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898409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C76F1-2B56-AAF9-0E63-6AB1F9466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60611138-4EBE-751C-E893-9BECC1B81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3B39A709-6AFE-EFB6-FE39-10C0AF299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A3EF819-7E70-8CA8-8A5F-9B9285A047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6526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  <a:pPr/>
              <a:t>29.10.2026</a:t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  <a:pPr/>
              <a:t>29.10.2026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  <a:pPr/>
              <a:t>29.10.2026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  <a:pPr/>
              <a:t>29.10.2026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  <a:pPr/>
              <a:t>29.10.2026</a:t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  <a:pPr/>
              <a:t>29.10.2026</a:t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  <a:pPr/>
              <a:t>29.10.2026</a:t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  <a:pPr/>
              <a:t>29.10.2026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/>
              <a:t>Resim eklemek için simgeye tıklayın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  <a:pPr/>
              <a:t>29.10.2026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  <a:pPr/>
              <a:t>29.10.2026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 dirty="0"/>
              <a:t>İkinci düzey</a:t>
            </a:r>
          </a:p>
          <a:p>
            <a:pPr lvl="2" rtl="0" eaLnBrk="1" latinLnBrk="0" hangingPunct="1"/>
            <a:r>
              <a:rPr lang="tr-TR" noProof="0" dirty="0"/>
              <a:t>Üçüncü düzey</a:t>
            </a:r>
          </a:p>
          <a:p>
            <a:pPr lvl="3" rtl="0" eaLnBrk="1" latinLnBrk="0" hangingPunct="1"/>
            <a:r>
              <a:rPr lang="tr-TR" noProof="0" dirty="0"/>
              <a:t>Dördüncü düzey</a:t>
            </a:r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  <a:pPr/>
              <a:t>29.10.2026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  <a:pPr/>
              <a:t>29.10.2026</a:t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/>
              <a:t>Mobil Uygulama Geliştirme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/>
              <a:t>Zafer SERİN</a:t>
            </a:r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F11DD-47B3-6577-1098-9E8FE367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26B86F1-B724-60C6-0459-1B65701F4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Kotlinde</a:t>
            </a:r>
            <a:r>
              <a:rPr lang="tr-TR" dirty="0"/>
              <a:t> OOP Yaklaşımı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21F1B60-BBF6-2C21-7BF1-9158010DF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tr-TR" dirty="0" err="1"/>
              <a:t>Kotlin</a:t>
            </a:r>
            <a:r>
              <a:rPr lang="tr-TR" dirty="0"/>
              <a:t> programlama dili OOP yaklaşımını desteklemektedir. Buna bağlı olarak </a:t>
            </a:r>
            <a:r>
              <a:rPr lang="tr-TR" dirty="0" err="1"/>
              <a:t>Encapsulation</a:t>
            </a:r>
            <a:r>
              <a:rPr lang="tr-TR" dirty="0"/>
              <a:t> (Kapsülleme/Sarmalama), </a:t>
            </a:r>
            <a:r>
              <a:rPr lang="tr-TR" dirty="0" err="1"/>
              <a:t>Inheritance</a:t>
            </a:r>
            <a:r>
              <a:rPr lang="tr-TR" dirty="0"/>
              <a:t> (Kalıtım), </a:t>
            </a:r>
            <a:r>
              <a:rPr lang="tr-TR" dirty="0" err="1"/>
              <a:t>Polymorphism</a:t>
            </a:r>
            <a:r>
              <a:rPr lang="tr-TR" dirty="0"/>
              <a:t> (Çok biçimlilik) ve </a:t>
            </a:r>
            <a:r>
              <a:rPr lang="tr-TR" dirty="0" err="1"/>
              <a:t>Abstraction</a:t>
            </a:r>
            <a:r>
              <a:rPr lang="tr-TR" dirty="0"/>
              <a:t> (Soyutlama) olarak isimlendirilen 4 OOP davranışı </a:t>
            </a:r>
            <a:r>
              <a:rPr lang="tr-TR" dirty="0" err="1"/>
              <a:t>Kotlin’de</a:t>
            </a:r>
            <a:r>
              <a:rPr lang="tr-TR" dirty="0"/>
              <a:t> kullanılabilir. </a:t>
            </a:r>
          </a:p>
        </p:txBody>
      </p:sp>
    </p:spTree>
    <p:extLst>
      <p:ext uri="{BB962C8B-B14F-4D97-AF65-F5344CB8AC3E}">
        <p14:creationId xmlns:p14="http://schemas.microsoft.com/office/powerpoint/2010/main" val="319121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Kotlinde</a:t>
            </a:r>
            <a:r>
              <a:rPr lang="tr-TR" dirty="0"/>
              <a:t> OOP Yaklaşımı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r>
              <a:rPr lang="tr-TR" dirty="0"/>
              <a:t>Aşağıda </a:t>
            </a:r>
            <a:r>
              <a:rPr lang="tr-TR" dirty="0" err="1"/>
              <a:t>Kotlin’de</a:t>
            </a:r>
            <a:r>
              <a:rPr lang="tr-TR" dirty="0"/>
              <a:t> bir </a:t>
            </a:r>
            <a:r>
              <a:rPr lang="tr-TR" dirty="0" err="1"/>
              <a:t>class</a:t>
            </a:r>
            <a:r>
              <a:rPr lang="tr-TR" dirty="0"/>
              <a:t> tanımlaması ve bu </a:t>
            </a:r>
            <a:r>
              <a:rPr lang="tr-TR" dirty="0" err="1"/>
              <a:t>classtan</a:t>
            </a:r>
            <a:r>
              <a:rPr lang="tr-TR" dirty="0"/>
              <a:t> nesne üretimi işlemi gösterilmiştir. </a:t>
            </a:r>
            <a:r>
              <a:rPr lang="tr-TR" dirty="0" err="1"/>
              <a:t>Herbir</a:t>
            </a:r>
            <a:r>
              <a:rPr lang="tr-TR" dirty="0"/>
              <a:t> </a:t>
            </a:r>
            <a:r>
              <a:rPr lang="tr-TR" dirty="0" err="1"/>
              <a:t>classın</a:t>
            </a:r>
            <a:r>
              <a:rPr lang="tr-TR" dirty="0"/>
              <a:t> aynı zamanda bir değişken tipi olduğu unutulmamalıdır.</a:t>
            </a:r>
          </a:p>
          <a:p>
            <a:pPr marL="109728" indent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 err="1"/>
              <a:t>class</a:t>
            </a:r>
            <a:r>
              <a:rPr lang="tr-TR" dirty="0"/>
              <a:t> Personel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r>
              <a:rPr lang="tr-TR" dirty="0"/>
              <a:t>    </a:t>
            </a:r>
            <a:br>
              <a:rPr lang="tr-TR" dirty="0"/>
            </a:br>
            <a:r>
              <a:rPr lang="tr-TR" dirty="0"/>
              <a:t>}</a:t>
            </a:r>
            <a:br>
              <a:rPr lang="tr-TR" dirty="0"/>
            </a:br>
            <a:r>
              <a:rPr lang="tr-TR" dirty="0"/>
              <a:t>var personel1: Personel = Personel()</a:t>
            </a:r>
          </a:p>
        </p:txBody>
      </p:sp>
    </p:spTree>
    <p:extLst>
      <p:ext uri="{BB962C8B-B14F-4D97-AF65-F5344CB8AC3E}">
        <p14:creationId xmlns:p14="http://schemas.microsoft.com/office/powerpoint/2010/main" val="185189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F2567-4C18-D0A6-FA5E-24F675CBA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9A20707-F58B-3E7E-AD67-F58ACA123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Kotlinde</a:t>
            </a:r>
            <a:r>
              <a:rPr lang="tr-TR" dirty="0"/>
              <a:t> Erişim Belirteçleri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90B1429-979E-7662-82B0-BDA7C4BCA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</a:t>
            </a:r>
            <a:r>
              <a:rPr lang="tr-TR" dirty="0"/>
              <a:t> programlama dilinde 4 adet erişim belirteci kullanılır. Bunlar:</a:t>
            </a:r>
          </a:p>
          <a:p>
            <a:pPr marL="109728" indent="0" rtl="0">
              <a:buNone/>
            </a:pPr>
            <a:r>
              <a:rPr lang="tr-TR" dirty="0" err="1"/>
              <a:t>private</a:t>
            </a:r>
            <a:r>
              <a:rPr lang="tr-TR" dirty="0"/>
              <a:t>: Yalnızca </a:t>
            </a:r>
            <a:r>
              <a:rPr lang="tr-TR" dirty="0" err="1"/>
              <a:t>class</a:t>
            </a:r>
            <a:r>
              <a:rPr lang="tr-TR" dirty="0"/>
              <a:t> içerisinden erişime izin verir</a:t>
            </a:r>
          </a:p>
          <a:p>
            <a:pPr marL="109728" indent="0" rtl="0">
              <a:buNone/>
            </a:pPr>
            <a:r>
              <a:rPr lang="tr-TR" dirty="0" err="1"/>
              <a:t>public</a:t>
            </a:r>
            <a:r>
              <a:rPr lang="tr-TR" dirty="0"/>
              <a:t>: Her yerden erişime izin verir</a:t>
            </a:r>
          </a:p>
          <a:p>
            <a:pPr marL="109728" indent="0" rtl="0">
              <a:buNone/>
            </a:pPr>
            <a:r>
              <a:rPr lang="tr-TR" dirty="0" err="1"/>
              <a:t>protected</a:t>
            </a:r>
            <a:r>
              <a:rPr lang="tr-TR" dirty="0"/>
              <a:t>: Yalnızca </a:t>
            </a:r>
            <a:r>
              <a:rPr lang="tr-TR" dirty="0" err="1"/>
              <a:t>class</a:t>
            </a:r>
            <a:r>
              <a:rPr lang="tr-TR" dirty="0"/>
              <a:t> içerisinden ve kalıtım verilen </a:t>
            </a:r>
            <a:r>
              <a:rPr lang="tr-TR" dirty="0" err="1"/>
              <a:t>class</a:t>
            </a:r>
            <a:r>
              <a:rPr lang="tr-TR" dirty="0"/>
              <a:t> içerisinden erişime izin verilir</a:t>
            </a:r>
          </a:p>
          <a:p>
            <a:pPr marL="109728" indent="0" rtl="0">
              <a:buNone/>
            </a:pPr>
            <a:r>
              <a:rPr lang="tr-TR" dirty="0" err="1"/>
              <a:t>internal</a:t>
            </a:r>
            <a:r>
              <a:rPr lang="tr-TR" dirty="0"/>
              <a:t>: İlgili modülün tamamından erişime izin verilir.</a:t>
            </a:r>
          </a:p>
          <a:p>
            <a:r>
              <a:rPr lang="tr-TR" dirty="0"/>
              <a:t>Bir elemanın başına hiçbir erişim belirteci yazılmaz ise varsayılan olarak </a:t>
            </a:r>
            <a:r>
              <a:rPr lang="tr-TR" dirty="0" err="1"/>
              <a:t>public</a:t>
            </a:r>
            <a:r>
              <a:rPr lang="tr-TR" dirty="0"/>
              <a:t> ile işaretlidir.</a:t>
            </a:r>
          </a:p>
        </p:txBody>
      </p:sp>
    </p:spTree>
    <p:extLst>
      <p:ext uri="{BB962C8B-B14F-4D97-AF65-F5344CB8AC3E}">
        <p14:creationId xmlns:p14="http://schemas.microsoft.com/office/powerpoint/2010/main" val="187819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7F619-1C4F-CFC3-41A3-84AA35BDF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D7A243-57D0-AD5D-6A03-F7FB0A961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Encapsulation</a:t>
            </a:r>
            <a:r>
              <a:rPr lang="tr-TR" dirty="0"/>
              <a:t> (Kapsülleme/Sarmalama)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4519E27-2504-2D29-8F7F-46919B45C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Kotlin’de</a:t>
            </a:r>
            <a:r>
              <a:rPr lang="tr-TR" dirty="0"/>
              <a:t> değerlerin dışarıya kontrollü bir şekilde açılması ve bunlara kontrollü bir şekilde değer atanması için </a:t>
            </a:r>
            <a:r>
              <a:rPr lang="tr-TR" dirty="0" err="1"/>
              <a:t>Encapsulation</a:t>
            </a:r>
            <a:r>
              <a:rPr lang="tr-TR" dirty="0"/>
              <a:t> kullanılabilir.</a:t>
            </a:r>
          </a:p>
          <a:p>
            <a:pPr marL="109728" indent="0" rtl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Musteri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private</a:t>
            </a:r>
            <a:r>
              <a:rPr lang="tr-TR" dirty="0"/>
              <a:t> var </a:t>
            </a:r>
            <a:r>
              <a:rPr lang="tr-TR" dirty="0" err="1"/>
              <a:t>bakiye:Int</a:t>
            </a:r>
            <a:r>
              <a:rPr lang="tr-TR" dirty="0"/>
              <a:t> = 0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fun</a:t>
            </a:r>
            <a:r>
              <a:rPr lang="tr-TR" dirty="0"/>
              <a:t> </a:t>
            </a:r>
            <a:r>
              <a:rPr lang="tr-TR" dirty="0" err="1"/>
              <a:t>getBakiye</a:t>
            </a:r>
            <a:r>
              <a:rPr lang="tr-TR" dirty="0"/>
              <a:t>():</a:t>
            </a:r>
            <a:r>
              <a:rPr lang="tr-TR" dirty="0" err="1"/>
              <a:t>Int</a:t>
            </a:r>
            <a:r>
              <a:rPr lang="tr-TR" dirty="0"/>
              <a:t>{</a:t>
            </a:r>
            <a:r>
              <a:rPr lang="tr-TR" dirty="0" err="1"/>
              <a:t>return</a:t>
            </a:r>
            <a:r>
              <a:rPr lang="tr-TR" dirty="0"/>
              <a:t> </a:t>
            </a:r>
            <a:r>
              <a:rPr lang="tr-TR" dirty="0" err="1"/>
              <a:t>this.bakiye</a:t>
            </a:r>
            <a:r>
              <a:rPr lang="tr-TR" dirty="0"/>
              <a:t>}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fun</a:t>
            </a:r>
            <a:r>
              <a:rPr lang="tr-TR" dirty="0"/>
              <a:t> </a:t>
            </a:r>
            <a:r>
              <a:rPr lang="tr-TR" dirty="0" err="1"/>
              <a:t>setBakiye</a:t>
            </a:r>
            <a:r>
              <a:rPr lang="tr-TR" dirty="0"/>
              <a:t>(</a:t>
            </a:r>
            <a:r>
              <a:rPr lang="tr-TR" dirty="0" err="1"/>
              <a:t>value</a:t>
            </a:r>
            <a:r>
              <a:rPr lang="tr-TR" dirty="0"/>
              <a:t>: </a:t>
            </a:r>
            <a:r>
              <a:rPr lang="tr-TR" dirty="0" err="1"/>
              <a:t>Int</a:t>
            </a:r>
            <a:r>
              <a:rPr lang="tr-TR" dirty="0"/>
              <a:t>){</a:t>
            </a:r>
            <a:r>
              <a:rPr lang="tr-TR" dirty="0" err="1"/>
              <a:t>this.bakiye</a:t>
            </a:r>
            <a:r>
              <a:rPr lang="tr-TR" dirty="0"/>
              <a:t> = </a:t>
            </a:r>
            <a:r>
              <a:rPr lang="tr-TR" dirty="0" err="1"/>
              <a:t>value</a:t>
            </a:r>
            <a:r>
              <a:rPr lang="tr-TR" dirty="0"/>
              <a:t>}</a:t>
            </a:r>
            <a:br>
              <a:rPr lang="tr-TR" dirty="0"/>
            </a:br>
            <a:r>
              <a:rPr lang="tr-TR" dirty="0"/>
              <a:t>}</a:t>
            </a:r>
          </a:p>
          <a:p>
            <a:pPr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8396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AE764-6AF2-B066-CB20-9B56121AC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5DC53A-B7DA-7469-0B25-06923057C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Inheritance</a:t>
            </a:r>
            <a:r>
              <a:rPr lang="tr-TR" dirty="0"/>
              <a:t> (Kalıtım)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36E82C5-AB66-8029-618B-C96D96DDD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tr-TR" dirty="0" err="1"/>
              <a:t>Kotlin’de</a:t>
            </a:r>
            <a:r>
              <a:rPr lang="tr-TR" dirty="0"/>
              <a:t> bir </a:t>
            </a:r>
            <a:r>
              <a:rPr lang="tr-TR" dirty="0" err="1"/>
              <a:t>class</a:t>
            </a:r>
            <a:r>
              <a:rPr lang="tr-TR" dirty="0"/>
              <a:t> içerisindeki erişilebilen tüm üyelerin başka bir </a:t>
            </a:r>
            <a:r>
              <a:rPr lang="tr-TR" dirty="0" err="1"/>
              <a:t>classa</a:t>
            </a:r>
            <a:r>
              <a:rPr lang="tr-TR" dirty="0"/>
              <a:t> aktarılması için </a:t>
            </a:r>
            <a:r>
              <a:rPr lang="tr-TR" dirty="0" err="1"/>
              <a:t>Inheritance</a:t>
            </a:r>
            <a:r>
              <a:rPr lang="tr-TR" dirty="0"/>
              <a:t> davranışı kullanılır. </a:t>
            </a:r>
            <a:r>
              <a:rPr lang="tr-TR" dirty="0" err="1"/>
              <a:t>Kotlin’de</a:t>
            </a:r>
            <a:r>
              <a:rPr lang="tr-TR" dirty="0"/>
              <a:t> bir </a:t>
            </a:r>
            <a:r>
              <a:rPr lang="tr-TR" dirty="0" err="1"/>
              <a:t>class</a:t>
            </a:r>
            <a:r>
              <a:rPr lang="tr-TR" dirty="0"/>
              <a:t> varsayılan olarak final anahtar sözcüğü ile işaretlidir ve bu anahtar sözcük kalıtım verilmesini engeller (varsayılan olarak </a:t>
            </a:r>
            <a:r>
              <a:rPr lang="tr-TR" dirty="0" err="1"/>
              <a:t>classlar</a:t>
            </a:r>
            <a:r>
              <a:rPr lang="tr-TR" dirty="0"/>
              <a:t> final ile işaretlidir). </a:t>
            </a:r>
            <a:r>
              <a:rPr lang="tr-TR" dirty="0" err="1"/>
              <a:t>Classı</a:t>
            </a:r>
            <a:r>
              <a:rPr lang="tr-TR" dirty="0"/>
              <a:t> kalıtıma açmak için </a:t>
            </a:r>
            <a:r>
              <a:rPr lang="tr-TR" dirty="0" err="1"/>
              <a:t>open</a:t>
            </a:r>
            <a:r>
              <a:rPr lang="tr-TR" dirty="0"/>
              <a:t> anahtar sözcüğü ile işaretlemek gerekir. Kalıtım işleminin gerçekleştirilmesi için </a:t>
            </a:r>
            <a:r>
              <a:rPr lang="tr-TR" b="1" dirty="0"/>
              <a:t>‘:’ </a:t>
            </a:r>
            <a:r>
              <a:rPr lang="tr-TR" dirty="0"/>
              <a:t>operatörü kullanılır.</a:t>
            </a:r>
          </a:p>
        </p:txBody>
      </p:sp>
    </p:spTree>
    <p:extLst>
      <p:ext uri="{BB962C8B-B14F-4D97-AF65-F5344CB8AC3E}">
        <p14:creationId xmlns:p14="http://schemas.microsoft.com/office/powerpoint/2010/main" val="68178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94D25-82BA-35B9-D909-CABD85E59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9D4AFB-34A5-D501-4D22-58B54D0B7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tr-TR" dirty="0" err="1"/>
              <a:t>Inheritance</a:t>
            </a:r>
            <a:r>
              <a:rPr lang="tr-TR" dirty="0"/>
              <a:t> (Kalıtım)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B7B0305-F6F0-4008-FA69-8DCB63BA4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09728" indent="0" rtl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 err="1"/>
              <a:t>open</a:t>
            </a:r>
            <a:r>
              <a:rPr lang="tr-TR" dirty="0"/>
              <a:t> </a:t>
            </a: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Calisan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br>
              <a:rPr lang="tr-TR" dirty="0"/>
            </a:br>
            <a:r>
              <a:rPr lang="tr-TR" dirty="0"/>
              <a:t>}</a:t>
            </a:r>
            <a:br>
              <a:rPr lang="tr-TR" dirty="0"/>
            </a:br>
            <a:r>
              <a:rPr lang="tr-TR" dirty="0" err="1"/>
              <a:t>class</a:t>
            </a:r>
            <a:r>
              <a:rPr lang="tr-TR" dirty="0"/>
              <a:t> Stajyer : </a:t>
            </a:r>
            <a:r>
              <a:rPr lang="tr-TR" dirty="0" err="1"/>
              <a:t>Calisan</a:t>
            </a:r>
            <a:r>
              <a:rPr lang="tr-TR" dirty="0"/>
              <a:t>()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br>
              <a:rPr lang="tr-TR" dirty="0"/>
            </a:br>
            <a:r>
              <a:rPr lang="tr-TR" dirty="0"/>
              <a:t>}</a:t>
            </a:r>
          </a:p>
          <a:p>
            <a:pPr marL="109728" indent="0" rtl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4622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8DF16-AA30-8582-B0FA-2166EC09A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9705CBA-508F-9FE5-D531-0E6C09E3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tr-TR" dirty="0" err="1"/>
              <a:t>Inheritance</a:t>
            </a:r>
            <a:r>
              <a:rPr lang="tr-TR" dirty="0"/>
              <a:t> (Kalıtım)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3A910A7-3C6E-C819-BBF1-5C00EF624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tr-TR" dirty="0" err="1"/>
              <a:t>Kotlin’de</a:t>
            </a:r>
            <a:r>
              <a:rPr lang="tr-TR" dirty="0"/>
              <a:t> bir </a:t>
            </a:r>
            <a:r>
              <a:rPr lang="tr-TR" dirty="0" err="1"/>
              <a:t>class</a:t>
            </a:r>
            <a:r>
              <a:rPr lang="tr-TR" dirty="0"/>
              <a:t> kendi nesnesinin elemanlarına ulaşmak için </a:t>
            </a:r>
            <a:r>
              <a:rPr lang="tr-TR" b="1" dirty="0" err="1"/>
              <a:t>this</a:t>
            </a:r>
            <a:r>
              <a:rPr lang="tr-TR" b="1" dirty="0"/>
              <a:t> </a:t>
            </a:r>
            <a:r>
              <a:rPr lang="tr-TR" dirty="0"/>
              <a:t>anahtar sözcüğü, kalıtım ilişkisi bulunan üst </a:t>
            </a:r>
            <a:r>
              <a:rPr lang="tr-TR" dirty="0" err="1"/>
              <a:t>classların</a:t>
            </a:r>
            <a:r>
              <a:rPr lang="tr-TR" dirty="0"/>
              <a:t> elemanlarına erişmek için ise </a:t>
            </a:r>
            <a:r>
              <a:rPr lang="tr-TR" b="1" dirty="0" err="1"/>
              <a:t>super</a:t>
            </a:r>
            <a:r>
              <a:rPr lang="tr-TR" b="1" dirty="0"/>
              <a:t> </a:t>
            </a:r>
            <a:r>
              <a:rPr lang="tr-TR" dirty="0"/>
              <a:t>anahtar sözcüğü kullanılır.</a:t>
            </a:r>
          </a:p>
        </p:txBody>
      </p:sp>
    </p:spTree>
    <p:extLst>
      <p:ext uri="{BB962C8B-B14F-4D97-AF65-F5344CB8AC3E}">
        <p14:creationId xmlns:p14="http://schemas.microsoft.com/office/powerpoint/2010/main" val="2295637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BE721-45E0-8BA6-71A2-F02752B81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BABA73-3055-0F96-F004-39BA10C5E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Polymorphism</a:t>
            </a:r>
            <a:r>
              <a:rPr lang="tr-TR" dirty="0"/>
              <a:t> (Çok biçimlilik)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E91B0C5-61C3-A9AA-096B-24FC7188A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tr-TR" dirty="0" err="1"/>
              <a:t>Kotlin’de</a:t>
            </a:r>
            <a:r>
              <a:rPr lang="tr-TR" dirty="0"/>
              <a:t> bir nesnenin kalıtımsal işlemler gereği farklı </a:t>
            </a:r>
            <a:r>
              <a:rPr lang="tr-TR" dirty="0" err="1"/>
              <a:t>classların</a:t>
            </a:r>
            <a:r>
              <a:rPr lang="tr-TR" dirty="0"/>
              <a:t> nesneleri gibi davranabilmesi ve ilgili nesne yapısına bürünmesi için </a:t>
            </a:r>
            <a:r>
              <a:rPr lang="tr-TR" dirty="0" err="1"/>
              <a:t>Polymorphism</a:t>
            </a:r>
            <a:r>
              <a:rPr lang="tr-TR" dirty="0"/>
              <a:t> kullanılabilir. Ek olarak üst </a:t>
            </a:r>
            <a:r>
              <a:rPr lang="tr-TR" dirty="0" err="1"/>
              <a:t>classlardan</a:t>
            </a:r>
            <a:r>
              <a:rPr lang="tr-TR" dirty="0"/>
              <a:t> herhangi </a:t>
            </a:r>
            <a:r>
              <a:rPr lang="tr-TR" dirty="0" err="1"/>
              <a:t>birindeopen</a:t>
            </a:r>
            <a:r>
              <a:rPr lang="tr-TR" dirty="0"/>
              <a:t> anahtar sözcüğü ile işaretlenen bir üye alt </a:t>
            </a:r>
            <a:r>
              <a:rPr lang="tr-TR" dirty="0" err="1"/>
              <a:t>classlarda</a:t>
            </a:r>
            <a:r>
              <a:rPr lang="tr-TR" dirty="0"/>
              <a:t> </a:t>
            </a:r>
            <a:r>
              <a:rPr lang="tr-TR" dirty="0" err="1"/>
              <a:t>override</a:t>
            </a:r>
            <a:r>
              <a:rPr lang="tr-TR" dirty="0"/>
              <a:t> anahtar sözcüğü ile ezilebilir.</a:t>
            </a:r>
          </a:p>
        </p:txBody>
      </p:sp>
    </p:spTree>
    <p:extLst>
      <p:ext uri="{BB962C8B-B14F-4D97-AF65-F5344CB8AC3E}">
        <p14:creationId xmlns:p14="http://schemas.microsoft.com/office/powerpoint/2010/main" val="156312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09887-165F-4D0B-14FB-DC55AC11C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5014E8-305E-073A-699E-BBF934BC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Polymorphism</a:t>
            </a:r>
            <a:r>
              <a:rPr lang="tr-TR" dirty="0"/>
              <a:t> (Çok biçimlilik)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8990633-81AE-E169-BCE7-5682D29E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70000" lnSpcReduction="20000"/>
          </a:bodyPr>
          <a:lstStyle/>
          <a:p>
            <a:pPr marL="109728" indent="0" rtl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 err="1"/>
              <a:t>open</a:t>
            </a:r>
            <a:r>
              <a:rPr lang="tr-TR" dirty="0"/>
              <a:t> </a:t>
            </a:r>
            <a:r>
              <a:rPr lang="tr-TR" dirty="0" err="1"/>
              <a:t>class</a:t>
            </a:r>
            <a:r>
              <a:rPr lang="tr-TR" dirty="0"/>
              <a:t> Personel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open</a:t>
            </a:r>
            <a:r>
              <a:rPr lang="tr-TR" dirty="0"/>
              <a:t> var </a:t>
            </a:r>
            <a:r>
              <a:rPr lang="tr-TR" dirty="0" err="1"/>
              <a:t>yas:Int</a:t>
            </a:r>
            <a:r>
              <a:rPr lang="tr-TR" dirty="0"/>
              <a:t> = 25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open</a:t>
            </a:r>
            <a:r>
              <a:rPr lang="tr-TR" dirty="0"/>
              <a:t> </a:t>
            </a:r>
            <a:r>
              <a:rPr lang="tr-TR" dirty="0" err="1"/>
              <a:t>fun</a:t>
            </a:r>
            <a:r>
              <a:rPr lang="tr-TR" dirty="0"/>
              <a:t> hesapla() : </a:t>
            </a:r>
            <a:r>
              <a:rPr lang="tr-TR" dirty="0" err="1"/>
              <a:t>Int</a:t>
            </a:r>
            <a:br>
              <a:rPr lang="tr-TR" dirty="0"/>
            </a:br>
            <a:r>
              <a:rPr lang="tr-TR" dirty="0"/>
              <a:t>    {</a:t>
            </a:r>
            <a:br>
              <a:rPr lang="tr-TR" dirty="0"/>
            </a:br>
            <a:r>
              <a:rPr lang="tr-TR" dirty="0"/>
              <a:t>        </a:t>
            </a:r>
            <a:r>
              <a:rPr lang="tr-TR" dirty="0" err="1"/>
              <a:t>return</a:t>
            </a:r>
            <a:r>
              <a:rPr lang="tr-TR" dirty="0"/>
              <a:t> 1500</a:t>
            </a:r>
            <a:br>
              <a:rPr lang="tr-TR" dirty="0"/>
            </a:br>
            <a:r>
              <a:rPr lang="tr-TR" dirty="0"/>
              <a:t>    }</a:t>
            </a:r>
            <a:br>
              <a:rPr lang="tr-TR" dirty="0"/>
            </a:br>
            <a:r>
              <a:rPr lang="tr-TR" dirty="0"/>
              <a:t>}</a:t>
            </a:r>
            <a:br>
              <a:rPr lang="tr-TR" dirty="0"/>
            </a:b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AkademikPersonel</a:t>
            </a:r>
            <a:r>
              <a:rPr lang="tr-TR" dirty="0"/>
              <a:t> : Personel()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override</a:t>
            </a:r>
            <a:r>
              <a:rPr lang="tr-TR" dirty="0"/>
              <a:t> var yas: </a:t>
            </a:r>
            <a:r>
              <a:rPr lang="tr-TR" dirty="0" err="1"/>
              <a:t>Int</a:t>
            </a:r>
            <a:r>
              <a:rPr lang="tr-TR" dirty="0"/>
              <a:t> = 30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override</a:t>
            </a:r>
            <a:r>
              <a:rPr lang="tr-TR" dirty="0"/>
              <a:t> </a:t>
            </a:r>
            <a:r>
              <a:rPr lang="tr-TR" dirty="0" err="1"/>
              <a:t>fun</a:t>
            </a:r>
            <a:r>
              <a:rPr lang="tr-TR" dirty="0"/>
              <a:t> hesapla(): </a:t>
            </a:r>
            <a:r>
              <a:rPr lang="tr-TR" dirty="0" err="1"/>
              <a:t>Int</a:t>
            </a:r>
            <a:r>
              <a:rPr lang="tr-TR" dirty="0"/>
              <a:t> {</a:t>
            </a:r>
            <a:br>
              <a:rPr lang="tr-TR" dirty="0"/>
            </a:br>
            <a:r>
              <a:rPr lang="tr-TR" dirty="0"/>
              <a:t>        </a:t>
            </a:r>
            <a:r>
              <a:rPr lang="tr-TR" dirty="0" err="1"/>
              <a:t>return</a:t>
            </a:r>
            <a:r>
              <a:rPr lang="tr-TR" dirty="0"/>
              <a:t> 5000</a:t>
            </a:r>
            <a:br>
              <a:rPr lang="tr-TR" dirty="0"/>
            </a:br>
            <a:r>
              <a:rPr lang="tr-TR" dirty="0"/>
              <a:t>    }</a:t>
            </a:r>
            <a:br>
              <a:rPr lang="tr-TR" dirty="0"/>
            </a:br>
            <a:r>
              <a:rPr lang="tr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8680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403E6-0D29-8C5E-991A-6DA7DF623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584407F-40A0-BDFA-C4B3-C51C32264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Polymorphism</a:t>
            </a:r>
            <a:r>
              <a:rPr lang="tr-TR" dirty="0"/>
              <a:t> (Çok biçimlilik)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285741A-DEB5-A6AA-DCF3-47D822E8F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marL="109728" indent="0" rtl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 err="1"/>
              <a:t>open</a:t>
            </a:r>
            <a:r>
              <a:rPr lang="tr-TR" dirty="0"/>
              <a:t> </a:t>
            </a: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Ogrenci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br>
              <a:rPr lang="tr-TR" dirty="0"/>
            </a:br>
            <a:r>
              <a:rPr lang="tr-TR" dirty="0"/>
              <a:t>}</a:t>
            </a:r>
            <a:br>
              <a:rPr lang="tr-TR" dirty="0"/>
            </a:b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IlkokulOgrenci</a:t>
            </a:r>
            <a:r>
              <a:rPr lang="tr-TR" dirty="0"/>
              <a:t> : </a:t>
            </a:r>
            <a:r>
              <a:rPr lang="tr-TR" dirty="0" err="1"/>
              <a:t>Ogrenci</a:t>
            </a:r>
            <a:r>
              <a:rPr lang="tr-TR" dirty="0"/>
              <a:t>()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br>
              <a:rPr lang="tr-TR" dirty="0"/>
            </a:br>
            <a:r>
              <a:rPr lang="tr-TR" dirty="0"/>
              <a:t>}</a:t>
            </a:r>
            <a:br>
              <a:rPr lang="tr-TR" dirty="0"/>
            </a:br>
            <a:r>
              <a:rPr lang="tr-TR" dirty="0"/>
              <a:t>var ogrenci1: </a:t>
            </a:r>
            <a:r>
              <a:rPr lang="tr-TR" dirty="0" err="1"/>
              <a:t>Ogrenci</a:t>
            </a:r>
            <a:r>
              <a:rPr lang="tr-TR" dirty="0"/>
              <a:t> = </a:t>
            </a:r>
            <a:r>
              <a:rPr lang="tr-TR" dirty="0" err="1"/>
              <a:t>Ogrenci</a:t>
            </a:r>
            <a:r>
              <a:rPr lang="tr-TR" dirty="0"/>
              <a:t>()</a:t>
            </a:r>
            <a:br>
              <a:rPr lang="tr-TR" dirty="0"/>
            </a:br>
            <a:r>
              <a:rPr lang="tr-TR" dirty="0"/>
              <a:t>var ogrenci1: </a:t>
            </a:r>
            <a:r>
              <a:rPr lang="tr-TR" dirty="0" err="1"/>
              <a:t>Ogrenci</a:t>
            </a:r>
            <a:r>
              <a:rPr lang="tr-TR" dirty="0"/>
              <a:t> = </a:t>
            </a:r>
            <a:r>
              <a:rPr lang="tr-TR" dirty="0" err="1"/>
              <a:t>IlkokulOgrenci</a:t>
            </a:r>
            <a:r>
              <a:rPr lang="tr-TR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19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D17CE-DD7E-4776-E442-C073F70D3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FEC7123-CFFF-8942-FF3B-5A178E50D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Abstraction</a:t>
            </a:r>
            <a:r>
              <a:rPr lang="tr-TR" dirty="0"/>
              <a:t> (Soyutlama)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8A34E64-8F8D-55EB-8681-BC079C0F4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rtl="0"/>
            <a:r>
              <a:rPr lang="tr-TR" dirty="0" err="1"/>
              <a:t>Kotlin’de</a:t>
            </a:r>
            <a:r>
              <a:rPr lang="tr-TR" dirty="0"/>
              <a:t> ilgili yapıların soyutlanması için </a:t>
            </a:r>
            <a:r>
              <a:rPr lang="tr-TR" dirty="0" err="1"/>
              <a:t>interface</a:t>
            </a:r>
            <a:r>
              <a:rPr lang="tr-TR" dirty="0"/>
              <a:t> (arayüz) yapılanması kullanılabilir.</a:t>
            </a:r>
          </a:p>
          <a:p>
            <a:pPr marL="109728" indent="0" rtl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 err="1"/>
              <a:t>interface</a:t>
            </a:r>
            <a:r>
              <a:rPr lang="tr-TR" dirty="0"/>
              <a:t> IAPI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r>
              <a:rPr lang="tr-TR" dirty="0"/>
              <a:t>    var </a:t>
            </a:r>
            <a:r>
              <a:rPr lang="tr-TR" dirty="0" err="1"/>
              <a:t>istekSayisi</a:t>
            </a:r>
            <a:r>
              <a:rPr lang="tr-TR" dirty="0"/>
              <a:t>: </a:t>
            </a:r>
            <a:r>
              <a:rPr lang="tr-TR" dirty="0" err="1"/>
              <a:t>Int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fun</a:t>
            </a:r>
            <a:r>
              <a:rPr lang="tr-TR" dirty="0"/>
              <a:t> </a:t>
            </a:r>
            <a:r>
              <a:rPr lang="tr-TR" dirty="0" err="1"/>
              <a:t>istekAt</a:t>
            </a:r>
            <a:r>
              <a:rPr lang="tr-TR" dirty="0"/>
              <a:t>()</a:t>
            </a:r>
            <a:br>
              <a:rPr lang="tr-TR" dirty="0"/>
            </a:br>
            <a:r>
              <a:rPr lang="tr-TR" dirty="0"/>
              <a:t>}</a:t>
            </a:r>
            <a:br>
              <a:rPr lang="tr-TR" dirty="0"/>
            </a:b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Get</a:t>
            </a:r>
            <a:r>
              <a:rPr lang="tr-TR" dirty="0"/>
              <a:t> : IAPI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override</a:t>
            </a:r>
            <a:r>
              <a:rPr lang="tr-TR" dirty="0"/>
              <a:t> var </a:t>
            </a:r>
            <a:r>
              <a:rPr lang="tr-TR" dirty="0" err="1"/>
              <a:t>istekSayisi</a:t>
            </a:r>
            <a:r>
              <a:rPr lang="tr-TR" dirty="0"/>
              <a:t>: </a:t>
            </a:r>
            <a:r>
              <a:rPr lang="tr-TR" dirty="0" err="1"/>
              <a:t>Int</a:t>
            </a:r>
            <a:r>
              <a:rPr lang="tr-TR" dirty="0"/>
              <a:t> = 25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override</a:t>
            </a:r>
            <a:r>
              <a:rPr lang="tr-TR" dirty="0"/>
              <a:t> </a:t>
            </a:r>
            <a:r>
              <a:rPr lang="tr-TR" dirty="0" err="1"/>
              <a:t>fun</a:t>
            </a:r>
            <a:r>
              <a:rPr lang="tr-TR" dirty="0"/>
              <a:t> </a:t>
            </a:r>
            <a:r>
              <a:rPr lang="tr-TR" dirty="0" err="1"/>
              <a:t>istekAt</a:t>
            </a:r>
            <a:r>
              <a:rPr lang="tr-TR" dirty="0"/>
              <a:t>() {}</a:t>
            </a:r>
            <a:br>
              <a:rPr lang="tr-TR" dirty="0"/>
            </a:br>
            <a:r>
              <a:rPr lang="tr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77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00986-2A99-0CD5-A6BE-1DD2A4802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4A27E16-AD92-F00E-9EE2-1305CAE00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Statik Yapılar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EEB1F98-75FF-B58D-1DEF-7E3751F2E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 rtl="0"/>
            <a:r>
              <a:rPr lang="tr-TR" dirty="0" err="1"/>
              <a:t>Kotlin’de</a:t>
            </a:r>
            <a:r>
              <a:rPr lang="tr-TR" dirty="0"/>
              <a:t> bir üyenin nesneye değil doğrudan </a:t>
            </a:r>
            <a:r>
              <a:rPr lang="tr-TR" dirty="0" err="1"/>
              <a:t>classa</a:t>
            </a:r>
            <a:r>
              <a:rPr lang="tr-TR" dirty="0"/>
              <a:t> bağlı olması için statik tanımlamalar yapılabilir. Bu yapılara nesne üzerinden değil doğrudan </a:t>
            </a:r>
            <a:r>
              <a:rPr lang="tr-TR" dirty="0" err="1"/>
              <a:t>class</a:t>
            </a:r>
            <a:r>
              <a:rPr lang="tr-TR" dirty="0"/>
              <a:t> adı ile erişilir. </a:t>
            </a:r>
            <a:r>
              <a:rPr lang="tr-TR" dirty="0" err="1"/>
              <a:t>Kotlin’de</a:t>
            </a:r>
            <a:r>
              <a:rPr lang="tr-TR" dirty="0"/>
              <a:t> statik yapılar </a:t>
            </a:r>
            <a:r>
              <a:rPr lang="tr-TR" b="1" dirty="0" err="1"/>
              <a:t>companion</a:t>
            </a:r>
            <a:r>
              <a:rPr lang="tr-TR" b="1" dirty="0"/>
              <a:t> </a:t>
            </a:r>
            <a:r>
              <a:rPr lang="tr-TR" b="1" dirty="0" err="1"/>
              <a:t>object</a:t>
            </a:r>
            <a:r>
              <a:rPr lang="tr-TR" b="1" dirty="0"/>
              <a:t> </a:t>
            </a:r>
            <a:r>
              <a:rPr lang="tr-TR" dirty="0"/>
              <a:t>bloğu içerisinde tanımlanır.</a:t>
            </a:r>
          </a:p>
          <a:p>
            <a:pPr algn="just"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6043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72C9E-ABCA-033D-9817-BBBB88E91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294B277-3047-9E7B-8E8E-23C6AD35C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Statik Yapılar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D5D6FA6-C6B7-0BE7-8F3C-01D9C2669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70000" lnSpcReduction="20000"/>
          </a:bodyPr>
          <a:lstStyle/>
          <a:p>
            <a:pPr marL="109728" indent="0" algn="just" rtl="0">
              <a:buNone/>
            </a:pPr>
            <a:r>
              <a:rPr lang="tr-TR" dirty="0"/>
              <a:t>Örnek:</a:t>
            </a:r>
          </a:p>
          <a:p>
            <a:pPr marL="109728" indent="0" algn="just" rtl="0">
              <a:buNone/>
            </a:pPr>
            <a:r>
              <a:rPr lang="tr-TR" dirty="0" err="1"/>
              <a:t>class</a:t>
            </a:r>
            <a:r>
              <a:rPr lang="tr-TR" dirty="0"/>
              <a:t> Muhasebe</a:t>
            </a:r>
          </a:p>
          <a:p>
            <a:pPr marL="109728" indent="0" algn="just" rtl="0">
              <a:buNone/>
            </a:pPr>
            <a:r>
              <a:rPr lang="tr-TR" dirty="0"/>
              <a:t>{</a:t>
            </a:r>
          </a:p>
          <a:p>
            <a:pPr marL="109728" indent="0" algn="just" rtl="0">
              <a:buNone/>
            </a:pPr>
            <a:r>
              <a:rPr lang="tr-TR" dirty="0"/>
              <a:t>    </a:t>
            </a:r>
            <a:r>
              <a:rPr lang="tr-TR" dirty="0" err="1"/>
              <a:t>companion</a:t>
            </a:r>
            <a:r>
              <a:rPr lang="tr-TR" dirty="0"/>
              <a:t> </a:t>
            </a:r>
            <a:r>
              <a:rPr lang="tr-TR" dirty="0" err="1"/>
              <a:t>object</a:t>
            </a:r>
            <a:r>
              <a:rPr lang="tr-TR" dirty="0"/>
              <a:t>{</a:t>
            </a:r>
          </a:p>
          <a:p>
            <a:pPr marL="109728" indent="0" algn="just" rtl="0">
              <a:buNone/>
            </a:pPr>
            <a:r>
              <a:rPr lang="tr-TR" dirty="0"/>
              <a:t>        var </a:t>
            </a:r>
            <a:r>
              <a:rPr lang="tr-TR" dirty="0" err="1"/>
              <a:t>gelir:Int</a:t>
            </a:r>
            <a:r>
              <a:rPr lang="tr-TR" dirty="0"/>
              <a:t> = 4000</a:t>
            </a:r>
          </a:p>
          <a:p>
            <a:pPr marL="109728" indent="0" algn="just" rtl="0">
              <a:buNone/>
            </a:pPr>
            <a:r>
              <a:rPr lang="tr-TR" dirty="0"/>
              <a:t>        var </a:t>
            </a:r>
            <a:r>
              <a:rPr lang="tr-TR" dirty="0" err="1"/>
              <a:t>gider:Int</a:t>
            </a:r>
            <a:r>
              <a:rPr lang="tr-TR" dirty="0"/>
              <a:t> = 2000</a:t>
            </a:r>
          </a:p>
          <a:p>
            <a:pPr marL="109728" indent="0" algn="just" rtl="0">
              <a:buNone/>
            </a:pPr>
            <a:r>
              <a:rPr lang="tr-TR" dirty="0"/>
              <a:t>        </a:t>
            </a:r>
            <a:r>
              <a:rPr lang="tr-TR" dirty="0" err="1"/>
              <a:t>fun</a:t>
            </a:r>
            <a:r>
              <a:rPr lang="tr-TR" dirty="0"/>
              <a:t> </a:t>
            </a:r>
            <a:r>
              <a:rPr lang="tr-TR" dirty="0" err="1"/>
              <a:t>vergiHesapla</a:t>
            </a:r>
            <a:r>
              <a:rPr lang="tr-TR" dirty="0"/>
              <a:t>():</a:t>
            </a:r>
            <a:r>
              <a:rPr lang="tr-TR" dirty="0" err="1"/>
              <a:t>Int</a:t>
            </a:r>
            <a:endParaRPr lang="tr-TR" dirty="0"/>
          </a:p>
          <a:p>
            <a:pPr marL="109728" indent="0" algn="just" rtl="0">
              <a:buNone/>
            </a:pPr>
            <a:r>
              <a:rPr lang="tr-TR" dirty="0"/>
              <a:t>        {</a:t>
            </a:r>
          </a:p>
          <a:p>
            <a:pPr marL="109728" indent="0" algn="just" rtl="0">
              <a:buNone/>
            </a:pPr>
            <a:r>
              <a:rPr lang="tr-TR" dirty="0"/>
              <a:t>            </a:t>
            </a:r>
            <a:r>
              <a:rPr lang="tr-TR" dirty="0" err="1"/>
              <a:t>return</a:t>
            </a:r>
            <a:r>
              <a:rPr lang="tr-TR" dirty="0"/>
              <a:t> 500</a:t>
            </a:r>
          </a:p>
          <a:p>
            <a:pPr marL="109728" indent="0" algn="just" rtl="0">
              <a:buNone/>
            </a:pPr>
            <a:r>
              <a:rPr lang="tr-TR" dirty="0"/>
              <a:t>        }</a:t>
            </a:r>
          </a:p>
          <a:p>
            <a:pPr marL="109728" indent="0" algn="just" rtl="0">
              <a:buNone/>
            </a:pPr>
            <a:r>
              <a:rPr lang="tr-TR" dirty="0"/>
              <a:t>    }</a:t>
            </a:r>
          </a:p>
          <a:p>
            <a:pPr marL="109728" indent="0" algn="just" rtl="0">
              <a:buNone/>
            </a:pPr>
            <a:r>
              <a:rPr lang="tr-TR" dirty="0"/>
              <a:t>}</a:t>
            </a:r>
          </a:p>
          <a:p>
            <a:pPr marL="109728" indent="0" algn="just" rtl="0">
              <a:buNone/>
            </a:pPr>
            <a:r>
              <a:rPr lang="tr-TR" dirty="0" err="1"/>
              <a:t>println</a:t>
            </a:r>
            <a:r>
              <a:rPr lang="tr-TR" dirty="0"/>
              <a:t>(</a:t>
            </a:r>
            <a:r>
              <a:rPr lang="tr-TR" dirty="0" err="1"/>
              <a:t>Muhasebe.gelir</a:t>
            </a:r>
            <a:r>
              <a:rPr lang="tr-TR" dirty="0"/>
              <a:t>)</a:t>
            </a:r>
          </a:p>
          <a:p>
            <a:pPr marL="109728" indent="0" algn="just" rtl="0">
              <a:buNone/>
            </a:pPr>
            <a:r>
              <a:rPr lang="tr-TR" dirty="0" err="1"/>
              <a:t>println</a:t>
            </a:r>
            <a:r>
              <a:rPr lang="tr-TR" dirty="0"/>
              <a:t>(</a:t>
            </a:r>
            <a:r>
              <a:rPr lang="tr-TR" dirty="0" err="1"/>
              <a:t>Muhasebe.gider</a:t>
            </a:r>
            <a:r>
              <a:rPr lang="tr-TR" dirty="0"/>
              <a:t>)</a:t>
            </a:r>
          </a:p>
          <a:p>
            <a:pPr marL="109728" indent="0" algn="just" rtl="0">
              <a:buNone/>
            </a:pPr>
            <a:r>
              <a:rPr lang="tr-TR" dirty="0" err="1"/>
              <a:t>println</a:t>
            </a:r>
            <a:r>
              <a:rPr lang="tr-TR" dirty="0"/>
              <a:t>(</a:t>
            </a:r>
            <a:r>
              <a:rPr lang="tr-TR" dirty="0" err="1"/>
              <a:t>Muhasebe.vergiHesapla</a:t>
            </a:r>
            <a:r>
              <a:rPr lang="tr-TR"/>
              <a:t>())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2876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5310_TF03460604" id="{F6EFC989-8B6A-426D-8CC8-42909735A4A0}" vid="{6F0D95CE-7106-4C3E-8D98-EE1220DA24E4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533</TotalTime>
  <Words>1205</Words>
  <Application>Microsoft Office PowerPoint</Application>
  <PresentationFormat>Geniş ekran</PresentationFormat>
  <Paragraphs>96</Paragraphs>
  <Slides>14</Slides>
  <Notes>14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9" baseType="lpstr">
      <vt:lpstr>Arial</vt:lpstr>
      <vt:lpstr>Calibri</vt:lpstr>
      <vt:lpstr>Georgia</vt:lpstr>
      <vt:lpstr>Wingdings 2</vt:lpstr>
      <vt:lpstr>Eğitim sunusu</vt:lpstr>
      <vt:lpstr>Mobil Uygulama Geliştirme</vt:lpstr>
      <vt:lpstr>Kotlinde OOP Yaklaşımı</vt:lpstr>
      <vt:lpstr>Kotlinde OOP Yaklaşımı</vt:lpstr>
      <vt:lpstr>Kotlinde Erişim Belirteçleri</vt:lpstr>
      <vt:lpstr>Encapsulation (Kapsülleme/Sarmalama)</vt:lpstr>
      <vt:lpstr>Inheritance (Kalıtım)</vt:lpstr>
      <vt:lpstr>Inheritance (Kalıtım)</vt:lpstr>
      <vt:lpstr>Inheritance (Kalıtım)</vt:lpstr>
      <vt:lpstr>Polymorphism (Çok biçimlilik)</vt:lpstr>
      <vt:lpstr>Polymorphism (Çok biçimlilik)</vt:lpstr>
      <vt:lpstr>Polymorphism (Çok biçimlilik)</vt:lpstr>
      <vt:lpstr>Abstraction (Soyutlama)</vt:lpstr>
      <vt:lpstr>Statik Yapılar</vt:lpstr>
      <vt:lpstr>Statik Yapılar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ZaferS</dc:creator>
  <cp:lastModifiedBy>ZaferS</cp:lastModifiedBy>
  <cp:revision>187</cp:revision>
  <dcterms:created xsi:type="dcterms:W3CDTF">2026-09-07T11:01:41Z</dcterms:created>
  <dcterms:modified xsi:type="dcterms:W3CDTF">2026-10-29T15:31:21Z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