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5"/>
  </p:notesMasterIdLst>
  <p:handoutMasterIdLst>
    <p:handoutMasterId r:id="rId26"/>
  </p:handoutMasterIdLst>
  <p:sldIdLst>
    <p:sldId id="257" r:id="rId2"/>
    <p:sldId id="265" r:id="rId3"/>
    <p:sldId id="258" r:id="rId4"/>
    <p:sldId id="271" r:id="rId5"/>
    <p:sldId id="272" r:id="rId6"/>
    <p:sldId id="273" r:id="rId7"/>
    <p:sldId id="274" r:id="rId8"/>
    <p:sldId id="261" r:id="rId9"/>
    <p:sldId id="259" r:id="rId10"/>
    <p:sldId id="260" r:id="rId11"/>
    <p:sldId id="262" r:id="rId12"/>
    <p:sldId id="263" r:id="rId13"/>
    <p:sldId id="264" r:id="rId14"/>
    <p:sldId id="268" r:id="rId15"/>
    <p:sldId id="266" r:id="rId16"/>
    <p:sldId id="267" r:id="rId17"/>
    <p:sldId id="269" r:id="rId18"/>
    <p:sldId id="270" r:id="rId19"/>
    <p:sldId id="275" r:id="rId20"/>
    <p:sldId id="276" r:id="rId21"/>
    <p:sldId id="277" r:id="rId22"/>
    <p:sldId id="279" r:id="rId23"/>
    <p:sldId id="278" r:id="rId24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11" autoAdjust="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1.11.2026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1.11.2026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E16AC-51B8-1960-FB21-2ED0E169F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B863AB82-2EC9-ED93-7E72-6F477C722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B868D073-80CA-D5B4-E8DE-CCEE5CEA0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3D4BF84-1CFF-C482-D832-2959DEBEB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65703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867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52934-3DCB-0C0A-58B3-6495F56A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284CEAD5-B22A-2C76-081E-40CDECAE2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E6514265-E9B6-E9F3-9CDC-95215E589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8B0A017-CC74-CE66-5A6D-B5FF430173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12164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A622C-5008-A6AB-EDF5-43FC95A6F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09F1F353-7FAB-1227-E9AC-AEE677F48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484F1BE8-EE5E-36B9-8BBD-4335AD3E0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B2D08FA-1C8C-529D-78AA-DE5A578CC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27809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C33F4-CB54-4AD2-91E9-49EC34E36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DC819421-661B-736E-99D8-E10DB1C1F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109BDFE2-58BA-0CB7-3852-E7CC63CA8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A8B919D-4C0C-8413-B782-ABA47043C2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92026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1FC0-E588-63D7-5441-853FAF69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DDE123F1-FFD0-526A-A66E-F443A2F1F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F0648218-553B-93DA-C9D7-BF4390DA0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E368C05-C8F7-91E4-A949-79BC1DE97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83137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529E-97AD-41F4-5A73-21728C297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DBF8E9FD-5EB3-3571-264B-E26B7885D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A7CD92AA-B684-4FF8-30CC-F50B682CC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281A888-4DDA-BE58-73EA-E43A447A2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8249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3AE19-F96E-3345-4516-503406C9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9AFE9A29-6657-5B3A-F4D5-25DD4CD5F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6B2EBE32-6EA9-C6C3-D11A-811C48C34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3F091EC-058F-2773-4914-B3F145E55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06307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A54F6-0399-CA97-277B-181585AC6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E071998B-DB43-7A01-CA0A-A97CCD5EA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E639806B-F08E-B283-A82D-29A3D9EA5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1F32DA4-EDE3-B812-8C52-765516CAE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09324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666A9-BAC8-41F5-E83E-7DF06B6EB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0FEE8DD9-BBBF-D3D1-DBD9-086335626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69DD28D4-F467-C200-DC15-ED4EAD07F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9ED79FB-A2C7-C39E-DF81-77B4B8614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30495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60474-C563-3D9F-3915-3BD40A18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B765E08D-B0BA-FF53-A15B-90A2572F9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5D42D6AB-8D71-1F48-92BA-0F401A9D9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1EE3C79-1351-A8AA-1A1F-03C50DD77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6105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C5CB1-9E95-78E3-874F-AD1EACBE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76A78490-4B59-7C66-FF70-AC396F95A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6ACD1720-57D5-855C-7D2D-E54B1E7FC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AD0A0F8-AC8C-D069-B49D-221AFF469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12505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63A11-CFCD-B206-C3C1-B2458E78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7C584F46-118E-18E8-F603-5A30C2507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1E332AEA-2AF2-B8CA-C816-6B505A180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69E8A79-930F-E88C-1ED8-FC3D249C80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85151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10880-F6ED-DB76-B8D2-ACC5CF45F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6C11B3AD-44B0-0B40-BAAE-EFE2D85B6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34647BC2-7DFA-B81D-32D8-85A222B77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0D3ACB4-1BF1-68DB-4810-EF0DB736CE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35476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2399-7080-4DA3-ACE1-2DBE41F0D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55A7D91A-97CE-A4D1-2FB1-F6C3D23D8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48E3C655-4C33-3D80-7922-330D87D8B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9E2E28F-BE0F-70D5-FBA5-97328F6226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43198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47F71-CD79-6507-9FEF-B8F3B63A3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7161783D-BEF6-63B3-7EEE-3C4F98BBB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102B0374-EACD-47F1-B672-DFE7AF574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AE549DF-9C31-2C2C-4A23-4430F3955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898409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C76F1-2B56-AAF9-0E63-6AB1F9466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60611138-4EBE-751C-E893-9BECC1B81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3B39A709-6AFE-EFB6-FE39-10C0AF299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A3EF819-7E70-8CA8-8A5F-9B9285A047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65264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F7BC3-5C5B-63BE-119F-4A1F8329B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4B2C25A8-0F26-DE95-BD13-71A8C720C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5CAA61FF-60CA-DDCD-FB25-AAEF305C7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6F3F714-02E4-0A68-4BCE-1F90F006CA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84670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00074-69F3-922A-9D43-C4EFA68C9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BE520DED-AC91-0037-D6BC-7431DF408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9EE339D2-1037-8B1E-5278-678CDCA17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C33747C-C9B8-0183-B8F8-B4F0D5FE5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418765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94690-9FCC-5228-7C32-195EA6C80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D90D733B-952B-9765-4AD9-2E4E5C62E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1A77A221-4E3A-8DAE-F4D2-CF3616044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79979A8-194B-57BB-40E0-288F859CDF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71566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60EA-0E5D-F90C-A7CD-560380387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CD59286D-5238-3A19-3850-922ECF83D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DCBBB360-21A6-8A85-CBDA-68356C137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B22A376-F162-C26B-7E95-9C884DBDE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22548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1A72-7913-69AB-BBD3-0BD3CA152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>
            <a:extLst>
              <a:ext uri="{FF2B5EF4-FFF2-40B4-BE49-F238E27FC236}">
                <a16:creationId xmlns:a16="http://schemas.microsoft.com/office/drawing/2014/main" id="{97262A1A-057D-5E29-0246-0284E4FB1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lar Yer Tutucusu 2">
            <a:extLst>
              <a:ext uri="{FF2B5EF4-FFF2-40B4-BE49-F238E27FC236}">
                <a16:creationId xmlns:a16="http://schemas.microsoft.com/office/drawing/2014/main" id="{DC73D8C7-CBBB-367A-3017-F370E7132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86E303D-FBF3-CB69-FA7B-ACA19E81C5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50301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1.11.2026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1.11.2026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1.11.2026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1.11.2026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1.11.2026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1.11.2026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1.11.2026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1.11.2026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/>
              <a:t>Resim eklemek için simgeye tıklayın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1.11.2026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1.11.2026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1.11.2026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1.11.2026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/>
              <a:t>Mobil Uygulama Geliştirme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/>
              <a:t>Zafer SERİN</a:t>
            </a:r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F11DD-47B3-6577-1098-9E8FE367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26B86F1-B724-60C6-0459-1B65701F4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Kotlinde</a:t>
            </a:r>
            <a:r>
              <a:rPr lang="tr-TR" dirty="0"/>
              <a:t> OOP Yaklaşımı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21F1B60-BBF6-2C21-7BF1-9158010DF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dirty="0" err="1"/>
              <a:t>Kotlin</a:t>
            </a:r>
            <a:r>
              <a:rPr lang="tr-TR" dirty="0"/>
              <a:t> programlama dili OOP yaklaşımını desteklemektedir. Buna bağlı olarak </a:t>
            </a:r>
            <a:r>
              <a:rPr lang="tr-TR" dirty="0" err="1"/>
              <a:t>Encapsulation</a:t>
            </a:r>
            <a:r>
              <a:rPr lang="tr-TR" dirty="0"/>
              <a:t> (Kapsülleme/Sarmalama), </a:t>
            </a:r>
            <a:r>
              <a:rPr lang="tr-TR" dirty="0" err="1"/>
              <a:t>Inheritance</a:t>
            </a:r>
            <a:r>
              <a:rPr lang="tr-TR" dirty="0"/>
              <a:t> (Kalıtım), </a:t>
            </a:r>
            <a:r>
              <a:rPr lang="tr-TR" dirty="0" err="1"/>
              <a:t>Polymorphism</a:t>
            </a:r>
            <a:r>
              <a:rPr lang="tr-TR" dirty="0"/>
              <a:t> (Çok biçimlilik) ve </a:t>
            </a:r>
            <a:r>
              <a:rPr lang="tr-TR" dirty="0" err="1"/>
              <a:t>Abstraction</a:t>
            </a:r>
            <a:r>
              <a:rPr lang="tr-TR" dirty="0"/>
              <a:t> (Soyutlama) olarak isimlendirilen 4 OOP davranışı </a:t>
            </a:r>
            <a:r>
              <a:rPr lang="tr-TR" dirty="0" err="1"/>
              <a:t>Kotlin’de</a:t>
            </a:r>
            <a:r>
              <a:rPr lang="tr-TR" dirty="0"/>
              <a:t> kullanılabilir. </a:t>
            </a:r>
          </a:p>
        </p:txBody>
      </p:sp>
    </p:spTree>
    <p:extLst>
      <p:ext uri="{BB962C8B-B14F-4D97-AF65-F5344CB8AC3E}">
        <p14:creationId xmlns:p14="http://schemas.microsoft.com/office/powerpoint/2010/main" val="31912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Kotlinde</a:t>
            </a:r>
            <a:r>
              <a:rPr lang="tr-TR" dirty="0"/>
              <a:t> OOP Yaklaşımı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r>
              <a:rPr lang="tr-TR" dirty="0"/>
              <a:t>Aşağıda </a:t>
            </a:r>
            <a:r>
              <a:rPr lang="tr-TR" dirty="0" err="1"/>
              <a:t>Kotlin’de</a:t>
            </a:r>
            <a:r>
              <a:rPr lang="tr-TR" dirty="0"/>
              <a:t> bir </a:t>
            </a:r>
            <a:r>
              <a:rPr lang="tr-TR" dirty="0" err="1"/>
              <a:t>class</a:t>
            </a:r>
            <a:r>
              <a:rPr lang="tr-TR" dirty="0"/>
              <a:t> tanımlaması ve bu </a:t>
            </a:r>
            <a:r>
              <a:rPr lang="tr-TR" dirty="0" err="1"/>
              <a:t>classtan</a:t>
            </a:r>
            <a:r>
              <a:rPr lang="tr-TR" dirty="0"/>
              <a:t> nesne üretimi işlemi gösterilmiştir. </a:t>
            </a:r>
            <a:r>
              <a:rPr lang="tr-TR" dirty="0" err="1"/>
              <a:t>Herbir</a:t>
            </a:r>
            <a:r>
              <a:rPr lang="tr-TR" dirty="0"/>
              <a:t> </a:t>
            </a:r>
            <a:r>
              <a:rPr lang="tr-TR" dirty="0" err="1"/>
              <a:t>classın</a:t>
            </a:r>
            <a:r>
              <a:rPr lang="tr-TR" dirty="0"/>
              <a:t> aynı zamanda bir değişken tipi olduğu unutulmamalıdır.</a:t>
            </a:r>
          </a:p>
          <a:p>
            <a:pPr marL="109728" indent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class</a:t>
            </a:r>
            <a:r>
              <a:rPr lang="tr-TR" dirty="0"/>
              <a:t> Personel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/>
              <a:t>var personel1: Personel = Personel()</a:t>
            </a:r>
          </a:p>
        </p:txBody>
      </p:sp>
    </p:spTree>
    <p:extLst>
      <p:ext uri="{BB962C8B-B14F-4D97-AF65-F5344CB8AC3E}">
        <p14:creationId xmlns:p14="http://schemas.microsoft.com/office/powerpoint/2010/main" val="18518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B361-E257-FC1B-8053-49686D4AC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F97C76-A837-AB2E-953D-0D6A2017B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Kotlinde</a:t>
            </a:r>
            <a:r>
              <a:rPr lang="tr-TR" dirty="0"/>
              <a:t> Yapıcı Metot(</a:t>
            </a:r>
            <a:r>
              <a:rPr lang="tr-TR" dirty="0" err="1"/>
              <a:t>Constructor</a:t>
            </a:r>
            <a:r>
              <a:rPr lang="tr-TR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F8F9855-7650-25A3-A69D-235C5D292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</a:t>
            </a:r>
            <a:r>
              <a:rPr lang="tr-TR" dirty="0"/>
              <a:t> programlama dilinde bir </a:t>
            </a:r>
            <a:r>
              <a:rPr lang="tr-TR" dirty="0" err="1"/>
              <a:t>classtan</a:t>
            </a:r>
            <a:r>
              <a:rPr lang="tr-TR" dirty="0"/>
              <a:t> bir nesne üretildiği anda çalışan metoda yapıcı metot adı verilir. </a:t>
            </a:r>
            <a:r>
              <a:rPr lang="tr-TR" dirty="0" err="1"/>
              <a:t>Kotlin’de</a:t>
            </a:r>
            <a:r>
              <a:rPr lang="tr-TR" dirty="0"/>
              <a:t> 2 adet yapıcı metot bulunur. Bunlar: </a:t>
            </a:r>
            <a:r>
              <a:rPr lang="tr-TR" dirty="0" err="1"/>
              <a:t>primary</a:t>
            </a:r>
            <a:r>
              <a:rPr lang="tr-TR" dirty="0"/>
              <a:t>(birincil) </a:t>
            </a:r>
            <a:r>
              <a:rPr lang="tr-TR" dirty="0" err="1"/>
              <a:t>constructor</a:t>
            </a:r>
            <a:r>
              <a:rPr lang="tr-TR" dirty="0"/>
              <a:t> ve </a:t>
            </a:r>
            <a:r>
              <a:rPr lang="tr-TR" dirty="0" err="1"/>
              <a:t>secondary</a:t>
            </a:r>
            <a:r>
              <a:rPr lang="tr-TR" dirty="0"/>
              <a:t>(ikincil) </a:t>
            </a:r>
            <a:r>
              <a:rPr lang="tr-TR" dirty="0" err="1"/>
              <a:t>constructor</a:t>
            </a:r>
            <a:r>
              <a:rPr lang="tr-TR" dirty="0"/>
              <a:t> olarak isimlendirilir.</a:t>
            </a:r>
          </a:p>
          <a:p>
            <a:pPr rtl="0"/>
            <a:r>
              <a:rPr lang="tr-TR" dirty="0"/>
              <a:t>Birincil yapıcı metot tanımlanırken doğrudan </a:t>
            </a:r>
            <a:r>
              <a:rPr lang="tr-TR" dirty="0" err="1"/>
              <a:t>class</a:t>
            </a:r>
            <a:r>
              <a:rPr lang="tr-TR" dirty="0"/>
              <a:t> isminden sonra parantezler içerisinde tanımlama yapılırken ikincil yapıcı metot tanımlamak için </a:t>
            </a:r>
            <a:r>
              <a:rPr lang="tr-TR" b="1" dirty="0" err="1"/>
              <a:t>constructor</a:t>
            </a:r>
            <a:r>
              <a:rPr lang="tr-TR" b="1" dirty="0"/>
              <a:t> </a:t>
            </a:r>
            <a:r>
              <a:rPr lang="tr-TR" dirty="0"/>
              <a:t>anahtar sözcüğü kullanılır. Birincil yapıcı metodun gövdesinin tanımlanması için </a:t>
            </a:r>
            <a:r>
              <a:rPr lang="tr-TR" b="1" dirty="0" err="1"/>
              <a:t>init</a:t>
            </a:r>
            <a:r>
              <a:rPr lang="tr-TR" b="1" dirty="0"/>
              <a:t>{} </a:t>
            </a:r>
            <a:r>
              <a:rPr lang="tr-TR" dirty="0"/>
              <a:t>bloğu kullanılır.</a:t>
            </a:r>
          </a:p>
        </p:txBody>
      </p:sp>
    </p:spTree>
    <p:extLst>
      <p:ext uri="{BB962C8B-B14F-4D97-AF65-F5344CB8AC3E}">
        <p14:creationId xmlns:p14="http://schemas.microsoft.com/office/powerpoint/2010/main" val="133710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A8EDD-92D7-0A69-811A-B1BAA88DA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8ACC87-5D68-AA79-21E7-6EFAC8A4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Kotlinde</a:t>
            </a:r>
            <a:r>
              <a:rPr lang="tr-TR" dirty="0"/>
              <a:t> Yapıcı Metot(</a:t>
            </a:r>
            <a:r>
              <a:rPr lang="tr-TR" dirty="0" err="1"/>
              <a:t>Constructor</a:t>
            </a:r>
            <a:r>
              <a:rPr lang="tr-TR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D33F6EC-1F9E-D624-E943-45F14A23E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109728" indent="0" rtl="0">
              <a:buNone/>
            </a:pPr>
            <a:r>
              <a:rPr lang="tr-TR" dirty="0"/>
              <a:t>Örnek birincil yapıcı metot ve gövde tanımı:</a:t>
            </a:r>
          </a:p>
          <a:p>
            <a:pPr marL="109728" indent="0">
              <a:buNone/>
            </a:pP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Ogrenci</a:t>
            </a:r>
            <a:r>
              <a:rPr lang="tr-TR" dirty="0"/>
              <a:t>(var isim: </a:t>
            </a:r>
            <a:r>
              <a:rPr lang="tr-TR" dirty="0" err="1"/>
              <a:t>String</a:t>
            </a:r>
            <a:r>
              <a:rPr lang="tr-TR" dirty="0"/>
              <a:t>, var yas: </a:t>
            </a:r>
            <a:r>
              <a:rPr lang="tr-TR" dirty="0" err="1"/>
              <a:t>Int</a:t>
            </a:r>
            <a:r>
              <a:rPr lang="tr-TR" dirty="0"/>
              <a:t>)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init</a:t>
            </a:r>
            <a:r>
              <a:rPr lang="tr-TR" dirty="0"/>
              <a:t> {</a:t>
            </a:r>
            <a:br>
              <a:rPr lang="tr-TR" dirty="0"/>
            </a:br>
            <a:r>
              <a:rPr lang="tr-TR" dirty="0"/>
              <a:t>        </a:t>
            </a:r>
            <a:r>
              <a:rPr lang="tr-TR" i="1" dirty="0" err="1"/>
              <a:t>println</a:t>
            </a:r>
            <a:r>
              <a:rPr lang="tr-TR" dirty="0"/>
              <a:t>("</a:t>
            </a:r>
            <a:r>
              <a:rPr lang="tr-TR" dirty="0" err="1"/>
              <a:t>Ogrenci</a:t>
            </a:r>
            <a:r>
              <a:rPr lang="tr-TR" dirty="0"/>
              <a:t> nesnesi </a:t>
            </a:r>
            <a:r>
              <a:rPr lang="tr-TR" dirty="0" err="1"/>
              <a:t>olusturuldu</a:t>
            </a:r>
            <a:r>
              <a:rPr lang="tr-TR" dirty="0"/>
              <a:t>")</a:t>
            </a:r>
            <a:br>
              <a:rPr lang="tr-TR" dirty="0"/>
            </a:br>
            <a:r>
              <a:rPr lang="tr-TR" dirty="0"/>
              <a:t>    }</a:t>
            </a: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/>
              <a:t>var ogrenci1:Ogrenci = </a:t>
            </a:r>
            <a:r>
              <a:rPr lang="tr-TR" dirty="0" err="1"/>
              <a:t>Ogrenci</a:t>
            </a:r>
            <a:r>
              <a:rPr lang="tr-TR" dirty="0"/>
              <a:t>("Ahmet", 20)</a:t>
            </a:r>
          </a:p>
          <a:p>
            <a:pPr marL="109728" indent="0" rtl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7892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C0912-3201-F544-B048-530B325C1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2EB982-87CC-A687-5641-D657717C6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Kotlinde</a:t>
            </a:r>
            <a:r>
              <a:rPr lang="tr-TR" dirty="0"/>
              <a:t> Yapıcı Metot(</a:t>
            </a:r>
            <a:r>
              <a:rPr lang="tr-TR" dirty="0" err="1"/>
              <a:t>Constructor</a:t>
            </a:r>
            <a:r>
              <a:rPr lang="tr-TR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8EF6FB4-0619-D209-AC50-0611C02FB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109728" indent="0" rtl="0">
              <a:buNone/>
            </a:pPr>
            <a:r>
              <a:rPr lang="tr-TR" dirty="0"/>
              <a:t>Örnek ikincil yapıcı metot ve gövde tanımı:</a:t>
            </a:r>
          </a:p>
          <a:p>
            <a:pPr marL="109728" indent="0">
              <a:buNone/>
            </a:pP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Ogrenci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constructor</a:t>
            </a:r>
            <a:r>
              <a:rPr lang="tr-TR" dirty="0"/>
              <a:t>(isim: </a:t>
            </a:r>
            <a:r>
              <a:rPr lang="tr-TR" dirty="0" err="1"/>
              <a:t>String</a:t>
            </a:r>
            <a:r>
              <a:rPr lang="tr-TR" dirty="0"/>
              <a:t>, yas: </a:t>
            </a:r>
            <a:r>
              <a:rPr lang="tr-TR" dirty="0" err="1"/>
              <a:t>Int</a:t>
            </a:r>
            <a:r>
              <a:rPr lang="tr-TR" dirty="0"/>
              <a:t>)</a:t>
            </a:r>
            <a:br>
              <a:rPr lang="tr-TR" dirty="0"/>
            </a:br>
            <a:r>
              <a:rPr lang="tr-TR" dirty="0"/>
              <a:t>    {</a:t>
            </a:r>
            <a:br>
              <a:rPr lang="tr-TR" dirty="0"/>
            </a:br>
            <a:r>
              <a:rPr lang="tr-TR" dirty="0"/>
              <a:t>        </a:t>
            </a:r>
            <a:r>
              <a:rPr lang="tr-TR" i="1" dirty="0" err="1"/>
              <a:t>println</a:t>
            </a:r>
            <a:r>
              <a:rPr lang="tr-TR" dirty="0"/>
              <a:t>("</a:t>
            </a:r>
            <a:r>
              <a:rPr lang="tr-TR" dirty="0" err="1"/>
              <a:t>Ogrenci</a:t>
            </a:r>
            <a:r>
              <a:rPr lang="tr-TR" dirty="0"/>
              <a:t> nesnesi </a:t>
            </a:r>
            <a:r>
              <a:rPr lang="tr-TR" dirty="0" err="1"/>
              <a:t>olusturuldu</a:t>
            </a:r>
            <a:r>
              <a:rPr lang="tr-TR" dirty="0"/>
              <a:t>")</a:t>
            </a:r>
            <a:br>
              <a:rPr lang="tr-TR" dirty="0"/>
            </a:br>
            <a:r>
              <a:rPr lang="tr-TR" dirty="0"/>
              <a:t>    }</a:t>
            </a: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/>
              <a:t>var ogrenci1:Ogrenci = </a:t>
            </a:r>
            <a:r>
              <a:rPr lang="tr-TR" dirty="0" err="1"/>
              <a:t>Ogrenci</a:t>
            </a:r>
            <a:r>
              <a:rPr lang="tr-TR" dirty="0"/>
              <a:t>("Ahmet", 20)</a:t>
            </a:r>
          </a:p>
          <a:p>
            <a:pPr marL="109728" indent="0" rtl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3309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E1249-7162-04B9-5DF9-7BB632CD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DD420B-E788-5AA4-17D6-B7A36DD8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Kotlinde</a:t>
            </a:r>
            <a:r>
              <a:rPr lang="tr-TR" dirty="0"/>
              <a:t> Yapıcı Metot(</a:t>
            </a:r>
            <a:r>
              <a:rPr lang="tr-TR" dirty="0" err="1"/>
              <a:t>Constructor</a:t>
            </a:r>
            <a:r>
              <a:rPr lang="tr-TR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2F2CE4-E34C-84B2-88CB-571659DBD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tr-TR" dirty="0"/>
              <a:t>Yapıcı metot örneklerinde birincil yapıcı metot tanımlanırken ilgili yapılar var anahtar sözcüğü ile işaretlenirse bunlar </a:t>
            </a:r>
            <a:r>
              <a:rPr lang="tr-TR" dirty="0" err="1"/>
              <a:t>class</a:t>
            </a:r>
            <a:r>
              <a:rPr lang="tr-TR" dirty="0"/>
              <a:t> içerisinde arka planda hazır </a:t>
            </a:r>
            <a:r>
              <a:rPr lang="tr-TR" dirty="0" err="1"/>
              <a:t>property</a:t>
            </a:r>
            <a:r>
              <a:rPr lang="tr-TR" dirty="0"/>
              <a:t> olarak da oluşturulacaktır. Buna bağlı olarak nesnenin elemanı olarak kullanılabilirler. Burada var anahtar sözcüğü veya </a:t>
            </a:r>
            <a:r>
              <a:rPr lang="tr-TR" dirty="0" err="1"/>
              <a:t>val</a:t>
            </a:r>
            <a:r>
              <a:rPr lang="tr-TR" dirty="0"/>
              <a:t> anahtar sözcüğü kullanılmaz ise bunlar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propertysi</a:t>
            </a:r>
            <a:r>
              <a:rPr lang="tr-TR" dirty="0"/>
              <a:t> olarak bulunmayacaktır.</a:t>
            </a:r>
          </a:p>
          <a:p>
            <a:r>
              <a:rPr lang="tr-TR" dirty="0"/>
              <a:t>Buna karşın ikincil yapıcı metot örneğinde görüldüğü üzere var anahtar sözcüğü kullanılmamıştır ve kullanılırsa hata alınacaktır. Buna bağlı olarak burada </a:t>
            </a:r>
            <a:r>
              <a:rPr lang="tr-TR" dirty="0" err="1"/>
              <a:t>property</a:t>
            </a:r>
            <a:r>
              <a:rPr lang="tr-TR" dirty="0"/>
              <a:t> oluşturulmayacaktır.</a:t>
            </a:r>
          </a:p>
        </p:txBody>
      </p:sp>
    </p:spTree>
    <p:extLst>
      <p:ext uri="{BB962C8B-B14F-4D97-AF65-F5344CB8AC3E}">
        <p14:creationId xmlns:p14="http://schemas.microsoft.com/office/powerpoint/2010/main" val="56065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F2567-4C18-D0A6-FA5E-24F675CBA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9A20707-F58B-3E7E-AD67-F58ACA12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Kotlinde</a:t>
            </a:r>
            <a:r>
              <a:rPr lang="tr-TR" dirty="0"/>
              <a:t> Erişim Belirteçleri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0B1429-979E-7662-82B0-BDA7C4BCA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</a:t>
            </a:r>
            <a:r>
              <a:rPr lang="tr-TR" dirty="0"/>
              <a:t> programlama dilinde 4 adet erişim belirteci kullanılır. Bunlar:</a:t>
            </a:r>
          </a:p>
          <a:p>
            <a:pPr marL="109728" indent="0" rtl="0">
              <a:buNone/>
            </a:pPr>
            <a:r>
              <a:rPr lang="tr-TR" dirty="0" err="1"/>
              <a:t>private</a:t>
            </a:r>
            <a:r>
              <a:rPr lang="tr-TR" dirty="0"/>
              <a:t>: Yalnızca </a:t>
            </a:r>
            <a:r>
              <a:rPr lang="tr-TR" dirty="0" err="1"/>
              <a:t>class</a:t>
            </a:r>
            <a:r>
              <a:rPr lang="tr-TR" dirty="0"/>
              <a:t> içerisinden erişime izin verir</a:t>
            </a:r>
          </a:p>
          <a:p>
            <a:pPr marL="109728" indent="0" rtl="0">
              <a:buNone/>
            </a:pPr>
            <a:r>
              <a:rPr lang="tr-TR" dirty="0" err="1"/>
              <a:t>public</a:t>
            </a:r>
            <a:r>
              <a:rPr lang="tr-TR" dirty="0"/>
              <a:t>: Her yerden erişime izin verir</a:t>
            </a:r>
          </a:p>
          <a:p>
            <a:pPr marL="109728" indent="0" rtl="0">
              <a:buNone/>
            </a:pPr>
            <a:r>
              <a:rPr lang="tr-TR" dirty="0" err="1"/>
              <a:t>protected</a:t>
            </a:r>
            <a:r>
              <a:rPr lang="tr-TR" dirty="0"/>
              <a:t>: Yalnızca </a:t>
            </a:r>
            <a:r>
              <a:rPr lang="tr-TR" dirty="0" err="1"/>
              <a:t>class</a:t>
            </a:r>
            <a:r>
              <a:rPr lang="tr-TR" dirty="0"/>
              <a:t> içerisinden ve kalıtım verilen </a:t>
            </a:r>
            <a:r>
              <a:rPr lang="tr-TR" dirty="0" err="1"/>
              <a:t>class</a:t>
            </a:r>
            <a:r>
              <a:rPr lang="tr-TR" dirty="0"/>
              <a:t> içerisinden erişime izin verilir</a:t>
            </a:r>
          </a:p>
          <a:p>
            <a:pPr marL="109728" indent="0" rtl="0">
              <a:buNone/>
            </a:pPr>
            <a:r>
              <a:rPr lang="tr-TR" dirty="0" err="1"/>
              <a:t>internal</a:t>
            </a:r>
            <a:r>
              <a:rPr lang="tr-TR" dirty="0"/>
              <a:t>: İlgili modülün tamamından erişime izin verilir.</a:t>
            </a:r>
          </a:p>
          <a:p>
            <a:r>
              <a:rPr lang="tr-TR" dirty="0"/>
              <a:t>Bir elemanın başına hiçbir erişim belirteci yazılmaz ise varsayılan olarak </a:t>
            </a:r>
            <a:r>
              <a:rPr lang="tr-TR" dirty="0" err="1"/>
              <a:t>public</a:t>
            </a:r>
            <a:r>
              <a:rPr lang="tr-TR" dirty="0"/>
              <a:t> ile işaretlidir.</a:t>
            </a:r>
          </a:p>
        </p:txBody>
      </p:sp>
    </p:spTree>
    <p:extLst>
      <p:ext uri="{BB962C8B-B14F-4D97-AF65-F5344CB8AC3E}">
        <p14:creationId xmlns:p14="http://schemas.microsoft.com/office/powerpoint/2010/main" val="18781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7F619-1C4F-CFC3-41A3-84AA35BDF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D7A243-57D0-AD5D-6A03-F7FB0A96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Encapsulation</a:t>
            </a:r>
            <a:r>
              <a:rPr lang="tr-TR" dirty="0"/>
              <a:t> (Kapsülleme/Sarmalama)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4519E27-2504-2D29-8F7F-46919B45C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değerlerin dışarıya kontrollü bir şekilde açılması ve bunlara kontrollü bir şekilde değer atanması için </a:t>
            </a:r>
            <a:r>
              <a:rPr lang="tr-TR" dirty="0" err="1"/>
              <a:t>Encapsulation</a:t>
            </a:r>
            <a:r>
              <a:rPr lang="tr-TR" dirty="0"/>
              <a:t> kullanılabilir.</a:t>
            </a:r>
          </a:p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Musteri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private</a:t>
            </a:r>
            <a:r>
              <a:rPr lang="tr-TR" dirty="0"/>
              <a:t> var </a:t>
            </a:r>
            <a:r>
              <a:rPr lang="tr-TR" dirty="0" err="1"/>
              <a:t>bakiye:Int</a:t>
            </a:r>
            <a:r>
              <a:rPr lang="tr-TR" dirty="0"/>
              <a:t> = 0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fun</a:t>
            </a:r>
            <a:r>
              <a:rPr lang="tr-TR" dirty="0"/>
              <a:t> </a:t>
            </a:r>
            <a:r>
              <a:rPr lang="tr-TR" dirty="0" err="1"/>
              <a:t>getBakiye</a:t>
            </a:r>
            <a:r>
              <a:rPr lang="tr-TR" dirty="0"/>
              <a:t>():</a:t>
            </a:r>
            <a:r>
              <a:rPr lang="tr-TR" dirty="0" err="1"/>
              <a:t>Int</a:t>
            </a:r>
            <a:r>
              <a:rPr lang="tr-TR" dirty="0"/>
              <a:t>{</a:t>
            </a:r>
            <a:r>
              <a:rPr lang="tr-TR" dirty="0" err="1"/>
              <a:t>return</a:t>
            </a:r>
            <a:r>
              <a:rPr lang="tr-TR" dirty="0"/>
              <a:t> </a:t>
            </a:r>
            <a:r>
              <a:rPr lang="tr-TR" dirty="0" err="1"/>
              <a:t>this.bakiye</a:t>
            </a:r>
            <a:r>
              <a:rPr lang="tr-TR" dirty="0"/>
              <a:t>}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fun</a:t>
            </a:r>
            <a:r>
              <a:rPr lang="tr-TR" dirty="0"/>
              <a:t> </a:t>
            </a:r>
            <a:r>
              <a:rPr lang="tr-TR" dirty="0" err="1"/>
              <a:t>setBakiye</a:t>
            </a:r>
            <a:r>
              <a:rPr lang="tr-TR" dirty="0"/>
              <a:t>(</a:t>
            </a:r>
            <a:r>
              <a:rPr lang="tr-TR" dirty="0" err="1"/>
              <a:t>value</a:t>
            </a:r>
            <a:r>
              <a:rPr lang="tr-TR" dirty="0"/>
              <a:t>: </a:t>
            </a:r>
            <a:r>
              <a:rPr lang="tr-TR" dirty="0" err="1"/>
              <a:t>Int</a:t>
            </a:r>
            <a:r>
              <a:rPr lang="tr-TR" dirty="0"/>
              <a:t>){</a:t>
            </a:r>
            <a:r>
              <a:rPr lang="tr-TR" dirty="0" err="1"/>
              <a:t>this.bakiye</a:t>
            </a:r>
            <a:r>
              <a:rPr lang="tr-TR" dirty="0"/>
              <a:t> = </a:t>
            </a:r>
            <a:r>
              <a:rPr lang="tr-TR" dirty="0" err="1"/>
              <a:t>value</a:t>
            </a:r>
            <a:r>
              <a:rPr lang="tr-TR" dirty="0"/>
              <a:t>}</a:t>
            </a:r>
            <a:br>
              <a:rPr lang="tr-TR" dirty="0"/>
            </a:br>
            <a:r>
              <a:rPr lang="tr-TR" dirty="0"/>
              <a:t>}</a:t>
            </a:r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8396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AE764-6AF2-B066-CB20-9B56121AC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5DC53A-B7DA-7469-0B25-06923057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Inheritance</a:t>
            </a:r>
            <a:r>
              <a:rPr lang="tr-TR" dirty="0"/>
              <a:t> (Kalıtım)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36E82C5-AB66-8029-618B-C96D96DDD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bir </a:t>
            </a:r>
            <a:r>
              <a:rPr lang="tr-TR" dirty="0" err="1"/>
              <a:t>class</a:t>
            </a:r>
            <a:r>
              <a:rPr lang="tr-TR" dirty="0"/>
              <a:t> içerisindeki erişilebilen tüm üyelerin başka bir </a:t>
            </a:r>
            <a:r>
              <a:rPr lang="tr-TR" dirty="0" err="1"/>
              <a:t>classa</a:t>
            </a:r>
            <a:r>
              <a:rPr lang="tr-TR" dirty="0"/>
              <a:t> aktarılması için </a:t>
            </a:r>
            <a:r>
              <a:rPr lang="tr-TR" dirty="0" err="1"/>
              <a:t>Inheritance</a:t>
            </a:r>
            <a:r>
              <a:rPr lang="tr-TR" dirty="0"/>
              <a:t> davranışı kullanılır. </a:t>
            </a:r>
            <a:r>
              <a:rPr lang="tr-TR" dirty="0" err="1"/>
              <a:t>Kotlin’de</a:t>
            </a:r>
            <a:r>
              <a:rPr lang="tr-TR" dirty="0"/>
              <a:t> bir </a:t>
            </a:r>
            <a:r>
              <a:rPr lang="tr-TR" dirty="0" err="1"/>
              <a:t>class</a:t>
            </a:r>
            <a:r>
              <a:rPr lang="tr-TR" dirty="0"/>
              <a:t> varsayılan olarak final anahtar sözcüğü ile işaretlidir ve bu anahtar sözcük kalıtım verilmesini engeller (varsayılan olarak </a:t>
            </a:r>
            <a:r>
              <a:rPr lang="tr-TR" dirty="0" err="1"/>
              <a:t>classlar</a:t>
            </a:r>
            <a:r>
              <a:rPr lang="tr-TR" dirty="0"/>
              <a:t> final ile işaretlidir). </a:t>
            </a:r>
            <a:r>
              <a:rPr lang="tr-TR" dirty="0" err="1"/>
              <a:t>Classı</a:t>
            </a:r>
            <a:r>
              <a:rPr lang="tr-TR" dirty="0"/>
              <a:t> kalıtıma açmak için </a:t>
            </a:r>
            <a:r>
              <a:rPr lang="tr-TR" dirty="0" err="1"/>
              <a:t>open</a:t>
            </a:r>
            <a:r>
              <a:rPr lang="tr-TR" dirty="0"/>
              <a:t> anahtar sözcüğü ile işaretlemek gerekir. Kalıtım işleminin gerçekleştirilmesi için </a:t>
            </a:r>
            <a:r>
              <a:rPr lang="tr-TR" b="1" dirty="0"/>
              <a:t>‘:’ </a:t>
            </a:r>
            <a:r>
              <a:rPr lang="tr-TR" dirty="0"/>
              <a:t>operatörü kullanılır.</a:t>
            </a:r>
          </a:p>
        </p:txBody>
      </p:sp>
    </p:spTree>
    <p:extLst>
      <p:ext uri="{BB962C8B-B14F-4D97-AF65-F5344CB8AC3E}">
        <p14:creationId xmlns:p14="http://schemas.microsoft.com/office/powerpoint/2010/main" val="68178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94D25-82BA-35B9-D909-CABD85E59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9D4AFB-34A5-D501-4D22-58B54D0B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tr-TR" dirty="0" err="1"/>
              <a:t>Inheritance</a:t>
            </a:r>
            <a:r>
              <a:rPr lang="tr-TR" dirty="0"/>
              <a:t> (Kalıtım)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7B0305-F6F0-4008-FA69-8DCB63BA4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open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Calisan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 err="1"/>
              <a:t>class</a:t>
            </a:r>
            <a:r>
              <a:rPr lang="tr-TR" dirty="0"/>
              <a:t> Stajyer : </a:t>
            </a:r>
            <a:r>
              <a:rPr lang="tr-TR" dirty="0" err="1"/>
              <a:t>Calisan</a:t>
            </a:r>
            <a:r>
              <a:rPr lang="tr-TR" dirty="0"/>
              <a:t>()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br>
              <a:rPr lang="tr-TR" dirty="0"/>
            </a:br>
            <a:r>
              <a:rPr lang="tr-TR" dirty="0"/>
              <a:t>}</a:t>
            </a:r>
          </a:p>
          <a:p>
            <a:pPr marL="109728" indent="0" rtl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4622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8DF16-AA30-8582-B0FA-2166EC09A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705CBA-508F-9FE5-D531-0E6C09E3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tr-TR" dirty="0" err="1"/>
              <a:t>Inheritance</a:t>
            </a:r>
            <a:r>
              <a:rPr lang="tr-TR" dirty="0"/>
              <a:t> (Kalıtım)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A910A7-3C6E-C819-BBF1-5C00EF624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bir </a:t>
            </a:r>
            <a:r>
              <a:rPr lang="tr-TR" dirty="0" err="1"/>
              <a:t>class</a:t>
            </a:r>
            <a:r>
              <a:rPr lang="tr-TR" dirty="0"/>
              <a:t> kendi nesnesinin elemanlarına ulaşmak için </a:t>
            </a:r>
            <a:r>
              <a:rPr lang="tr-TR" b="1" dirty="0" err="1"/>
              <a:t>this</a:t>
            </a:r>
            <a:r>
              <a:rPr lang="tr-TR" b="1" dirty="0"/>
              <a:t> </a:t>
            </a:r>
            <a:r>
              <a:rPr lang="tr-TR" dirty="0"/>
              <a:t>anahtar sözcüğü, kalıtım ilişkisi bulunan üst </a:t>
            </a:r>
            <a:r>
              <a:rPr lang="tr-TR" dirty="0" err="1"/>
              <a:t>classların</a:t>
            </a:r>
            <a:r>
              <a:rPr lang="tr-TR" dirty="0"/>
              <a:t> elemanlarına erişmek için ise </a:t>
            </a:r>
            <a:r>
              <a:rPr lang="tr-TR" b="1" dirty="0" err="1"/>
              <a:t>super</a:t>
            </a:r>
            <a:r>
              <a:rPr lang="tr-TR" b="1" dirty="0"/>
              <a:t> </a:t>
            </a:r>
            <a:r>
              <a:rPr lang="tr-TR" dirty="0"/>
              <a:t>anahtar sözcüğü kullanılır.</a:t>
            </a:r>
          </a:p>
        </p:txBody>
      </p:sp>
    </p:spTree>
    <p:extLst>
      <p:ext uri="{BB962C8B-B14F-4D97-AF65-F5344CB8AC3E}">
        <p14:creationId xmlns:p14="http://schemas.microsoft.com/office/powerpoint/2010/main" val="229563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BE721-45E0-8BA6-71A2-F02752B81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BABA73-3055-0F96-F004-39BA10C5E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Polymorphism</a:t>
            </a:r>
            <a:r>
              <a:rPr lang="tr-TR" dirty="0"/>
              <a:t> (Çok biçimlilik)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E91B0C5-61C3-A9AA-096B-24FC7188A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bir nesnenin kalıtımsal işlemler gereği farklı </a:t>
            </a:r>
            <a:r>
              <a:rPr lang="tr-TR" dirty="0" err="1"/>
              <a:t>classların</a:t>
            </a:r>
            <a:r>
              <a:rPr lang="tr-TR" dirty="0"/>
              <a:t> nesneleri gibi davranabilmesi ve ilgili nesne yapısına bürünmesi için </a:t>
            </a:r>
            <a:r>
              <a:rPr lang="tr-TR" dirty="0" err="1"/>
              <a:t>Polymorphism</a:t>
            </a:r>
            <a:r>
              <a:rPr lang="tr-TR" dirty="0"/>
              <a:t> kullanılabilir. Ek olarak üst </a:t>
            </a:r>
            <a:r>
              <a:rPr lang="tr-TR" dirty="0" err="1"/>
              <a:t>classlardan</a:t>
            </a:r>
            <a:r>
              <a:rPr lang="tr-TR" dirty="0"/>
              <a:t> herhangi </a:t>
            </a:r>
            <a:r>
              <a:rPr lang="tr-TR" dirty="0" err="1"/>
              <a:t>birindeopen</a:t>
            </a:r>
            <a:r>
              <a:rPr lang="tr-TR" dirty="0"/>
              <a:t> anahtar sözcüğü ile işaretlenen bir üye alt </a:t>
            </a:r>
            <a:r>
              <a:rPr lang="tr-TR" dirty="0" err="1"/>
              <a:t>classlarda</a:t>
            </a:r>
            <a:r>
              <a:rPr lang="tr-TR" dirty="0"/>
              <a:t> </a:t>
            </a:r>
            <a:r>
              <a:rPr lang="tr-TR" dirty="0" err="1"/>
              <a:t>override</a:t>
            </a:r>
            <a:r>
              <a:rPr lang="tr-TR" dirty="0"/>
              <a:t> anahtar sözcüğü ile ezilebilir.</a:t>
            </a:r>
          </a:p>
        </p:txBody>
      </p:sp>
    </p:spTree>
    <p:extLst>
      <p:ext uri="{BB962C8B-B14F-4D97-AF65-F5344CB8AC3E}">
        <p14:creationId xmlns:p14="http://schemas.microsoft.com/office/powerpoint/2010/main" val="156312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09887-165F-4D0B-14FB-DC55AC11C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5014E8-305E-073A-699E-BBF934BC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Polymorphism</a:t>
            </a:r>
            <a:r>
              <a:rPr lang="tr-TR" dirty="0"/>
              <a:t> (Çok biçimlilik)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8990633-81AE-E169-BCE7-5682D29E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open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Personel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open</a:t>
            </a:r>
            <a:r>
              <a:rPr lang="tr-TR" dirty="0"/>
              <a:t> var </a:t>
            </a:r>
            <a:r>
              <a:rPr lang="tr-TR" dirty="0" err="1"/>
              <a:t>yas:Int</a:t>
            </a:r>
            <a:r>
              <a:rPr lang="tr-TR" dirty="0"/>
              <a:t> = 25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open</a:t>
            </a:r>
            <a:r>
              <a:rPr lang="tr-TR" dirty="0"/>
              <a:t> </a:t>
            </a:r>
            <a:r>
              <a:rPr lang="tr-TR" dirty="0" err="1"/>
              <a:t>fun</a:t>
            </a:r>
            <a:r>
              <a:rPr lang="tr-TR" dirty="0"/>
              <a:t> hesapla() : </a:t>
            </a:r>
            <a:r>
              <a:rPr lang="tr-TR" dirty="0" err="1"/>
              <a:t>Int</a:t>
            </a:r>
            <a:br>
              <a:rPr lang="tr-TR" dirty="0"/>
            </a:br>
            <a:r>
              <a:rPr lang="tr-TR" dirty="0"/>
              <a:t>    {</a:t>
            </a:r>
            <a:br>
              <a:rPr lang="tr-TR" dirty="0"/>
            </a:br>
            <a:r>
              <a:rPr lang="tr-TR" dirty="0"/>
              <a:t>        </a:t>
            </a:r>
            <a:r>
              <a:rPr lang="tr-TR" dirty="0" err="1"/>
              <a:t>return</a:t>
            </a:r>
            <a:r>
              <a:rPr lang="tr-TR" dirty="0"/>
              <a:t> 1500</a:t>
            </a:r>
            <a:br>
              <a:rPr lang="tr-TR" dirty="0"/>
            </a:br>
            <a:r>
              <a:rPr lang="tr-TR" dirty="0"/>
              <a:t>    }</a:t>
            </a: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AkademikPersonel</a:t>
            </a:r>
            <a:r>
              <a:rPr lang="tr-TR" dirty="0"/>
              <a:t> : Personel()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override</a:t>
            </a:r>
            <a:r>
              <a:rPr lang="tr-TR" dirty="0"/>
              <a:t> var yas: </a:t>
            </a:r>
            <a:r>
              <a:rPr lang="tr-TR" dirty="0" err="1"/>
              <a:t>Int</a:t>
            </a:r>
            <a:r>
              <a:rPr lang="tr-TR" dirty="0"/>
              <a:t> = 30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override</a:t>
            </a:r>
            <a:r>
              <a:rPr lang="tr-TR" dirty="0"/>
              <a:t> </a:t>
            </a:r>
            <a:r>
              <a:rPr lang="tr-TR" dirty="0" err="1"/>
              <a:t>fun</a:t>
            </a:r>
            <a:r>
              <a:rPr lang="tr-TR" dirty="0"/>
              <a:t> hesapla(): </a:t>
            </a:r>
            <a:r>
              <a:rPr lang="tr-TR" dirty="0" err="1"/>
              <a:t>Int</a:t>
            </a:r>
            <a:r>
              <a:rPr lang="tr-TR" dirty="0"/>
              <a:t> {</a:t>
            </a:r>
            <a:br>
              <a:rPr lang="tr-TR" dirty="0"/>
            </a:br>
            <a:r>
              <a:rPr lang="tr-TR" dirty="0"/>
              <a:t>        </a:t>
            </a:r>
            <a:r>
              <a:rPr lang="tr-TR" dirty="0" err="1"/>
              <a:t>return</a:t>
            </a:r>
            <a:r>
              <a:rPr lang="tr-TR" dirty="0"/>
              <a:t> 5000</a:t>
            </a:r>
            <a:br>
              <a:rPr lang="tr-TR" dirty="0"/>
            </a:br>
            <a:r>
              <a:rPr lang="tr-TR" dirty="0"/>
              <a:t>    }</a:t>
            </a:r>
            <a:br>
              <a:rPr lang="tr-TR" dirty="0"/>
            </a:br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680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403E6-0D29-8C5E-991A-6DA7DF62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84407F-40A0-BDFA-C4B3-C51C32264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Polymorphism</a:t>
            </a:r>
            <a:r>
              <a:rPr lang="tr-TR" dirty="0"/>
              <a:t> (Çok biçimlilik)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285741A-DEB5-A6AA-DCF3-47D822E8F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open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Ogrenci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IlkokulOgrenci</a:t>
            </a:r>
            <a:r>
              <a:rPr lang="tr-TR" dirty="0"/>
              <a:t> : </a:t>
            </a:r>
            <a:r>
              <a:rPr lang="tr-TR" dirty="0" err="1"/>
              <a:t>Ogrenci</a:t>
            </a:r>
            <a:r>
              <a:rPr lang="tr-TR" dirty="0"/>
              <a:t>()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/>
              <a:t>var ogrenci1: </a:t>
            </a:r>
            <a:r>
              <a:rPr lang="tr-TR" dirty="0" err="1"/>
              <a:t>Ogrenci</a:t>
            </a:r>
            <a:r>
              <a:rPr lang="tr-TR" dirty="0"/>
              <a:t> = </a:t>
            </a:r>
            <a:r>
              <a:rPr lang="tr-TR" dirty="0" err="1"/>
              <a:t>Ogrenci</a:t>
            </a:r>
            <a:r>
              <a:rPr lang="tr-TR" dirty="0"/>
              <a:t>()</a:t>
            </a:r>
            <a:br>
              <a:rPr lang="tr-TR" dirty="0"/>
            </a:br>
            <a:r>
              <a:rPr lang="tr-TR" dirty="0"/>
              <a:t>var ogrenci1: </a:t>
            </a:r>
            <a:r>
              <a:rPr lang="tr-TR" dirty="0" err="1"/>
              <a:t>Ogrenci</a:t>
            </a:r>
            <a:r>
              <a:rPr lang="tr-TR" dirty="0"/>
              <a:t> = </a:t>
            </a:r>
            <a:r>
              <a:rPr lang="tr-TR" dirty="0" err="1"/>
              <a:t>IlkokulOgrenci</a:t>
            </a:r>
            <a:r>
              <a:rPr lang="tr-TR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19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D17CE-DD7E-4776-E442-C073F70D3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EC7123-CFFF-8942-FF3B-5A178E50D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Abstraction</a:t>
            </a:r>
            <a:r>
              <a:rPr lang="tr-TR" dirty="0"/>
              <a:t> (Soyutlama)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8A34E64-8F8D-55EB-8681-BC079C0F4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rtl="0"/>
            <a:r>
              <a:rPr lang="tr-TR" dirty="0" err="1"/>
              <a:t>Kotlin’de</a:t>
            </a:r>
            <a:r>
              <a:rPr lang="tr-TR" dirty="0"/>
              <a:t> ilgili yapıların soyutlanması için </a:t>
            </a:r>
            <a:r>
              <a:rPr lang="tr-TR" dirty="0" err="1"/>
              <a:t>interface</a:t>
            </a:r>
            <a:r>
              <a:rPr lang="tr-TR" dirty="0"/>
              <a:t> (arayüz) yapılanması kullanılabilir.</a:t>
            </a:r>
          </a:p>
          <a:p>
            <a:pPr marL="109728" indent="0" rtl="0">
              <a:buNone/>
            </a:pPr>
            <a:r>
              <a:rPr lang="tr-TR" dirty="0"/>
              <a:t>Örnek:</a:t>
            </a:r>
          </a:p>
          <a:p>
            <a:pPr marL="109728" indent="0">
              <a:buNone/>
            </a:pPr>
            <a:r>
              <a:rPr lang="tr-TR" dirty="0" err="1"/>
              <a:t>interface</a:t>
            </a:r>
            <a:r>
              <a:rPr lang="tr-TR" dirty="0"/>
              <a:t> IAPI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var </a:t>
            </a:r>
            <a:r>
              <a:rPr lang="tr-TR" dirty="0" err="1"/>
              <a:t>istekSayisi</a:t>
            </a:r>
            <a:r>
              <a:rPr lang="tr-TR" dirty="0"/>
              <a:t>: </a:t>
            </a:r>
            <a:r>
              <a:rPr lang="tr-TR" dirty="0" err="1"/>
              <a:t>Int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fun</a:t>
            </a:r>
            <a:r>
              <a:rPr lang="tr-TR" dirty="0"/>
              <a:t> </a:t>
            </a:r>
            <a:r>
              <a:rPr lang="tr-TR" dirty="0" err="1"/>
              <a:t>istekAt</a:t>
            </a:r>
            <a:r>
              <a:rPr lang="tr-TR" dirty="0"/>
              <a:t>()</a:t>
            </a:r>
            <a:br>
              <a:rPr lang="tr-TR" dirty="0"/>
            </a:br>
            <a:r>
              <a:rPr lang="tr-TR" dirty="0"/>
              <a:t>}</a:t>
            </a:r>
            <a:br>
              <a:rPr lang="tr-TR" dirty="0"/>
            </a:br>
            <a:r>
              <a:rPr lang="tr-TR" dirty="0" err="1"/>
              <a:t>class</a:t>
            </a:r>
            <a:r>
              <a:rPr lang="tr-TR" dirty="0"/>
              <a:t> </a:t>
            </a:r>
            <a:r>
              <a:rPr lang="tr-TR" dirty="0" err="1"/>
              <a:t>Get</a:t>
            </a:r>
            <a:r>
              <a:rPr lang="tr-TR" dirty="0"/>
              <a:t> : IAPI</a:t>
            </a:r>
            <a:br>
              <a:rPr lang="tr-TR" dirty="0"/>
            </a:br>
            <a:r>
              <a:rPr lang="tr-TR" dirty="0"/>
              <a:t>{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override</a:t>
            </a:r>
            <a:r>
              <a:rPr lang="tr-TR" dirty="0"/>
              <a:t> var </a:t>
            </a:r>
            <a:r>
              <a:rPr lang="tr-TR" dirty="0" err="1"/>
              <a:t>istekSayisi</a:t>
            </a:r>
            <a:r>
              <a:rPr lang="tr-TR" dirty="0"/>
              <a:t>: </a:t>
            </a:r>
            <a:r>
              <a:rPr lang="tr-TR" dirty="0" err="1"/>
              <a:t>Int</a:t>
            </a:r>
            <a:r>
              <a:rPr lang="tr-TR" dirty="0"/>
              <a:t> = 25</a:t>
            </a:r>
            <a:br>
              <a:rPr lang="tr-TR" dirty="0"/>
            </a:br>
            <a:r>
              <a:rPr lang="tr-TR" dirty="0"/>
              <a:t>    </a:t>
            </a:r>
            <a:r>
              <a:rPr lang="tr-TR" dirty="0" err="1"/>
              <a:t>override</a:t>
            </a:r>
            <a:r>
              <a:rPr lang="tr-TR" dirty="0"/>
              <a:t> </a:t>
            </a:r>
            <a:r>
              <a:rPr lang="tr-TR" dirty="0" err="1"/>
              <a:t>fun</a:t>
            </a:r>
            <a:r>
              <a:rPr lang="tr-TR" dirty="0"/>
              <a:t> </a:t>
            </a:r>
            <a:r>
              <a:rPr lang="tr-TR" dirty="0" err="1"/>
              <a:t>istekAt</a:t>
            </a:r>
            <a:r>
              <a:rPr lang="tr-TR" dirty="0"/>
              <a:t>() {}</a:t>
            </a:r>
            <a:br>
              <a:rPr lang="tr-TR" dirty="0"/>
            </a:br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77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00986-2A99-0CD5-A6BE-1DD2A4802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A27E16-AD92-F00E-9EE2-1305CAE00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Statik Yapılar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EEB1F98-75FF-B58D-1DEF-7E3751F2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 rtl="0"/>
            <a:r>
              <a:rPr lang="tr-TR" dirty="0" err="1"/>
              <a:t>Kotlin’de</a:t>
            </a:r>
            <a:r>
              <a:rPr lang="tr-TR" dirty="0"/>
              <a:t> bir üyenin nesneye değil doğrudan </a:t>
            </a:r>
            <a:r>
              <a:rPr lang="tr-TR" dirty="0" err="1"/>
              <a:t>classa</a:t>
            </a:r>
            <a:r>
              <a:rPr lang="tr-TR" dirty="0"/>
              <a:t> bağlı olması için statik tanımlamalar yapılabilir. Bu yapılara nesne üzerinden değil doğrudan </a:t>
            </a:r>
            <a:r>
              <a:rPr lang="tr-TR" dirty="0" err="1"/>
              <a:t>class</a:t>
            </a:r>
            <a:r>
              <a:rPr lang="tr-TR" dirty="0"/>
              <a:t> adı ile erişilir. </a:t>
            </a:r>
            <a:r>
              <a:rPr lang="tr-TR" dirty="0" err="1"/>
              <a:t>Kotlin’de</a:t>
            </a:r>
            <a:r>
              <a:rPr lang="tr-TR" dirty="0"/>
              <a:t> statik yapılar </a:t>
            </a:r>
            <a:r>
              <a:rPr lang="tr-TR" b="1" dirty="0" err="1"/>
              <a:t>companion</a:t>
            </a:r>
            <a:r>
              <a:rPr lang="tr-TR" b="1" dirty="0"/>
              <a:t> </a:t>
            </a:r>
            <a:r>
              <a:rPr lang="tr-TR" b="1" dirty="0" err="1"/>
              <a:t>object</a:t>
            </a:r>
            <a:r>
              <a:rPr lang="tr-TR" b="1" dirty="0"/>
              <a:t> </a:t>
            </a:r>
            <a:r>
              <a:rPr lang="tr-TR" dirty="0"/>
              <a:t>bloğu içerisinde tanımlanır.</a:t>
            </a:r>
          </a:p>
          <a:p>
            <a:pPr algn="just"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6043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72C9E-ABCA-033D-9817-BBBB88E9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94B277-3047-9E7B-8E8E-23C6AD35C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Statik Yapılar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D5D6FA6-C6B7-0BE7-8F3C-01D9C2669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marL="109728" indent="0" algn="just" rtl="0">
              <a:buNone/>
            </a:pPr>
            <a:r>
              <a:rPr lang="tr-TR" dirty="0"/>
              <a:t>Örnek:</a:t>
            </a:r>
          </a:p>
          <a:p>
            <a:pPr marL="109728" indent="0" algn="just" rtl="0">
              <a:buNone/>
            </a:pPr>
            <a:r>
              <a:rPr lang="tr-TR" dirty="0" err="1"/>
              <a:t>class</a:t>
            </a:r>
            <a:r>
              <a:rPr lang="tr-TR" dirty="0"/>
              <a:t> Muhasebe</a:t>
            </a:r>
          </a:p>
          <a:p>
            <a:pPr marL="109728" indent="0" algn="just" rtl="0">
              <a:buNone/>
            </a:pPr>
            <a:r>
              <a:rPr lang="tr-TR" dirty="0"/>
              <a:t>{</a:t>
            </a:r>
          </a:p>
          <a:p>
            <a:pPr marL="109728" indent="0" algn="just" rtl="0">
              <a:buNone/>
            </a:pPr>
            <a:r>
              <a:rPr lang="tr-TR" dirty="0"/>
              <a:t>    </a:t>
            </a:r>
            <a:r>
              <a:rPr lang="tr-TR" dirty="0" err="1"/>
              <a:t>companion</a:t>
            </a:r>
            <a:r>
              <a:rPr lang="tr-TR" dirty="0"/>
              <a:t> </a:t>
            </a:r>
            <a:r>
              <a:rPr lang="tr-TR" dirty="0" err="1"/>
              <a:t>object</a:t>
            </a:r>
            <a:r>
              <a:rPr lang="tr-TR" dirty="0"/>
              <a:t>{</a:t>
            </a:r>
          </a:p>
          <a:p>
            <a:pPr marL="109728" indent="0" algn="just" rtl="0">
              <a:buNone/>
            </a:pPr>
            <a:r>
              <a:rPr lang="tr-TR" dirty="0"/>
              <a:t>        var </a:t>
            </a:r>
            <a:r>
              <a:rPr lang="tr-TR" dirty="0" err="1"/>
              <a:t>gelir:Int</a:t>
            </a:r>
            <a:r>
              <a:rPr lang="tr-TR" dirty="0"/>
              <a:t> = 4000</a:t>
            </a:r>
          </a:p>
          <a:p>
            <a:pPr marL="109728" indent="0" algn="just" rtl="0">
              <a:buNone/>
            </a:pPr>
            <a:r>
              <a:rPr lang="tr-TR" dirty="0"/>
              <a:t>        var </a:t>
            </a:r>
            <a:r>
              <a:rPr lang="tr-TR" dirty="0" err="1"/>
              <a:t>gider:Int</a:t>
            </a:r>
            <a:r>
              <a:rPr lang="tr-TR" dirty="0"/>
              <a:t> = 2000</a:t>
            </a:r>
          </a:p>
          <a:p>
            <a:pPr marL="109728" indent="0" algn="just" rtl="0">
              <a:buNone/>
            </a:pPr>
            <a:r>
              <a:rPr lang="tr-TR" dirty="0"/>
              <a:t>        </a:t>
            </a:r>
            <a:r>
              <a:rPr lang="tr-TR" dirty="0" err="1"/>
              <a:t>fun</a:t>
            </a:r>
            <a:r>
              <a:rPr lang="tr-TR" dirty="0"/>
              <a:t> </a:t>
            </a:r>
            <a:r>
              <a:rPr lang="tr-TR" dirty="0" err="1"/>
              <a:t>vergiHesapla</a:t>
            </a:r>
            <a:r>
              <a:rPr lang="tr-TR" dirty="0"/>
              <a:t>():</a:t>
            </a:r>
            <a:r>
              <a:rPr lang="tr-TR" dirty="0" err="1"/>
              <a:t>Int</a:t>
            </a:r>
            <a:endParaRPr lang="tr-TR" dirty="0"/>
          </a:p>
          <a:p>
            <a:pPr marL="109728" indent="0" algn="just" rtl="0">
              <a:buNone/>
            </a:pPr>
            <a:r>
              <a:rPr lang="tr-TR" dirty="0"/>
              <a:t>        {</a:t>
            </a:r>
          </a:p>
          <a:p>
            <a:pPr marL="109728" indent="0" algn="just" rtl="0">
              <a:buNone/>
            </a:pPr>
            <a:r>
              <a:rPr lang="tr-TR" dirty="0"/>
              <a:t>            </a:t>
            </a:r>
            <a:r>
              <a:rPr lang="tr-TR" dirty="0" err="1"/>
              <a:t>return</a:t>
            </a:r>
            <a:r>
              <a:rPr lang="tr-TR" dirty="0"/>
              <a:t> 500</a:t>
            </a:r>
          </a:p>
          <a:p>
            <a:pPr marL="109728" indent="0" algn="just" rtl="0">
              <a:buNone/>
            </a:pPr>
            <a:r>
              <a:rPr lang="tr-TR" dirty="0"/>
              <a:t>        }</a:t>
            </a:r>
          </a:p>
          <a:p>
            <a:pPr marL="109728" indent="0" algn="just" rtl="0">
              <a:buNone/>
            </a:pPr>
            <a:r>
              <a:rPr lang="tr-TR" dirty="0"/>
              <a:t>    }</a:t>
            </a:r>
          </a:p>
          <a:p>
            <a:pPr marL="109728" indent="0" algn="just" rtl="0">
              <a:buNone/>
            </a:pPr>
            <a:r>
              <a:rPr lang="tr-TR" dirty="0"/>
              <a:t>}</a:t>
            </a:r>
          </a:p>
          <a:p>
            <a:pPr marL="109728" indent="0" algn="just" rtl="0">
              <a:buNone/>
            </a:pPr>
            <a:r>
              <a:rPr lang="tr-TR" dirty="0" err="1"/>
              <a:t>println</a:t>
            </a:r>
            <a:r>
              <a:rPr lang="tr-TR" dirty="0"/>
              <a:t>(</a:t>
            </a:r>
            <a:r>
              <a:rPr lang="tr-TR" dirty="0" err="1"/>
              <a:t>Muhasebe.gelir</a:t>
            </a:r>
            <a:r>
              <a:rPr lang="tr-TR" dirty="0"/>
              <a:t>)</a:t>
            </a:r>
          </a:p>
          <a:p>
            <a:pPr marL="109728" indent="0" algn="just" rtl="0">
              <a:buNone/>
            </a:pPr>
            <a:r>
              <a:rPr lang="tr-TR" dirty="0" err="1"/>
              <a:t>println</a:t>
            </a:r>
            <a:r>
              <a:rPr lang="tr-TR" dirty="0"/>
              <a:t>(</a:t>
            </a:r>
            <a:r>
              <a:rPr lang="tr-TR" dirty="0" err="1"/>
              <a:t>Muhasebe.gider</a:t>
            </a:r>
            <a:r>
              <a:rPr lang="tr-TR" dirty="0"/>
              <a:t>)</a:t>
            </a:r>
          </a:p>
          <a:p>
            <a:pPr marL="109728" indent="0" algn="just" rtl="0">
              <a:buNone/>
            </a:pPr>
            <a:r>
              <a:rPr lang="tr-TR" dirty="0" err="1"/>
              <a:t>println</a:t>
            </a:r>
            <a:r>
              <a:rPr lang="tr-TR" dirty="0"/>
              <a:t>(</a:t>
            </a:r>
            <a:r>
              <a:rPr lang="tr-TR" dirty="0" err="1"/>
              <a:t>Muhasebe.vergiHesapla</a:t>
            </a:r>
            <a:r>
              <a:rPr lang="tr-TR"/>
              <a:t>())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2876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75DD7-3F0E-9B2C-0C0E-AB462CE5D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2CF616A-81BA-CD4E-AA1E-D3C51F291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Activite</a:t>
            </a:r>
            <a:r>
              <a:rPr lang="tr-TR" dirty="0"/>
              <a:t> Kavramı ve Yaşam Döngüsü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2C99275-F04E-531B-ACB0-BD1B230C2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/>
              <a:t>Android işletim sisteminde </a:t>
            </a:r>
            <a:r>
              <a:rPr lang="tr-TR" dirty="0" err="1"/>
              <a:t>herbir</a:t>
            </a:r>
            <a:r>
              <a:rPr lang="tr-TR" dirty="0"/>
              <a:t> aktivite bir sayfa olarak düşünülebilir.</a:t>
            </a:r>
          </a:p>
          <a:p>
            <a:pPr algn="just"/>
            <a:r>
              <a:rPr lang="tr-TR" dirty="0"/>
              <a:t>Bir aktivitenin başlaması ve sonlanması ile bunlar arasında yapılan işlevler Yaşam Döngüsü olarak isimlendirilir.</a:t>
            </a:r>
          </a:p>
        </p:txBody>
      </p:sp>
    </p:spTree>
    <p:extLst>
      <p:ext uri="{BB962C8B-B14F-4D97-AF65-F5344CB8AC3E}">
        <p14:creationId xmlns:p14="http://schemas.microsoft.com/office/powerpoint/2010/main" val="185464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FFCCB-B9C0-6B65-355D-3B687CB01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43DFDB-22CC-101E-A5C4-0853A509D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Activite</a:t>
            </a:r>
            <a:r>
              <a:rPr lang="tr-TR" dirty="0"/>
              <a:t> Kavramı ve Yaşam Döngüsü</a:t>
            </a:r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8B438BCA-EBA2-EF9E-6B47-D3CA4BA32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23005" y="2249488"/>
            <a:ext cx="334599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87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BDA20-245D-BF7F-3EB8-FFD2CF943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EDBCA6-C6D0-00E0-EA8B-C243CB74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Activite</a:t>
            </a:r>
            <a:r>
              <a:rPr lang="tr-TR" dirty="0"/>
              <a:t> Kavramı ve Yaşam Döngüsü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222136B-968D-21A1-843E-BC66C0A80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/>
              <a:t>Aktivite yaşam döngüsünde 7 adet önemli metot bulunmaktadır. Bunlar:</a:t>
            </a:r>
          </a:p>
          <a:p>
            <a:pPr marL="109728" indent="0" algn="just">
              <a:buNone/>
            </a:pPr>
            <a:r>
              <a:rPr lang="tr-TR" dirty="0"/>
              <a:t>onCreate(): Aktivite ilk kez oluşturulurken çalışır.</a:t>
            </a:r>
          </a:p>
          <a:p>
            <a:pPr marL="109728" indent="0" algn="just">
              <a:buNone/>
            </a:pPr>
            <a:r>
              <a:rPr lang="tr-TR" dirty="0" err="1"/>
              <a:t>onStart</a:t>
            </a:r>
            <a:r>
              <a:rPr lang="tr-TR" dirty="0"/>
              <a:t>(): Aktivite kullanıcıya görünür hale geldiği anda </a:t>
            </a:r>
            <a:r>
              <a:rPr lang="tr-TR"/>
              <a:t>çalışır.</a:t>
            </a:r>
          </a:p>
          <a:p>
            <a:pPr marL="109728" indent="0" algn="just">
              <a:buNone/>
            </a:pPr>
            <a:r>
              <a:rPr lang="tr-TR"/>
              <a:t>onResume</a:t>
            </a:r>
            <a:r>
              <a:rPr lang="tr-TR" dirty="0"/>
              <a:t>(): Aktivite ön plana gelip kullanıcı etkileşimine (dokunma, veri girişi vb.) hazır olduğunda çalışır.</a:t>
            </a:r>
          </a:p>
          <a:p>
            <a:pPr marL="109728" indent="0" algn="just">
              <a:buNone/>
            </a:pPr>
            <a:r>
              <a:rPr lang="tr-TR" dirty="0" err="1"/>
              <a:t>onPause</a:t>
            </a:r>
            <a:r>
              <a:rPr lang="tr-TR" dirty="0"/>
              <a:t>(): Aktivite odağını kaybettiğinde veya arka plana geçmeye başladığında ilk olarak çalışır.</a:t>
            </a:r>
          </a:p>
        </p:txBody>
      </p:sp>
    </p:spTree>
    <p:extLst>
      <p:ext uri="{BB962C8B-B14F-4D97-AF65-F5344CB8AC3E}">
        <p14:creationId xmlns:p14="http://schemas.microsoft.com/office/powerpoint/2010/main" val="310275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61CF-B0F3-445E-5A87-1E625E08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743961-C2BE-8E06-805A-6D8BB3747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Activite</a:t>
            </a:r>
            <a:r>
              <a:rPr lang="tr-TR" dirty="0"/>
              <a:t> Kavramı ve Yaşam Döngüsü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A8D46B9-4052-84EE-4349-D9BE658F8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/>
              <a:t>Aktivite yaşam döngüsünde 7 adet önemli metot bulunmaktadır. Bunlar:</a:t>
            </a:r>
          </a:p>
          <a:p>
            <a:pPr marL="109728" indent="0" algn="just">
              <a:buNone/>
            </a:pPr>
            <a:r>
              <a:rPr lang="tr-TR" dirty="0" err="1"/>
              <a:t>onStop</a:t>
            </a:r>
            <a:r>
              <a:rPr lang="tr-TR" dirty="0"/>
              <a:t>(): Aktivite ekrandan tamamen kaybolup kullanıcıya görünmez olduğunda çalışır.</a:t>
            </a:r>
          </a:p>
          <a:p>
            <a:pPr marL="109728" indent="0" algn="just">
              <a:buNone/>
            </a:pPr>
            <a:r>
              <a:rPr lang="tr-TR" dirty="0" err="1"/>
              <a:t>onRestart</a:t>
            </a:r>
            <a:r>
              <a:rPr lang="tr-TR" dirty="0"/>
              <a:t>(): Durdurulmuş (</a:t>
            </a:r>
            <a:r>
              <a:rPr lang="tr-TR" dirty="0" err="1"/>
              <a:t>onStop</a:t>
            </a:r>
            <a:r>
              <a:rPr lang="tr-TR" dirty="0"/>
              <a:t> durumundaki) bir aktivite yeniden ekrana getirilirken </a:t>
            </a:r>
            <a:r>
              <a:rPr lang="tr-TR" dirty="0" err="1"/>
              <a:t>onStart</a:t>
            </a:r>
            <a:r>
              <a:rPr lang="tr-TR" dirty="0"/>
              <a:t>() öncesinde çalışır.</a:t>
            </a:r>
          </a:p>
          <a:p>
            <a:pPr marL="109728" indent="0" algn="just">
              <a:buNone/>
            </a:pPr>
            <a:r>
              <a:rPr lang="tr-TR" dirty="0" err="1"/>
              <a:t>onDestroy</a:t>
            </a:r>
            <a:r>
              <a:rPr lang="tr-TR" dirty="0"/>
              <a:t>(): Aktivite bellekten tamamen silinmeden ve kapatılmadan hemen önce son kez çalışır.</a:t>
            </a:r>
          </a:p>
        </p:txBody>
      </p:sp>
    </p:spTree>
    <p:extLst>
      <p:ext uri="{BB962C8B-B14F-4D97-AF65-F5344CB8AC3E}">
        <p14:creationId xmlns:p14="http://schemas.microsoft.com/office/powerpoint/2010/main" val="108030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96879-FA68-6097-6F40-12499126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8BE876-7FA0-6862-FD2E-F9ECB275D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err="1"/>
              <a:t>Activite</a:t>
            </a:r>
            <a:r>
              <a:rPr lang="tr-TR" dirty="0"/>
              <a:t> Kavramı ve Yaşam Döngüsü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C559F2-D3A6-69E3-E407-53EF6915D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/>
              <a:t>Bu metotları bir örnek üzerinden açıklamak gerekirse bir aktivite ekrana geldiğinde sırasıyla onCreate(), </a:t>
            </a:r>
            <a:r>
              <a:rPr lang="tr-TR" dirty="0" err="1"/>
              <a:t>onStart</a:t>
            </a:r>
            <a:r>
              <a:rPr lang="tr-TR" dirty="0"/>
              <a:t>() ve </a:t>
            </a:r>
            <a:r>
              <a:rPr lang="tr-TR" dirty="0" err="1"/>
              <a:t>onResume</a:t>
            </a:r>
            <a:r>
              <a:rPr lang="tr-TR" dirty="0"/>
              <a:t>() metotlarının çalıştığı görülür. Eğer aktivite arka plana atılır ise </a:t>
            </a:r>
            <a:r>
              <a:rPr lang="tr-TR" dirty="0" err="1"/>
              <a:t>onPause</a:t>
            </a:r>
            <a:r>
              <a:rPr lang="tr-TR" dirty="0"/>
              <a:t>() ve </a:t>
            </a:r>
            <a:r>
              <a:rPr lang="tr-TR" dirty="0" err="1"/>
              <a:t>onStop</a:t>
            </a:r>
            <a:r>
              <a:rPr lang="tr-TR" dirty="0"/>
              <a:t>() metotları sırasıyla çalışır. Tekrar ekrana getirildiğinde </a:t>
            </a:r>
            <a:r>
              <a:rPr lang="tr-TR" dirty="0" err="1"/>
              <a:t>onRestart</a:t>
            </a:r>
            <a:r>
              <a:rPr lang="tr-TR" dirty="0"/>
              <a:t>(), </a:t>
            </a:r>
            <a:r>
              <a:rPr lang="tr-TR" dirty="0" err="1"/>
              <a:t>onStart</a:t>
            </a:r>
            <a:r>
              <a:rPr lang="tr-TR" dirty="0"/>
              <a:t>() ve </a:t>
            </a:r>
            <a:r>
              <a:rPr lang="tr-TR" dirty="0" err="1"/>
              <a:t>onResume</a:t>
            </a:r>
            <a:r>
              <a:rPr lang="tr-TR" dirty="0"/>
              <a:t>() metotları çalışır. Aktivite tamamen sonlandırıldığında ise sırasıyla </a:t>
            </a:r>
            <a:r>
              <a:rPr lang="tr-TR" dirty="0" err="1"/>
              <a:t>onPause</a:t>
            </a:r>
            <a:r>
              <a:rPr lang="tr-TR" dirty="0"/>
              <a:t>(), </a:t>
            </a:r>
            <a:r>
              <a:rPr lang="tr-TR" dirty="0" err="1"/>
              <a:t>onStop</a:t>
            </a:r>
            <a:r>
              <a:rPr lang="tr-TR" dirty="0"/>
              <a:t>() ve </a:t>
            </a:r>
            <a:r>
              <a:rPr lang="tr-TR" dirty="0" err="1"/>
              <a:t>onDestroy</a:t>
            </a:r>
            <a:r>
              <a:rPr lang="tr-TR" dirty="0"/>
              <a:t>() metotları çalışır.</a:t>
            </a:r>
          </a:p>
        </p:txBody>
      </p:sp>
    </p:spTree>
    <p:extLst>
      <p:ext uri="{BB962C8B-B14F-4D97-AF65-F5344CB8AC3E}">
        <p14:creationId xmlns:p14="http://schemas.microsoft.com/office/powerpoint/2010/main" val="50674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555</TotalTime>
  <Words>2087</Words>
  <Application>Microsoft Office PowerPoint</Application>
  <PresentationFormat>Geniş ekran</PresentationFormat>
  <Paragraphs>152</Paragraphs>
  <Slides>23</Slides>
  <Notes>23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28" baseType="lpstr">
      <vt:lpstr>Arial</vt:lpstr>
      <vt:lpstr>Calibri</vt:lpstr>
      <vt:lpstr>Georgia</vt:lpstr>
      <vt:lpstr>Wingdings 2</vt:lpstr>
      <vt:lpstr>Eğitim sunusu</vt:lpstr>
      <vt:lpstr>Mobil Uygulama Geliştirme</vt:lpstr>
      <vt:lpstr>Kotlinde OOP Yaklaşımı</vt:lpstr>
      <vt:lpstr>Kotlinde OOP Yaklaşımı</vt:lpstr>
      <vt:lpstr>Kotlinde Yapıcı Metot(Constructor)</vt:lpstr>
      <vt:lpstr>Kotlinde Yapıcı Metot(Constructor)</vt:lpstr>
      <vt:lpstr>Kotlinde Yapıcı Metot(Constructor)</vt:lpstr>
      <vt:lpstr>Kotlinde Yapıcı Metot(Constructor)</vt:lpstr>
      <vt:lpstr>Kotlinde Erişim Belirteçleri</vt:lpstr>
      <vt:lpstr>Encapsulation (Kapsülleme/Sarmalama)</vt:lpstr>
      <vt:lpstr>Inheritance (Kalıtım)</vt:lpstr>
      <vt:lpstr>Inheritance (Kalıtım)</vt:lpstr>
      <vt:lpstr>Inheritance (Kalıtım)</vt:lpstr>
      <vt:lpstr>Polymorphism (Çok biçimlilik)</vt:lpstr>
      <vt:lpstr>Polymorphism (Çok biçimlilik)</vt:lpstr>
      <vt:lpstr>Polymorphism (Çok biçimlilik)</vt:lpstr>
      <vt:lpstr>Abstraction (Soyutlama)</vt:lpstr>
      <vt:lpstr>Statik Yapılar</vt:lpstr>
      <vt:lpstr>Statik Yapılar</vt:lpstr>
      <vt:lpstr>Activite Kavramı ve Yaşam Döngüsü</vt:lpstr>
      <vt:lpstr>Activite Kavramı ve Yaşam Döngüsü</vt:lpstr>
      <vt:lpstr>Activite Kavramı ve Yaşam Döngüsü</vt:lpstr>
      <vt:lpstr>Activite Kavramı ve Yaşam Döngüsü</vt:lpstr>
      <vt:lpstr>Activite Kavramı ve Yaşam Döngüsü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ZaferS</dc:creator>
  <cp:lastModifiedBy>ZaferS</cp:lastModifiedBy>
  <cp:revision>202</cp:revision>
  <dcterms:created xsi:type="dcterms:W3CDTF">2026-09-07T11:01:41Z</dcterms:created>
  <dcterms:modified xsi:type="dcterms:W3CDTF">2026-11-01T14:11:34Z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