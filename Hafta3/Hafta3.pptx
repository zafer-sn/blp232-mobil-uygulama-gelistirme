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0"/>
  </p:notesMasterIdLst>
  <p:handoutMasterIdLst>
    <p:handoutMasterId r:id="rId11"/>
  </p:handoutMasterIdLst>
  <p:sldIdLst>
    <p:sldId id="257" r:id="rId2"/>
    <p:sldId id="295" r:id="rId3"/>
    <p:sldId id="296" r:id="rId4"/>
    <p:sldId id="297" r:id="rId5"/>
    <p:sldId id="298" r:id="rId6"/>
    <p:sldId id="299" r:id="rId7"/>
    <p:sldId id="300" r:id="rId8"/>
    <p:sldId id="301" r:id="rId9"/>
  </p:sldIdLst>
  <p:sldSz cx="12192000" cy="6858000"/>
  <p:notesSz cx="6858000" cy="9144000"/>
  <p:defaultTextStyle>
    <a:defPPr rtl="0"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296" userDrawn="1">
          <p15:clr>
            <a:srgbClr val="A4A3A4"/>
          </p15:clr>
        </p15:guide>
        <p15:guide id="4" orient="horz" pos="41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89911" autoAdjust="0"/>
  </p:normalViewPr>
  <p:slideViewPr>
    <p:cSldViewPr snapToGrid="0">
      <p:cViewPr varScale="1">
        <p:scale>
          <a:sx n="87" d="100"/>
          <a:sy n="87" d="100"/>
        </p:scale>
        <p:origin x="480" y="58"/>
      </p:cViewPr>
      <p:guideLst>
        <p:guide orient="horz" pos="2160"/>
        <p:guide pos="3840"/>
        <p:guide pos="7296"/>
        <p:guide orient="horz" pos="412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93" d="100"/>
          <a:sy n="93" d="100"/>
        </p:scale>
        <p:origin x="2874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tr-TR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1FC8FC1-A1A8-42CB-96AC-83684F0DF578}" type="datetime1">
              <a:rPr lang="tr-TR" smtClean="0"/>
              <a:t>17.10.2024</a:t>
            </a:fld>
            <a:endParaRPr lang="tr-TR" dirty="0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4E50CC-F33A-4EF4-9F12-93EC4A21A0CF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232950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tr-TR" noProof="0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E0653A-FB33-4975-A611-5D53C5C337D6}" type="datetime1">
              <a:rPr lang="tr-TR" smtClean="0"/>
              <a:pPr/>
              <a:t>17.10.2024</a:t>
            </a:fld>
            <a:endParaRPr lang="tr-TR" dirty="0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tr-TR" noProof="0" dirty="0"/>
          </a:p>
        </p:txBody>
      </p:sp>
      <p:sp>
        <p:nvSpPr>
          <p:cNvPr id="5" name="Notlar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tr-TR" noProof="0" dirty="0"/>
              <a:t>Asıl metin stillerini düzenlemek için tıklayın</a:t>
            </a:r>
          </a:p>
          <a:p>
            <a:pPr lvl="1" rtl="0"/>
            <a:r>
              <a:rPr lang="tr-TR" noProof="0" dirty="0"/>
              <a:t>İkinci düzey</a:t>
            </a:r>
          </a:p>
          <a:p>
            <a:pPr lvl="2" rtl="0"/>
            <a:r>
              <a:rPr lang="tr-TR" noProof="0" dirty="0"/>
              <a:t>Üçüncü düzey</a:t>
            </a:r>
          </a:p>
          <a:p>
            <a:pPr lvl="3" rtl="0"/>
            <a:r>
              <a:rPr lang="tr-TR" noProof="0" dirty="0"/>
              <a:t>Dördüncü düzey</a:t>
            </a:r>
          </a:p>
          <a:p>
            <a:pPr lvl="4" rtl="0"/>
            <a:r>
              <a:rPr lang="tr-TR" noProof="0" dirty="0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tr-TR" noProof="0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2674CE4-FBD8-4481-AEFB-CA53E599A745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273268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2674CE4-FBD8-4481-AEFB-CA53E599A745}" type="slidenum">
              <a:rPr lang="tr-TR" smtClean="0"/>
              <a:t>1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47974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2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13922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3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478193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4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18832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5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929896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6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043433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7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8405785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8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467371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ikdörtgen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3" name="Dikdörtgen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4" name="Dikdörtgen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5" name="Dikdörtgen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6" name="Dikdörtgen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7" name="Dikdörtgen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0" name="Yuvarlatılmış Dikdörtgen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1" name="Yuvarlatılmış Dikdörtgen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7" name="Dikdörtgen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10" name="Dikdörtgen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11" name="Dikdörtgen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8" name="Başlık 7"/>
          <p:cNvSpPr>
            <a:spLocks noGrp="1"/>
          </p:cNvSpPr>
          <p:nvPr>
            <p:ph type="ctrTitle"/>
          </p:nvPr>
        </p:nvSpPr>
        <p:spPr>
          <a:xfrm>
            <a:off x="609600" y="2389009"/>
            <a:ext cx="11277600" cy="1470025"/>
          </a:xfrm>
        </p:spPr>
        <p:txBody>
          <a:bodyPr rtlCol="0"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9" name="Alt Başlık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 rtlCol="0"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 rtl="0"/>
            <a:r>
              <a:rPr lang="tr-TR" noProof="0" smtClean="0"/>
              <a:t>Asıl alt başlık stilini düzenlemek için tıklayın</a:t>
            </a:r>
            <a:endParaRPr lang="tr-TR" noProof="0" dirty="0"/>
          </a:p>
        </p:txBody>
      </p:sp>
      <p:sp>
        <p:nvSpPr>
          <p:cNvPr id="17" name="Alt Bilgi Yer Tutucusu 16"/>
          <p:cNvSpPr>
            <a:spLocks noGrp="1"/>
          </p:cNvSpPr>
          <p:nvPr>
            <p:ph type="ftr" sz="quarter" idx="11"/>
          </p:nvPr>
        </p:nvSpPr>
        <p:spPr>
          <a:xfrm>
            <a:off x="7265116" y="4205288"/>
            <a:ext cx="1727200" cy="457200"/>
          </a:xfrm>
        </p:spPr>
        <p:txBody>
          <a:bodyPr rtlCol="0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28" name="Tarih Yer Tutucusu 27"/>
          <p:cNvSpPr>
            <a:spLocks noGrp="1"/>
          </p:cNvSpPr>
          <p:nvPr>
            <p:ph type="dt" sz="half" idx="10"/>
          </p:nvPr>
        </p:nvSpPr>
        <p:spPr>
          <a:xfrm>
            <a:off x="9043832" y="4206240"/>
            <a:ext cx="1280160" cy="457200"/>
          </a:xfrm>
        </p:spPr>
        <p:txBody>
          <a:bodyPr rtlCol="0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E8609038-EC1C-40A6-91EB-4A3D73CE9547}" type="datetime1">
              <a:rPr lang="tr-TR" smtClean="0"/>
              <a:pPr/>
              <a:t>17.10.2024</a:t>
            </a:fld>
            <a:endParaRPr lang="tr-TR" dirty="0"/>
          </a:p>
        </p:txBody>
      </p:sp>
      <p:sp>
        <p:nvSpPr>
          <p:cNvPr id="29" name="Slayt Numarası Yer Tutucusu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 rtlCol="0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601152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/>
            </a:lvl1pPr>
            <a:lvl5pPr>
              <a:defRPr/>
            </a:lvl5pPr>
            <a:lvl6pPr>
              <a:defRPr/>
            </a:lvl6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6610F96-FFD0-4BC1-86F0-D957A2A4B8C7}" type="datetime1">
              <a:rPr lang="tr-TR" smtClean="0"/>
              <a:pPr/>
              <a:t>17.10.2024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594303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63084" y="1968322"/>
            <a:ext cx="10363200" cy="1362075"/>
          </a:xfrm>
        </p:spPr>
        <p:txBody>
          <a:bodyPr rtlCol="0"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chemeClr val="accent2"/>
                </a:solidFill>
                <a:effectLst/>
              </a:defRPr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kumimoji="0"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rtlCol="0"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F56EF26-BBDF-4885-BB66-53FDFCADA69E}" type="datetime1">
              <a:rPr lang="tr-TR" smtClean="0"/>
              <a:pPr/>
              <a:t>17.10.2024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270512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341875"/>
          </a:xfrm>
        </p:spPr>
        <p:txBody>
          <a:bodyPr rtlCol="0"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341875"/>
          </a:xfrm>
        </p:spPr>
        <p:txBody>
          <a:bodyPr rtlCol="0"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84B813B-74D5-4B4F-94CB-6CD8395E9845}" type="datetime1">
              <a:rPr lang="tr-TR" smtClean="0"/>
              <a:pPr/>
              <a:t>17.10.2024</a:t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446445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rtlCol="0" anchor="ctr"/>
          <a:lstStyle>
            <a:lvl1pPr>
              <a:defRPr sz="4000" b="0" i="0" cap="none" baseline="0"/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rtlCol="0"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5" name="İçerik Yer Tutucusu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rtlCol="0"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28" name="Alt Bilgi Yer Tutucusu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26" name="Tarih Yer Tutucusu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B72EC71D-25AD-4A7C-AB6C-E63D5EDA9366}" type="datetime1">
              <a:rPr lang="tr-TR" smtClean="0"/>
              <a:pPr/>
              <a:t>17.10.2024</a:t>
            </a:fld>
            <a:endParaRPr lang="tr-TR" dirty="0"/>
          </a:p>
        </p:txBody>
      </p:sp>
      <p:sp>
        <p:nvSpPr>
          <p:cNvPr id="27" name="Slayt Numarası Yer Tutucusu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70716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rtlCol="0"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3" name="Tarih Yer Tutucusu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 rtlCol="0"/>
          <a:lstStyle>
            <a:lvl1pPr>
              <a:defRPr/>
            </a:lvl1pPr>
          </a:lstStyle>
          <a:p>
            <a:fld id="{851036E3-487C-41B5-92E9-47E0F0B9591B}" type="datetime1">
              <a:rPr lang="tr-TR" smtClean="0"/>
              <a:pPr/>
              <a:t>17.10.2024</a:t>
            </a:fld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82195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ilgi Yer Tutucusu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2" name="Tarih Yer Tutucusu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7730CD3-31CA-47BB-8FC4-9AA93086A77D}" type="datetime1">
              <a:rPr lang="tr-TR" smtClean="0"/>
              <a:pPr/>
              <a:t>17.10.2024</a:t>
            </a:fld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135695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Resim Yazı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7137995" y="1101970"/>
            <a:ext cx="4511040" cy="877824"/>
          </a:xfrm>
        </p:spPr>
        <p:txBody>
          <a:bodyPr rtlCol="0" anchor="b"/>
          <a:lstStyle>
            <a:lvl1pPr algn="l">
              <a:buNone/>
              <a:defRPr sz="1800" b="1"/>
            </a:lvl1pPr>
          </a:lstStyle>
          <a:p>
            <a:pPr rtl="0"/>
            <a:r>
              <a:rPr lang="tr-TR" noProof="0" dirty="0"/>
              <a:t>Asıl başlık stilini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05083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580573"/>
          </a:xfrm>
        </p:spPr>
        <p:txBody>
          <a:bodyPr rtlCol="0"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0C5B609-EC73-4CF8-A564-D90D0E54FA36}" type="datetime1">
              <a:rPr lang="tr-TR" smtClean="0"/>
              <a:pPr/>
              <a:t>17.10.2024</a:t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498685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Resim Yazı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rtlCol="0" anchor="t"/>
          <a:lstStyle>
            <a:lvl1pPr algn="ctr">
              <a:buNone/>
              <a:defRPr sz="2000" b="1"/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Resim Yer Tutucusu 2" descr="Resim eklemek için boş yer tutucu. Yer tutucuya tıklayın ve eklemek istediğiniz resmi seçin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 rtlCol="0"/>
          <a:lstStyle>
            <a:lvl1pPr marL="0" indent="0">
              <a:buNone/>
              <a:defRPr sz="3200"/>
            </a:lvl1pPr>
          </a:lstStyle>
          <a:p>
            <a:pPr rtl="0"/>
            <a:r>
              <a:rPr lang="tr-TR" noProof="0" smtClean="0"/>
              <a:t>Resim eklemek için simgeyi tıklatın</a:t>
            </a:r>
            <a:endParaRPr kumimoji="0" lang="tr-TR" noProof="0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rtlCol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85D7756-B745-4648-9348-5BA7D8FC560E}" type="datetime1">
              <a:rPr lang="tr-TR" smtClean="0"/>
              <a:pPr/>
              <a:t>17.10.2024</a:t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883619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1pPr>
              <a:defRPr/>
            </a:lvl1pPr>
            <a:lvl5pPr>
              <a:defRPr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43DEEBB-C631-4BE4-9EB9-151005B5892D}" type="datetime1">
              <a:rPr lang="tr-TR" smtClean="0"/>
              <a:pPr/>
              <a:t>17.10.2024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467844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 hasCustomPrompt="1"/>
          </p:nvPr>
        </p:nvSpPr>
        <p:spPr>
          <a:xfrm>
            <a:off x="9042400" y="1143000"/>
            <a:ext cx="2540000" cy="5448300"/>
          </a:xfrm>
        </p:spPr>
        <p:txBody>
          <a:bodyPr vert="eaVert" rtlCol="0"/>
          <a:lstStyle>
            <a:lvl1pPr>
              <a:defRPr/>
            </a:lvl1pPr>
          </a:lstStyle>
          <a:p>
            <a:pPr rtl="0"/>
            <a:r>
              <a:rPr lang="tr-TR" noProof="0" dirty="0"/>
              <a:t>Asıl başlık stilini düzenle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1143000"/>
            <a:ext cx="8331200" cy="5448300"/>
          </a:xfrm>
        </p:spPr>
        <p:txBody>
          <a:bodyPr vert="eaVert" rtlCol="0"/>
          <a:lstStyle>
            <a:lvl5pPr>
              <a:defRPr/>
            </a:lvl5pPr>
          </a:lstStyle>
          <a:p>
            <a:pPr lvl="0" rtl="0" eaLnBrk="1" latinLnBrk="0" hangingPunct="1"/>
            <a:r>
              <a:rPr lang="tr-TR" noProof="0" dirty="0"/>
              <a:t>Asıl metin stillerini düzenlemek için tıklayın</a:t>
            </a:r>
          </a:p>
          <a:p>
            <a:pPr lvl="1" rtl="0" eaLnBrk="1" latinLnBrk="0" hangingPunct="1"/>
            <a:r>
              <a:rPr lang="tr-TR" noProof="0" dirty="0"/>
              <a:t>İkinci düzey</a:t>
            </a:r>
          </a:p>
          <a:p>
            <a:pPr lvl="2" rtl="0" eaLnBrk="1" latinLnBrk="0" hangingPunct="1"/>
            <a:r>
              <a:rPr lang="tr-TR" noProof="0" dirty="0"/>
              <a:t>Üçüncü düzey</a:t>
            </a:r>
          </a:p>
          <a:p>
            <a:pPr lvl="3" rtl="0" eaLnBrk="1" latinLnBrk="0" hangingPunct="1"/>
            <a:r>
              <a:rPr lang="tr-TR" noProof="0" dirty="0"/>
              <a:t>Dördüncü düzey</a:t>
            </a:r>
          </a:p>
          <a:p>
            <a:pPr lvl="4" rtl="0" eaLnBrk="1" latinLnBrk="0" hangingPunct="1"/>
            <a:r>
              <a:rPr lang="tr-TR" noProof="0" dirty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C76B82DB-6D5C-486A-98D3-E008B7673553}" type="datetime1">
              <a:rPr lang="tr-TR" smtClean="0"/>
              <a:pPr/>
              <a:t>17.10.2024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2978088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ikdörtgen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9" name="Dikdörtgen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0" name="Dikdörtgen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1" name="Dikdörtgen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2" name="Dikdörtgen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3" name="Yuvarlatılmış Dikdörtgen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4" name="Yuvarlatılmış Dikdörtgen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5" name="Dikdörtgen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6" name="Dikdörtgen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7" name="Dikdörtgen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8" name="Dikdörtgen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9" name="Dikdörtgen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40" name="Dikdörtgen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2" name="Başlık Yer Tutucusu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pPr rtl="0"/>
            <a:r>
              <a:rPr lang="tr-TR" noProof="0" dirty="0"/>
              <a:t>Asıl başlık stilini düzenlemek için tıklayın</a:t>
            </a:r>
          </a:p>
        </p:txBody>
      </p:sp>
      <p:sp>
        <p:nvSpPr>
          <p:cNvPr id="13" name="Metin Yer Tutucusu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rtl="0"/>
            <a:r>
              <a:rPr lang="tr-TR" noProof="0" dirty="0"/>
              <a:t>Asıl metin stillerini düzenle</a:t>
            </a:r>
          </a:p>
          <a:p>
            <a:pPr lvl="1" rtl="0"/>
            <a:r>
              <a:rPr lang="tr-TR" noProof="0" dirty="0"/>
              <a:t>İkinci düzey</a:t>
            </a:r>
          </a:p>
          <a:p>
            <a:pPr lvl="2" rtl="0"/>
            <a:r>
              <a:rPr lang="tr-TR" noProof="0" dirty="0"/>
              <a:t>Üçüncü düzey</a:t>
            </a:r>
          </a:p>
          <a:p>
            <a:pPr lvl="3" rtl="0"/>
            <a:r>
              <a:rPr lang="tr-TR" noProof="0" dirty="0"/>
              <a:t>Dördüncü düzey</a:t>
            </a:r>
          </a:p>
          <a:p>
            <a:pPr lvl="4" rtl="0"/>
            <a:r>
              <a:rPr lang="tr-TR" noProof="0" dirty="0"/>
              <a:t>Beşinci düzey</a:t>
            </a:r>
          </a:p>
        </p:txBody>
      </p:sp>
      <p:sp>
        <p:nvSpPr>
          <p:cNvPr id="3" name="Alt Bilgi Yer Tutucusu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 rtlCol="0"/>
          <a:lstStyle>
            <a:lvl1pPr algn="r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14" name="Tarih Yer Tutucusu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 rtlCol="0"/>
          <a:lstStyle>
            <a:lvl1pPr algn="l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8A9E5AA4-4083-47B0-96D9-3464BE7D917D}" type="datetime1">
              <a:rPr lang="tr-TR" smtClean="0"/>
              <a:pPr/>
              <a:t>17.10.2024</a:t>
            </a:fld>
            <a:endParaRPr lang="tr-TR" dirty="0"/>
          </a:p>
        </p:txBody>
      </p:sp>
      <p:sp>
        <p:nvSpPr>
          <p:cNvPr id="23" name="Slayt Numarası Yer Tutucusu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rtlCol="0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2132171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>
            <a:lumMod val="75000"/>
          </a:schemeClr>
        </a:buClr>
        <a:buFont typeface="Georgia"/>
        <a:buChar char="•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>
            <a:lumMod val="75000"/>
          </a:schemeClr>
        </a:buClr>
        <a:buFont typeface="Georgia"/>
        <a:buChar char="▫"/>
        <a:defRPr kumimoji="0" sz="2600" kern="1200">
          <a:solidFill>
            <a:schemeClr val="tx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0" orient="horz" pos="2160" userDrawn="1">
          <p15:clr>
            <a:srgbClr val="F26B43"/>
          </p15:clr>
        </p15:guide>
        <p15:guide id="1" pos="3840" userDrawn="1">
          <p15:clr>
            <a:srgbClr val="F26B43"/>
          </p15:clr>
        </p15:guide>
        <p15:guide id="2" orient="horz" pos="41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Mobil Uygulama Geliştirme</a:t>
            </a: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tr-TR" dirty="0" err="1" smtClean="0"/>
              <a:t>Öğr</a:t>
            </a:r>
            <a:r>
              <a:rPr lang="tr-TR" dirty="0" smtClean="0"/>
              <a:t>. Gör. Zafer SERİN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706305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WEB API(APPLICATION PROGRAMMING INTERFACE)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/>
            <a:r>
              <a:rPr lang="tr-TR" dirty="0"/>
              <a:t>Web </a:t>
            </a:r>
            <a:r>
              <a:rPr lang="tr-TR" dirty="0" err="1"/>
              <a:t>API'ler</a:t>
            </a:r>
            <a:r>
              <a:rPr lang="tr-TR" dirty="0"/>
              <a:t> (Application Programming </a:t>
            </a:r>
            <a:r>
              <a:rPr lang="tr-TR" dirty="0" err="1"/>
              <a:t>Interfaces</a:t>
            </a:r>
            <a:r>
              <a:rPr lang="tr-TR" dirty="0"/>
              <a:t>), farklı yazılım uygulamaları arasında iletişimi sağlayan bir araçtır. Web </a:t>
            </a:r>
            <a:r>
              <a:rPr lang="tr-TR" dirty="0" err="1"/>
              <a:t>API'ler</a:t>
            </a:r>
            <a:r>
              <a:rPr lang="tr-TR" dirty="0"/>
              <a:t>, genellikle HTTP protokolü üzerinden çalışır ve sunucu ile istemci arasında veri alışverişini kolaylaştırır.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790873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HTTP METOTLARI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/>
            <a:r>
              <a:rPr lang="tr-TR" dirty="0"/>
              <a:t>GET: Sunucudan veri almak için kullanılır</a:t>
            </a:r>
            <a:r>
              <a:rPr lang="tr-TR" dirty="0" smtClean="0"/>
              <a:t>.</a:t>
            </a:r>
            <a:endParaRPr lang="tr-TR" dirty="0"/>
          </a:p>
          <a:p>
            <a:pPr algn="just"/>
            <a:r>
              <a:rPr lang="tr-TR" dirty="0"/>
              <a:t>POST: Sunucuya veri göndermek için kullanılır</a:t>
            </a:r>
            <a:r>
              <a:rPr lang="tr-TR" dirty="0" smtClean="0"/>
              <a:t>.</a:t>
            </a:r>
            <a:endParaRPr lang="tr-TR" dirty="0"/>
          </a:p>
          <a:p>
            <a:pPr algn="just"/>
            <a:r>
              <a:rPr lang="tr-TR" dirty="0"/>
              <a:t>PUT: Sunucudaki bir kaydı güncellemek için kullanılır</a:t>
            </a:r>
            <a:r>
              <a:rPr lang="tr-TR" dirty="0" smtClean="0"/>
              <a:t>.</a:t>
            </a:r>
            <a:endParaRPr lang="tr-TR" dirty="0"/>
          </a:p>
          <a:p>
            <a:pPr algn="just"/>
            <a:r>
              <a:rPr lang="tr-TR" dirty="0"/>
              <a:t>DELETE: Sunucudaki bir kaydı silmek için kullanılır</a:t>
            </a:r>
            <a:r>
              <a:rPr lang="tr-TR" dirty="0" smtClean="0"/>
              <a:t>.</a:t>
            </a:r>
            <a:endParaRPr lang="tr-TR" dirty="0"/>
          </a:p>
          <a:p>
            <a:pPr algn="just"/>
            <a:r>
              <a:rPr lang="tr-TR" dirty="0"/>
              <a:t>PATCH: Sunucudaki bir kaydı kısmen güncellemek için kullanılır.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015170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URI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/>
            <a:r>
              <a:rPr lang="tr-TR" dirty="0" err="1"/>
              <a:t>API'ler</a:t>
            </a:r>
            <a:r>
              <a:rPr lang="tr-TR" dirty="0"/>
              <a:t>, belirli bir kaynağa erişmek için </a:t>
            </a:r>
            <a:r>
              <a:rPr lang="tr-TR" dirty="0" err="1"/>
              <a:t>URI'ler</a:t>
            </a:r>
            <a:r>
              <a:rPr lang="tr-TR" dirty="0"/>
              <a:t> kullanır. Örneğin: https://api.example.com/users/1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017562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VERİ FORMATLARI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/>
            <a:r>
              <a:rPr lang="tr-TR" dirty="0"/>
              <a:t>JSON (</a:t>
            </a:r>
            <a:r>
              <a:rPr lang="tr-TR" dirty="0" err="1"/>
              <a:t>JavaScript</a:t>
            </a:r>
            <a:r>
              <a:rPr lang="tr-TR" dirty="0"/>
              <a:t> Object </a:t>
            </a:r>
            <a:r>
              <a:rPr lang="tr-TR" dirty="0" err="1"/>
              <a:t>Notation</a:t>
            </a:r>
            <a:r>
              <a:rPr lang="tr-TR" dirty="0"/>
              <a:t>): En yaygın olarak kullanılan veri formatıdır</a:t>
            </a:r>
            <a:r>
              <a:rPr lang="tr-TR" dirty="0" smtClean="0"/>
              <a:t>.</a:t>
            </a:r>
            <a:endParaRPr lang="tr-TR" dirty="0"/>
          </a:p>
          <a:p>
            <a:pPr algn="just"/>
            <a:r>
              <a:rPr lang="tr-TR" dirty="0"/>
              <a:t>XML (</a:t>
            </a:r>
            <a:r>
              <a:rPr lang="tr-TR" dirty="0" err="1"/>
              <a:t>eXtensible</a:t>
            </a:r>
            <a:r>
              <a:rPr lang="tr-TR" dirty="0"/>
              <a:t> </a:t>
            </a:r>
            <a:r>
              <a:rPr lang="tr-TR" dirty="0" err="1"/>
              <a:t>Markup</a:t>
            </a:r>
            <a:r>
              <a:rPr lang="tr-TR" dirty="0"/>
              <a:t> Language): Eski sistemlerde daha yaygın olarak kullanılır</a:t>
            </a:r>
            <a:r>
              <a:rPr lang="tr-TR" dirty="0" smtClean="0"/>
              <a:t>.</a:t>
            </a:r>
            <a:endParaRPr lang="tr-TR" dirty="0"/>
          </a:p>
          <a:p>
            <a:pPr algn="just"/>
            <a:r>
              <a:rPr lang="tr-TR" dirty="0"/>
              <a:t>YAML: Daha okunabilir bir alternatif olarak kullanılabilir.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71136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DURUM KODLARI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/>
            <a:r>
              <a:rPr lang="tr-TR" dirty="0"/>
              <a:t>200 OK: İstek başarılı oldu</a:t>
            </a:r>
            <a:r>
              <a:rPr lang="tr-TR" dirty="0" smtClean="0"/>
              <a:t>.</a:t>
            </a:r>
            <a:endParaRPr lang="tr-TR" dirty="0"/>
          </a:p>
          <a:p>
            <a:pPr algn="just"/>
            <a:r>
              <a:rPr lang="tr-TR" dirty="0"/>
              <a:t>201 </a:t>
            </a:r>
            <a:r>
              <a:rPr lang="tr-TR" dirty="0" err="1"/>
              <a:t>Created</a:t>
            </a:r>
            <a:r>
              <a:rPr lang="tr-TR" dirty="0"/>
              <a:t>: Yeni bir kaynak oluşturuldu</a:t>
            </a:r>
            <a:r>
              <a:rPr lang="tr-TR" dirty="0" smtClean="0"/>
              <a:t>.</a:t>
            </a:r>
            <a:endParaRPr lang="tr-TR" dirty="0"/>
          </a:p>
          <a:p>
            <a:pPr algn="just"/>
            <a:r>
              <a:rPr lang="tr-TR" dirty="0"/>
              <a:t>400 </a:t>
            </a:r>
            <a:r>
              <a:rPr lang="tr-TR" dirty="0" err="1"/>
              <a:t>Bad</a:t>
            </a:r>
            <a:r>
              <a:rPr lang="tr-TR" dirty="0"/>
              <a:t> </a:t>
            </a:r>
            <a:r>
              <a:rPr lang="tr-TR" dirty="0" err="1"/>
              <a:t>Request</a:t>
            </a:r>
            <a:r>
              <a:rPr lang="tr-TR" dirty="0"/>
              <a:t>: İstek geçersiz</a:t>
            </a:r>
            <a:r>
              <a:rPr lang="tr-TR" dirty="0" smtClean="0"/>
              <a:t>.</a:t>
            </a:r>
            <a:endParaRPr lang="tr-TR" dirty="0"/>
          </a:p>
          <a:p>
            <a:pPr algn="just"/>
            <a:r>
              <a:rPr lang="tr-TR" dirty="0"/>
              <a:t>404 Not </a:t>
            </a:r>
            <a:r>
              <a:rPr lang="tr-TR" dirty="0" err="1"/>
              <a:t>Found</a:t>
            </a:r>
            <a:r>
              <a:rPr lang="tr-TR" dirty="0"/>
              <a:t>: İstenen kaynak bulunamadı</a:t>
            </a:r>
            <a:r>
              <a:rPr lang="tr-TR" dirty="0" smtClean="0"/>
              <a:t>.</a:t>
            </a:r>
            <a:endParaRPr lang="tr-TR" dirty="0"/>
          </a:p>
          <a:p>
            <a:pPr algn="just"/>
            <a:r>
              <a:rPr lang="tr-TR" dirty="0"/>
              <a:t>500 </a:t>
            </a:r>
            <a:r>
              <a:rPr lang="tr-TR" dirty="0" err="1"/>
              <a:t>Internal</a:t>
            </a:r>
            <a:r>
              <a:rPr lang="tr-TR" dirty="0"/>
              <a:t> Server </a:t>
            </a:r>
            <a:r>
              <a:rPr lang="tr-TR" dirty="0" err="1"/>
              <a:t>Error</a:t>
            </a:r>
            <a:r>
              <a:rPr lang="tr-TR" dirty="0"/>
              <a:t>: Sunucuda bir hata oluştu.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177649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WEB API MİMARİLERİ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/>
            <a:r>
              <a:rPr lang="tr-TR" dirty="0" smtClean="0"/>
              <a:t>Web API geliştirmek için 3 temel mimari kullanılmaktadır. Bunlar SOAP(Simple Object Access Protocol), </a:t>
            </a:r>
            <a:r>
              <a:rPr lang="tr-TR" dirty="0" err="1" smtClean="0"/>
              <a:t>Restful</a:t>
            </a:r>
            <a:r>
              <a:rPr lang="tr-TR" dirty="0" smtClean="0"/>
              <a:t>(</a:t>
            </a:r>
            <a:r>
              <a:rPr lang="tr-TR" dirty="0" err="1" smtClean="0"/>
              <a:t>Representational</a:t>
            </a:r>
            <a:r>
              <a:rPr lang="tr-TR" dirty="0" smtClean="0"/>
              <a:t> </a:t>
            </a:r>
            <a:r>
              <a:rPr lang="tr-TR" dirty="0" err="1" smtClean="0"/>
              <a:t>State</a:t>
            </a:r>
            <a:r>
              <a:rPr lang="tr-TR" dirty="0" smtClean="0"/>
              <a:t> Transfer) </a:t>
            </a:r>
            <a:r>
              <a:rPr lang="tr-TR" dirty="0" err="1" smtClean="0"/>
              <a:t>gRPC</a:t>
            </a:r>
            <a:r>
              <a:rPr lang="tr-TR" dirty="0" smtClean="0"/>
              <a:t>(g Remote </a:t>
            </a:r>
            <a:r>
              <a:rPr lang="tr-TR" dirty="0" err="1" smtClean="0"/>
              <a:t>Procedure</a:t>
            </a:r>
            <a:r>
              <a:rPr lang="tr-TR" dirty="0" smtClean="0"/>
              <a:t> Call) olarak adlandırılır.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281973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WEB API MİMARİLERİ</a:t>
            </a:r>
            <a:endParaRPr lang="tr-TR" dirty="0"/>
          </a:p>
        </p:txBody>
      </p:sp>
      <p:graphicFrame>
        <p:nvGraphicFramePr>
          <p:cNvPr id="4" name="İçerik Yer Tutucusu 3"/>
          <p:cNvGraphicFramePr>
            <a:graphicFrameLocks noGrp="1"/>
          </p:cNvGraphicFramePr>
          <p:nvPr>
            <p:ph idx="1"/>
          </p:nvPr>
        </p:nvGraphicFramePr>
        <p:xfrm>
          <a:off x="609600" y="2765743"/>
          <a:ext cx="10972800" cy="32918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267570278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77373572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12575074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9168451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tr-TR" b="0">
                          <a:effectLst/>
                        </a:rPr>
                        <a:t>Özellik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b="0">
                          <a:effectLst/>
                        </a:rPr>
                        <a:t>SOAP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b="0">
                          <a:effectLst/>
                        </a:rPr>
                        <a:t>RESTful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b="0">
                          <a:effectLst/>
                        </a:rPr>
                        <a:t>gRPC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8171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tr-TR" b="1">
                          <a:effectLst/>
                        </a:rPr>
                        <a:t>Protokol</a:t>
                      </a:r>
                      <a:endParaRPr lang="tr-TR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r-TR">
                          <a:effectLst/>
                        </a:rPr>
                        <a:t>XML, WS-* standartları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r-TR">
                          <a:effectLst/>
                        </a:rPr>
                        <a:t>HTTP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r-TR">
                          <a:effectLst/>
                        </a:rPr>
                        <a:t>HTTP/2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49851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tr-TR" b="1">
                          <a:effectLst/>
                        </a:rPr>
                        <a:t>Veri Formatı</a:t>
                      </a:r>
                      <a:endParaRPr lang="tr-TR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r-TR">
                          <a:effectLst/>
                        </a:rPr>
                        <a:t>XML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r-TR">
                          <a:effectLst/>
                        </a:rPr>
                        <a:t>JSON, XML, YAML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r-TR">
                          <a:effectLst/>
                        </a:rPr>
                        <a:t>Protocol Buffers (protobuf)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653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tr-TR" b="1">
                          <a:effectLst/>
                        </a:rPr>
                        <a:t>Taşıma Protokolü</a:t>
                      </a:r>
                      <a:endParaRPr lang="tr-TR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r-TR">
                          <a:effectLst/>
                        </a:rPr>
                        <a:t>HTTP, SMTP, FTP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r-TR">
                          <a:effectLst/>
                        </a:rPr>
                        <a:t>HTTP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r-TR">
                          <a:effectLst/>
                        </a:rPr>
                        <a:t>HTTP/2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916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tr-TR" b="1">
                          <a:effectLst/>
                        </a:rPr>
                        <a:t>Güvenlik</a:t>
                      </a:r>
                      <a:endParaRPr lang="tr-TR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r-TR">
                          <a:effectLst/>
                        </a:rPr>
                        <a:t>WS-Security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r-TR">
                          <a:effectLst/>
                        </a:rPr>
                        <a:t>OAuth, API anahtarları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r-TR">
                          <a:effectLst/>
                        </a:rPr>
                        <a:t>HTTP/2 güvenlik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4635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tr-TR" b="1">
                          <a:effectLst/>
                        </a:rPr>
                        <a:t>Hız</a:t>
                      </a:r>
                      <a:endParaRPr lang="tr-TR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r-TR">
                          <a:effectLst/>
                        </a:rPr>
                        <a:t>Yavaş (XML)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r-TR">
                          <a:effectLst/>
                        </a:rPr>
                        <a:t>Orta (JSON)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r-TR">
                          <a:effectLst/>
                        </a:rPr>
                        <a:t>Hızlı (protobuf, HTTP/2)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5180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tr-TR" b="1">
                          <a:effectLst/>
                        </a:rPr>
                        <a:t>Ölçeklenebilirlik</a:t>
                      </a:r>
                      <a:endParaRPr lang="tr-TR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r-TR">
                          <a:effectLst/>
                        </a:rPr>
                        <a:t>Orta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r-TR">
                          <a:effectLst/>
                        </a:rPr>
                        <a:t>İyi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r-TR">
                          <a:effectLst/>
                        </a:rPr>
                        <a:t>İyi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892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tr-TR" b="1">
                          <a:effectLst/>
                        </a:rPr>
                        <a:t>Karmaşıklık</a:t>
                      </a:r>
                      <a:endParaRPr lang="tr-TR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r-TR">
                          <a:effectLst/>
                        </a:rPr>
                        <a:t>Yüksek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r-TR">
                          <a:effectLst/>
                        </a:rPr>
                        <a:t>Düşük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r-TR">
                          <a:effectLst/>
                        </a:rPr>
                        <a:t>Orta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9635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tr-TR" b="1">
                          <a:effectLst/>
                        </a:rPr>
                        <a:t>Çoklu Dil Desteği</a:t>
                      </a:r>
                      <a:endParaRPr lang="tr-TR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r-TR">
                          <a:effectLst/>
                        </a:rPr>
                        <a:t>Orta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r-TR">
                          <a:effectLst/>
                        </a:rPr>
                        <a:t>İyi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r-TR" dirty="0">
                          <a:effectLst/>
                        </a:rPr>
                        <a:t>İyi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5203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1142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ğitim sunusu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6225310_TF03460604" id="{F6EFC989-8B6A-426D-8CC8-42909735A4A0}" vid="{6F0D95CE-7106-4C3E-8D98-EE1220DA24E4}"/>
    </a:ext>
  </a:extLst>
</a:theme>
</file>

<file path=ppt/theme/theme2.xml><?xml version="1.0" encoding="utf-8"?>
<a:theme xmlns:a="http://schemas.openxmlformats.org/drawingml/2006/main" name="Ofis Teması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is Teması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Eğitim sunusu</Template>
  <TotalTime>1549</TotalTime>
  <Words>587</Words>
  <Application>Microsoft Office PowerPoint</Application>
  <PresentationFormat>Geniş ekran</PresentationFormat>
  <Paragraphs>83</Paragraphs>
  <Slides>8</Slides>
  <Notes>8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8</vt:i4>
      </vt:variant>
    </vt:vector>
  </HeadingPairs>
  <TitlesOfParts>
    <vt:vector size="13" baseType="lpstr">
      <vt:lpstr>Arial</vt:lpstr>
      <vt:lpstr>Calibri</vt:lpstr>
      <vt:lpstr>Georgia</vt:lpstr>
      <vt:lpstr>Wingdings 2</vt:lpstr>
      <vt:lpstr>Eğitim sunusu</vt:lpstr>
      <vt:lpstr>Mobil Uygulama Geliştirme</vt:lpstr>
      <vt:lpstr>WEB API(APPLICATION PROGRAMMING INTERFACE)</vt:lpstr>
      <vt:lpstr>HTTP METOTLARI</vt:lpstr>
      <vt:lpstr>URI</vt:lpstr>
      <vt:lpstr>VERİ FORMATLARI</vt:lpstr>
      <vt:lpstr>DURUM KODLARI</vt:lpstr>
      <vt:lpstr>WEB API MİMARİLERİ</vt:lpstr>
      <vt:lpstr>WEB API MİMARİLERİ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Ağ ve Bilişim Güvenliği</dc:title>
  <dc:creator>ZaferS</dc:creator>
  <cp:lastModifiedBy>Zafer</cp:lastModifiedBy>
  <cp:revision>236</cp:revision>
  <dcterms:created xsi:type="dcterms:W3CDTF">2023-12-09T09:03:26Z</dcterms:created>
  <dcterms:modified xsi:type="dcterms:W3CDTF">2024-10-17T06:33:27Z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